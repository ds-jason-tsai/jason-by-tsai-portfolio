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8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29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32"/>
  </p:notesMasterIdLst>
  <p:sldIdLst>
    <p:sldId id="2147375791" r:id="rId2"/>
    <p:sldId id="2147375975" r:id="rId3"/>
    <p:sldId id="2147375982" r:id="rId4"/>
    <p:sldId id="2147375978" r:id="rId5"/>
    <p:sldId id="2147375980" r:id="rId6"/>
    <p:sldId id="2147375981" r:id="rId7"/>
    <p:sldId id="2147375984" r:id="rId8"/>
    <p:sldId id="2147375983" r:id="rId9"/>
    <p:sldId id="2147375988" r:id="rId10"/>
    <p:sldId id="2147375961" r:id="rId11"/>
    <p:sldId id="2147375986" r:id="rId12"/>
    <p:sldId id="2147375985" r:id="rId13"/>
    <p:sldId id="2147375973" r:id="rId14"/>
    <p:sldId id="2147375979" r:id="rId15"/>
    <p:sldId id="2147375987" r:id="rId16"/>
    <p:sldId id="2147375972" r:id="rId17"/>
    <p:sldId id="2147375990" r:id="rId18"/>
    <p:sldId id="2147375994" r:id="rId19"/>
    <p:sldId id="2147375993" r:id="rId20"/>
    <p:sldId id="2147375959" r:id="rId21"/>
    <p:sldId id="2147375969" r:id="rId22"/>
    <p:sldId id="2147375970" r:id="rId23"/>
    <p:sldId id="2147375971" r:id="rId24"/>
    <p:sldId id="2147375967" r:id="rId25"/>
    <p:sldId id="2147375968" r:id="rId26"/>
    <p:sldId id="2147375989" r:id="rId27"/>
    <p:sldId id="2147375977" r:id="rId28"/>
    <p:sldId id="2147375992" r:id="rId29"/>
    <p:sldId id="2147375991" r:id="rId30"/>
    <p:sldId id="2147375943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5382" userDrawn="1">
          <p15:clr>
            <a:srgbClr val="A4A3A4"/>
          </p15:clr>
        </p15:guide>
        <p15:guide id="3" pos="5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14"/>
    <a:srgbClr val="90DDC0"/>
    <a:srgbClr val="5CD2A6"/>
    <a:srgbClr val="C3EFDE"/>
    <a:srgbClr val="D1F3E6"/>
    <a:srgbClr val="38C79E"/>
    <a:srgbClr val="15BD8E"/>
    <a:srgbClr val="F1FBF8"/>
    <a:srgbClr val="D8E2F2"/>
    <a:srgbClr val="FDF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EA7708-9EA9-4ECA-977D-78E62F8FE22D}" v="647" dt="2026-02-23T09:23:46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38" autoAdjust="0"/>
  </p:normalViewPr>
  <p:slideViewPr>
    <p:cSldViewPr snapToGrid="0">
      <p:cViewPr varScale="1">
        <p:scale>
          <a:sx n="111" d="100"/>
          <a:sy n="111" d="100"/>
        </p:scale>
        <p:origin x="558" y="144"/>
      </p:cViewPr>
      <p:guideLst>
        <p:guide orient="horz" pos="958"/>
        <p:guide pos="5382"/>
        <p:guide pos="51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597928620947316E-4"/>
          <c:y val="1.0032206202407967E-2"/>
          <c:w val="0.99986402071379055"/>
          <c:h val="0.989441535145083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29C48A">
                <a:alpha val="27843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3E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EA-415F-8673-DB42CBE81806}"/>
              </c:ext>
            </c:extLst>
          </c:dPt>
          <c:dPt>
            <c:idx val="1"/>
            <c:invertIfNegative val="0"/>
            <c:bubble3D val="0"/>
            <c:spPr>
              <a:solidFill>
                <a:srgbClr val="5CD2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23F3-44C4-A21E-9BCF63D744BE}"/>
              </c:ext>
            </c:extLst>
          </c:dPt>
          <c:dPt>
            <c:idx val="6"/>
            <c:invertIfNegative val="0"/>
            <c:bubble3D val="0"/>
            <c:spPr>
              <a:solidFill>
                <a:srgbClr val="5CD2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BEA-415F-8673-DB42CBE81806}"/>
              </c:ext>
            </c:extLst>
          </c:dPt>
          <c:dPt>
            <c:idx val="7"/>
            <c:invertIfNegative val="0"/>
            <c:bubble3D val="0"/>
            <c:spPr>
              <a:solidFill>
                <a:srgbClr val="29C48A">
                  <a:alpha val="27843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90-41DC-AA14-F123EDCB38DA}"/>
              </c:ext>
            </c:extLst>
          </c:dPt>
          <c:dPt>
            <c:idx val="8"/>
            <c:invertIfNegative val="0"/>
            <c:bubble3D val="0"/>
            <c:spPr>
              <a:solidFill>
                <a:srgbClr val="C3EFDE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B90-41DC-AA14-F123EDCB38DA}"/>
              </c:ext>
            </c:extLst>
          </c:dPt>
          <c:dPt>
            <c:idx val="9"/>
            <c:invertIfNegative val="0"/>
            <c:bubble3D val="0"/>
            <c:spPr>
              <a:solidFill>
                <a:srgbClr val="C3EFDE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B90-41DC-AA14-F123EDCB38DA}"/>
              </c:ext>
            </c:extLst>
          </c:dPt>
          <c:dPt>
            <c:idx val="10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B90-41DC-AA14-F123EDCB38DA}"/>
              </c:ext>
            </c:extLst>
          </c:dPt>
          <c:dPt>
            <c:idx val="11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B90-41DC-AA14-F123EDCB38DA}"/>
              </c:ext>
            </c:extLst>
          </c:dPt>
          <c:dPt>
            <c:idx val="12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B90-41DC-AA14-F123EDCB38DA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23F3-44C4-A21E-9BCF63D744BE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CBEA-415F-8673-DB42CBE81806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B90-41DC-AA14-F123EDCB38DA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9B90-41DC-AA14-F123EDCB38DA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B90-41DC-AA14-F123EDCB3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工作表1!$A$2:$A$14</c:f>
              <c:strCache>
                <c:ptCount val="13"/>
                <c:pt idx="0">
                  <c:v>Singapore</c:v>
                </c:pt>
                <c:pt idx="1">
                  <c:v>Japan (10)</c:v>
                </c:pt>
                <c:pt idx="2">
                  <c:v>Sweden</c:v>
                </c:pt>
                <c:pt idx="3">
                  <c:v>Namibia</c:v>
                </c:pt>
                <c:pt idx="4">
                  <c:v>South Korea</c:v>
                </c:pt>
                <c:pt idx="5">
                  <c:v>France</c:v>
                </c:pt>
                <c:pt idx="6">
                  <c:v>Finland</c:v>
                </c:pt>
                <c:pt idx="7">
                  <c:v>Taiwan</c:v>
                </c:pt>
                <c:pt idx="8">
                  <c:v>Denmark</c:v>
                </c:pt>
                <c:pt idx="9">
                  <c:v>United Kingdom</c:v>
                </c:pt>
                <c:pt idx="10">
                  <c:v>United States (7)</c:v>
                </c:pt>
                <c:pt idx="11">
                  <c:v>South Africa</c:v>
                </c:pt>
                <c:pt idx="12">
                  <c:v>Hong Kong</c:v>
                </c:pt>
              </c:strCache>
            </c:strRef>
          </c:cat>
          <c:val>
            <c:numRef>
              <c:f>工作表1!$B$2:$B$14</c:f>
              <c:numCache>
                <c:formatCode>General</c:formatCode>
                <c:ptCount val="13"/>
                <c:pt idx="0">
                  <c:v>8.1999999999999993</c:v>
                </c:pt>
                <c:pt idx="1">
                  <c:v>8.5</c:v>
                </c:pt>
                <c:pt idx="2">
                  <c:v>8.6</c:v>
                </c:pt>
                <c:pt idx="3">
                  <c:v>8.6999999999999993</c:v>
                </c:pt>
                <c:pt idx="4">
                  <c:v>9.4</c:v>
                </c:pt>
                <c:pt idx="5">
                  <c:v>9.6</c:v>
                </c:pt>
                <c:pt idx="6">
                  <c:v>10.6</c:v>
                </c:pt>
                <c:pt idx="7">
                  <c:v>10.6</c:v>
                </c:pt>
                <c:pt idx="8">
                  <c:v>11.1</c:v>
                </c:pt>
                <c:pt idx="9">
                  <c:v>11.8</c:v>
                </c:pt>
                <c:pt idx="10">
                  <c:v>12.1</c:v>
                </c:pt>
                <c:pt idx="11">
                  <c:v>12.1</c:v>
                </c:pt>
                <c:pt idx="12">
                  <c:v>18.2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BEA-415F-8673-DB42CBE818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85847759"/>
        <c:axId val="385852751"/>
      </c:barChart>
      <c:catAx>
        <c:axId val="385847759"/>
        <c:scaling>
          <c:orientation val="minMax"/>
        </c:scaling>
        <c:delete val="1"/>
        <c:axPos val="l"/>
        <c:numFmt formatCode="0.00%" sourceLinked="0"/>
        <c:majorTickMark val="out"/>
        <c:minorTickMark val="none"/>
        <c:tickLblPos val="nextTo"/>
        <c:crossAx val="385852751"/>
        <c:crosses val="autoZero"/>
        <c:auto val="1"/>
        <c:lblAlgn val="ctr"/>
        <c:lblOffset val="100"/>
        <c:tickMarkSkip val="1"/>
        <c:noMultiLvlLbl val="0"/>
      </c:catAx>
      <c:valAx>
        <c:axId val="385852751"/>
        <c:scaling>
          <c:orientation val="minMax"/>
          <c:max val="20"/>
          <c:min val="4"/>
        </c:scaling>
        <c:delete val="1"/>
        <c:axPos val="b"/>
        <c:numFmt formatCode="General" sourceLinked="1"/>
        <c:majorTickMark val="out"/>
        <c:minorTickMark val="none"/>
        <c:tickLblPos val="nextTo"/>
        <c:crossAx val="3858477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597928620947316E-4"/>
          <c:y val="1.0032206202407967E-2"/>
          <c:w val="0.99986402071379055"/>
          <c:h val="0.989441535145083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29C48A">
                <a:alpha val="27843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D2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EA-415F-8673-DB42CBE81806}"/>
              </c:ext>
            </c:extLst>
          </c:dPt>
          <c:dPt>
            <c:idx val="1"/>
            <c:invertIfNegative val="0"/>
            <c:bubble3D val="0"/>
            <c:spPr>
              <a:solidFill>
                <a:srgbClr val="5CD2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5BCB-4B9F-83D4-1896DCDB1B59}"/>
              </c:ext>
            </c:extLst>
          </c:dPt>
          <c:dPt>
            <c:idx val="6"/>
            <c:invertIfNegative val="0"/>
            <c:bubble3D val="0"/>
            <c:spPr>
              <a:solidFill>
                <a:srgbClr val="29C48A">
                  <a:alpha val="27843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BEA-415F-8673-DB42CBE81806}"/>
              </c:ext>
            </c:extLst>
          </c:dPt>
          <c:dPt>
            <c:idx val="7"/>
            <c:invertIfNegative val="0"/>
            <c:bubble3D val="0"/>
            <c:spPr>
              <a:solidFill>
                <a:srgbClr val="29C48A">
                  <a:alpha val="27843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90-41DC-AA14-F123EDCB38DA}"/>
              </c:ext>
            </c:extLst>
          </c:dPt>
          <c:dPt>
            <c:idx val="8"/>
            <c:invertIfNegative val="0"/>
            <c:bubble3D val="0"/>
            <c:spPr>
              <a:solidFill>
                <a:srgbClr val="C3EFDE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B90-41DC-AA14-F123EDCB38DA}"/>
              </c:ext>
            </c:extLst>
          </c:dPt>
          <c:dPt>
            <c:idx val="9"/>
            <c:invertIfNegative val="0"/>
            <c:bubble3D val="0"/>
            <c:spPr>
              <a:solidFill>
                <a:srgbClr val="C3E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B90-41DC-AA14-F123EDCB38DA}"/>
              </c:ext>
            </c:extLst>
          </c:dPt>
          <c:dPt>
            <c:idx val="10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B90-41DC-AA14-F123EDCB38DA}"/>
              </c:ext>
            </c:extLst>
          </c:dPt>
          <c:dPt>
            <c:idx val="11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B90-41DC-AA14-F123EDCB38DA}"/>
              </c:ext>
            </c:extLst>
          </c:dPt>
          <c:dPt>
            <c:idx val="12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B90-41DC-AA14-F123EDCB38DA}"/>
              </c:ext>
            </c:extLst>
          </c:dPt>
          <c:dLbls>
            <c:dLbl>
              <c:idx val="0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BEA-415F-8673-DB42CBE81806}"/>
                </c:ext>
              </c:extLst>
            </c:dLbl>
            <c:dLbl>
              <c:idx val="1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5BCB-4B9F-83D4-1896DCDB1B59}"/>
                </c:ext>
              </c:extLst>
            </c:dLbl>
            <c:dLbl>
              <c:idx val="10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B90-41DC-AA14-F123EDCB38DA}"/>
                </c:ext>
              </c:extLst>
            </c:dLbl>
            <c:dLbl>
              <c:idx val="11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9B90-41DC-AA14-F123EDCB38DA}"/>
                </c:ext>
              </c:extLst>
            </c:dLbl>
            <c:dLbl>
              <c:idx val="12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B90-41DC-AA14-F123EDCB38DA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工作表1!$A$2:$A$14</c:f>
              <c:strCache>
                <c:ptCount val="13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</c:strCache>
            </c:strRef>
          </c:cat>
          <c:val>
            <c:numRef>
              <c:f>工作表1!$B$2:$B$14</c:f>
              <c:numCache>
                <c:formatCode>General</c:formatCode>
                <c:ptCount val="13"/>
                <c:pt idx="0">
                  <c:v>2738</c:v>
                </c:pt>
                <c:pt idx="1">
                  <c:v>3614</c:v>
                </c:pt>
                <c:pt idx="2">
                  <c:v>4975</c:v>
                </c:pt>
                <c:pt idx="3">
                  <c:v>5156</c:v>
                </c:pt>
                <c:pt idx="4">
                  <c:v>5486</c:v>
                </c:pt>
                <c:pt idx="5">
                  <c:v>5638</c:v>
                </c:pt>
                <c:pt idx="6">
                  <c:v>6185</c:v>
                </c:pt>
                <c:pt idx="7">
                  <c:v>6251</c:v>
                </c:pt>
                <c:pt idx="8">
                  <c:v>6980</c:v>
                </c:pt>
                <c:pt idx="9">
                  <c:v>7468</c:v>
                </c:pt>
                <c:pt idx="10">
                  <c:v>7963</c:v>
                </c:pt>
                <c:pt idx="11">
                  <c:v>10043</c:v>
                </c:pt>
                <c:pt idx="12">
                  <c:v>10295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BEA-415F-8673-DB42CBE818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85847759"/>
        <c:axId val="385852751"/>
      </c:barChart>
      <c:catAx>
        <c:axId val="385847759"/>
        <c:scaling>
          <c:orientation val="minMax"/>
        </c:scaling>
        <c:delete val="1"/>
        <c:axPos val="l"/>
        <c:numFmt formatCode="0.00%" sourceLinked="0"/>
        <c:majorTickMark val="out"/>
        <c:minorTickMark val="none"/>
        <c:tickLblPos val="nextTo"/>
        <c:crossAx val="385852751"/>
        <c:crosses val="autoZero"/>
        <c:auto val="1"/>
        <c:lblAlgn val="ctr"/>
        <c:lblOffset val="100"/>
        <c:tickMarkSkip val="1"/>
        <c:noMultiLvlLbl val="0"/>
      </c:catAx>
      <c:valAx>
        <c:axId val="385852751"/>
        <c:scaling>
          <c:orientation val="minMax"/>
          <c:max val="11500"/>
          <c:min val="2000"/>
        </c:scaling>
        <c:delete val="1"/>
        <c:axPos val="b"/>
        <c:numFmt formatCode="General" sourceLinked="1"/>
        <c:majorTickMark val="out"/>
        <c:minorTickMark val="none"/>
        <c:tickLblPos val="nextTo"/>
        <c:crossAx val="3858477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458538385826774E-2"/>
          <c:y val="4.5725092688529083E-2"/>
          <c:w val="0.92047502460629926"/>
          <c:h val="0.87842302586956611"/>
        </c:manualLayout>
      </c:layout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rgbClr val="D1F3E6"/>
              </a:solidFill>
              <a:ln w="9525">
                <a:noFill/>
              </a:ln>
              <a:effectLst/>
            </c:spPr>
          </c:marker>
          <c:dPt>
            <c:idx val="6"/>
            <c:marker>
              <c:symbol val="circle"/>
              <c:size val="12"/>
              <c:spPr>
                <a:solidFill>
                  <a:srgbClr val="15BD8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535-422A-B097-7D001A09FD80}"/>
              </c:ext>
            </c:extLst>
          </c:dPt>
          <c:dPt>
            <c:idx val="11"/>
            <c:marker>
              <c:symbol val="circle"/>
              <c:size val="12"/>
              <c:spPr>
                <a:solidFill>
                  <a:srgbClr val="15BD8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535-422A-B097-7D001A09FD80}"/>
              </c:ext>
            </c:extLst>
          </c:dPt>
          <c:xVal>
            <c:numRef>
              <c:f>工作表1!$A$2:$A$20</c:f>
              <c:numCache>
                <c:formatCode>General</c:formatCode>
                <c:ptCount val="19"/>
                <c:pt idx="0">
                  <c:v>10043</c:v>
                </c:pt>
                <c:pt idx="1">
                  <c:v>10295</c:v>
                </c:pt>
                <c:pt idx="2">
                  <c:v>756</c:v>
                </c:pt>
                <c:pt idx="3">
                  <c:v>6185</c:v>
                </c:pt>
                <c:pt idx="4">
                  <c:v>7963</c:v>
                </c:pt>
                <c:pt idx="5">
                  <c:v>5638</c:v>
                </c:pt>
                <c:pt idx="6">
                  <c:v>3614</c:v>
                </c:pt>
                <c:pt idx="7">
                  <c:v>4432</c:v>
                </c:pt>
                <c:pt idx="8">
                  <c:v>3395</c:v>
                </c:pt>
                <c:pt idx="9">
                  <c:v>374</c:v>
                </c:pt>
                <c:pt idx="10">
                  <c:v>4975</c:v>
                </c:pt>
                <c:pt idx="11">
                  <c:v>2738</c:v>
                </c:pt>
                <c:pt idx="12">
                  <c:v>7468</c:v>
                </c:pt>
                <c:pt idx="13">
                  <c:v>4389</c:v>
                </c:pt>
                <c:pt idx="14">
                  <c:v>5486</c:v>
                </c:pt>
                <c:pt idx="15">
                  <c:v>3053</c:v>
                </c:pt>
                <c:pt idx="16">
                  <c:v>6980</c:v>
                </c:pt>
                <c:pt idx="17">
                  <c:v>6251</c:v>
                </c:pt>
                <c:pt idx="18">
                  <c:v>5156</c:v>
                </c:pt>
              </c:numCache>
            </c:numRef>
          </c:xVal>
          <c:yVal>
            <c:numRef>
              <c:f>工作表1!$B$2:$B$20</c:f>
              <c:numCache>
                <c:formatCode>General</c:formatCode>
                <c:ptCount val="19"/>
                <c:pt idx="0">
                  <c:v>18.2</c:v>
                </c:pt>
                <c:pt idx="1">
                  <c:v>12.1</c:v>
                </c:pt>
                <c:pt idx="2">
                  <c:v>12.1</c:v>
                </c:pt>
                <c:pt idx="3">
                  <c:v>11.8</c:v>
                </c:pt>
                <c:pt idx="4">
                  <c:v>11.1</c:v>
                </c:pt>
                <c:pt idx="5">
                  <c:v>10.6</c:v>
                </c:pt>
                <c:pt idx="6">
                  <c:v>10.6</c:v>
                </c:pt>
                <c:pt idx="7">
                  <c:v>9.6</c:v>
                </c:pt>
                <c:pt idx="8">
                  <c:v>9.4</c:v>
                </c:pt>
                <c:pt idx="9">
                  <c:v>8.6999999999999993</c:v>
                </c:pt>
                <c:pt idx="10">
                  <c:v>8.6</c:v>
                </c:pt>
                <c:pt idx="11">
                  <c:v>8.5</c:v>
                </c:pt>
                <c:pt idx="12">
                  <c:v>8.1999999999999993</c:v>
                </c:pt>
                <c:pt idx="13">
                  <c:v>8.1</c:v>
                </c:pt>
                <c:pt idx="14">
                  <c:v>8.1</c:v>
                </c:pt>
                <c:pt idx="15">
                  <c:v>7.6</c:v>
                </c:pt>
                <c:pt idx="16">
                  <c:v>6.7</c:v>
                </c:pt>
                <c:pt idx="17">
                  <c:v>6</c:v>
                </c:pt>
                <c:pt idx="18">
                  <c:v>3.9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88-4F40-9812-548E88A65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7251519"/>
        <c:axId val="1067222719"/>
      </c:scatterChart>
      <c:valAx>
        <c:axId val="1067251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22719"/>
        <c:crosses val="autoZero"/>
        <c:crossBetween val="midCat"/>
      </c:valAx>
      <c:valAx>
        <c:axId val="1067222719"/>
        <c:scaling>
          <c:orientation val="minMax"/>
        </c:scaling>
        <c:delete val="0"/>
        <c:axPos val="l"/>
        <c:majorGridlines>
          <c:spPr>
            <a:ln w="3175" cap="flat" cmpd="sng" algn="ctr">
              <a:noFill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51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458538385826774E-2"/>
          <c:y val="4.5725092688529083E-2"/>
          <c:w val="0.92047502460629926"/>
          <c:h val="0.87842302586956611"/>
        </c:manualLayout>
      </c:layout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rgbClr val="15BD8E">
                  <a:alpha val="27059"/>
                </a:srgbClr>
              </a:solidFill>
              <a:ln w="9525">
                <a:noFill/>
              </a:ln>
              <a:effectLst/>
            </c:spPr>
          </c:marker>
          <c:dPt>
            <c:idx val="2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1E1-4FAB-9B18-4A7786B4FA69}"/>
              </c:ext>
            </c:extLst>
          </c:dPt>
          <c:dPt>
            <c:idx val="6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1E1-4FAB-9B18-4A7786B4FA69}"/>
              </c:ext>
            </c:extLst>
          </c:dPt>
          <c:dPt>
            <c:idx val="7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1E1-4FAB-9B18-4A7786B4FA69}"/>
              </c:ext>
            </c:extLst>
          </c:dPt>
          <c:dPt>
            <c:idx val="11"/>
            <c:marker>
              <c:symbol val="circle"/>
              <c:size val="12"/>
              <c:spPr>
                <a:solidFill>
                  <a:srgbClr val="38C79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7197-446F-BCB2-477B4DB655EF}"/>
              </c:ext>
            </c:extLst>
          </c:dPt>
          <c:xVal>
            <c:numRef>
              <c:f>工作表1!$A$2:$A$20</c:f>
              <c:numCache>
                <c:formatCode>General</c:formatCode>
                <c:ptCount val="19"/>
                <c:pt idx="0">
                  <c:v>10043</c:v>
                </c:pt>
                <c:pt idx="1">
                  <c:v>10295</c:v>
                </c:pt>
                <c:pt idx="2">
                  <c:v>756</c:v>
                </c:pt>
                <c:pt idx="3">
                  <c:v>6185</c:v>
                </c:pt>
                <c:pt idx="4">
                  <c:v>7963</c:v>
                </c:pt>
                <c:pt idx="5">
                  <c:v>5638</c:v>
                </c:pt>
                <c:pt idx="6">
                  <c:v>3614</c:v>
                </c:pt>
                <c:pt idx="7">
                  <c:v>4432</c:v>
                </c:pt>
                <c:pt idx="8">
                  <c:v>3395</c:v>
                </c:pt>
                <c:pt idx="9">
                  <c:v>374</c:v>
                </c:pt>
                <c:pt idx="10">
                  <c:v>4975</c:v>
                </c:pt>
                <c:pt idx="11">
                  <c:v>2738</c:v>
                </c:pt>
                <c:pt idx="12">
                  <c:v>7468</c:v>
                </c:pt>
                <c:pt idx="13">
                  <c:v>4389</c:v>
                </c:pt>
                <c:pt idx="14">
                  <c:v>5486</c:v>
                </c:pt>
                <c:pt idx="15">
                  <c:v>3053</c:v>
                </c:pt>
                <c:pt idx="16">
                  <c:v>6980</c:v>
                </c:pt>
                <c:pt idx="17">
                  <c:v>6251</c:v>
                </c:pt>
                <c:pt idx="18">
                  <c:v>5156</c:v>
                </c:pt>
              </c:numCache>
            </c:numRef>
          </c:xVal>
          <c:yVal>
            <c:numRef>
              <c:f>工作表1!$B$2:$B$20</c:f>
              <c:numCache>
                <c:formatCode>General</c:formatCode>
                <c:ptCount val="19"/>
                <c:pt idx="0">
                  <c:v>18.2</c:v>
                </c:pt>
                <c:pt idx="1">
                  <c:v>12.1</c:v>
                </c:pt>
                <c:pt idx="2">
                  <c:v>12.1</c:v>
                </c:pt>
                <c:pt idx="3">
                  <c:v>11.8</c:v>
                </c:pt>
                <c:pt idx="4">
                  <c:v>11.1</c:v>
                </c:pt>
                <c:pt idx="5">
                  <c:v>10.6</c:v>
                </c:pt>
                <c:pt idx="6">
                  <c:v>10.6</c:v>
                </c:pt>
                <c:pt idx="7">
                  <c:v>9.6</c:v>
                </c:pt>
                <c:pt idx="8">
                  <c:v>9.4</c:v>
                </c:pt>
                <c:pt idx="9">
                  <c:v>8.6999999999999993</c:v>
                </c:pt>
                <c:pt idx="10">
                  <c:v>8.6</c:v>
                </c:pt>
                <c:pt idx="11">
                  <c:v>8.5</c:v>
                </c:pt>
                <c:pt idx="12">
                  <c:v>8.1999999999999993</c:v>
                </c:pt>
                <c:pt idx="13">
                  <c:v>8.1</c:v>
                </c:pt>
                <c:pt idx="14">
                  <c:v>8.1</c:v>
                </c:pt>
                <c:pt idx="15">
                  <c:v>7.6</c:v>
                </c:pt>
                <c:pt idx="16">
                  <c:v>6.7</c:v>
                </c:pt>
                <c:pt idx="17">
                  <c:v>6</c:v>
                </c:pt>
                <c:pt idx="18">
                  <c:v>3.9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88-4F40-9812-548E88A65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7251519"/>
        <c:axId val="1067222719"/>
      </c:scatterChart>
      <c:valAx>
        <c:axId val="1067251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22719"/>
        <c:crosses val="autoZero"/>
        <c:crossBetween val="midCat"/>
      </c:valAx>
      <c:valAx>
        <c:axId val="1067222719"/>
        <c:scaling>
          <c:orientation val="minMax"/>
        </c:scaling>
        <c:delete val="0"/>
        <c:axPos val="l"/>
        <c:majorGridlines>
          <c:spPr>
            <a:ln w="3175" cap="flat" cmpd="sng" algn="ctr">
              <a:noFill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51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458538385826774E-2"/>
          <c:y val="4.5725092688529083E-2"/>
          <c:w val="0.92047502460629926"/>
          <c:h val="0.87842302586956611"/>
        </c:manualLayout>
      </c:layout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rgbClr val="15BD8E">
                  <a:alpha val="27843"/>
                </a:srgbClr>
              </a:solidFill>
              <a:ln w="9525">
                <a:noFill/>
              </a:ln>
              <a:effectLst/>
            </c:spPr>
          </c:marker>
          <c:dPt>
            <c:idx val="6"/>
            <c:marker>
              <c:symbol val="circle"/>
              <c:size val="12"/>
              <c:spPr>
                <a:solidFill>
                  <a:srgbClr val="38C79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B30-48AF-AD46-3A1B850404C2}"/>
              </c:ext>
            </c:extLst>
          </c:dPt>
          <c:dPt>
            <c:idx val="11"/>
            <c:marker>
              <c:symbol val="circle"/>
              <c:size val="12"/>
              <c:spPr>
                <a:solidFill>
                  <a:srgbClr val="38C79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B30-48AF-AD46-3A1B850404C2}"/>
              </c:ext>
            </c:extLst>
          </c:dPt>
          <c:dPt>
            <c:idx val="12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C90-4FC8-9597-46D0B38E58DF}"/>
              </c:ext>
            </c:extLst>
          </c:dPt>
          <c:dPt>
            <c:idx val="14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C90-4FC8-9597-46D0B38E58DF}"/>
              </c:ext>
            </c:extLst>
          </c:dPt>
          <c:dPt>
            <c:idx val="16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AC90-4FC8-9597-46D0B38E58DF}"/>
              </c:ext>
            </c:extLst>
          </c:dPt>
          <c:dPt>
            <c:idx val="17"/>
            <c:marker>
              <c:symbol val="circle"/>
              <c:size val="12"/>
              <c:spPr>
                <a:solidFill>
                  <a:srgbClr val="15BD8E">
                    <a:alpha val="83922"/>
                  </a:srgb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C90-4FC8-9597-46D0B38E58DF}"/>
              </c:ext>
            </c:extLst>
          </c:dPt>
          <c:xVal>
            <c:numRef>
              <c:f>工作表1!$A$2:$A$20</c:f>
              <c:numCache>
                <c:formatCode>General</c:formatCode>
                <c:ptCount val="19"/>
                <c:pt idx="0">
                  <c:v>10043</c:v>
                </c:pt>
                <c:pt idx="1">
                  <c:v>10295</c:v>
                </c:pt>
                <c:pt idx="2">
                  <c:v>756</c:v>
                </c:pt>
                <c:pt idx="3">
                  <c:v>6185</c:v>
                </c:pt>
                <c:pt idx="4">
                  <c:v>7963</c:v>
                </c:pt>
                <c:pt idx="5">
                  <c:v>5638</c:v>
                </c:pt>
                <c:pt idx="6">
                  <c:v>3614</c:v>
                </c:pt>
                <c:pt idx="7">
                  <c:v>4432</c:v>
                </c:pt>
                <c:pt idx="8">
                  <c:v>3395</c:v>
                </c:pt>
                <c:pt idx="9">
                  <c:v>374</c:v>
                </c:pt>
                <c:pt idx="10">
                  <c:v>4975</c:v>
                </c:pt>
                <c:pt idx="11">
                  <c:v>2738</c:v>
                </c:pt>
                <c:pt idx="12">
                  <c:v>7468</c:v>
                </c:pt>
                <c:pt idx="13">
                  <c:v>4389</c:v>
                </c:pt>
                <c:pt idx="14">
                  <c:v>5486</c:v>
                </c:pt>
                <c:pt idx="15">
                  <c:v>3053</c:v>
                </c:pt>
                <c:pt idx="16">
                  <c:v>6980</c:v>
                </c:pt>
                <c:pt idx="17">
                  <c:v>6251</c:v>
                </c:pt>
                <c:pt idx="18">
                  <c:v>5156</c:v>
                </c:pt>
              </c:numCache>
            </c:numRef>
          </c:xVal>
          <c:yVal>
            <c:numRef>
              <c:f>工作表1!$B$2:$B$20</c:f>
              <c:numCache>
                <c:formatCode>General</c:formatCode>
                <c:ptCount val="19"/>
                <c:pt idx="0">
                  <c:v>18.2</c:v>
                </c:pt>
                <c:pt idx="1">
                  <c:v>12.1</c:v>
                </c:pt>
                <c:pt idx="2">
                  <c:v>12.1</c:v>
                </c:pt>
                <c:pt idx="3">
                  <c:v>11.8</c:v>
                </c:pt>
                <c:pt idx="4">
                  <c:v>11.1</c:v>
                </c:pt>
                <c:pt idx="5">
                  <c:v>10.6</c:v>
                </c:pt>
                <c:pt idx="6">
                  <c:v>10.6</c:v>
                </c:pt>
                <c:pt idx="7">
                  <c:v>9.6</c:v>
                </c:pt>
                <c:pt idx="8">
                  <c:v>9.4</c:v>
                </c:pt>
                <c:pt idx="9">
                  <c:v>8.6999999999999993</c:v>
                </c:pt>
                <c:pt idx="10">
                  <c:v>8.6</c:v>
                </c:pt>
                <c:pt idx="11">
                  <c:v>8.5</c:v>
                </c:pt>
                <c:pt idx="12">
                  <c:v>8.1999999999999993</c:v>
                </c:pt>
                <c:pt idx="13">
                  <c:v>8.1</c:v>
                </c:pt>
                <c:pt idx="14">
                  <c:v>8.1</c:v>
                </c:pt>
                <c:pt idx="15">
                  <c:v>7.6</c:v>
                </c:pt>
                <c:pt idx="16">
                  <c:v>6.7</c:v>
                </c:pt>
                <c:pt idx="17">
                  <c:v>6</c:v>
                </c:pt>
                <c:pt idx="18">
                  <c:v>3.9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88-4F40-9812-548E88A65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7251519"/>
        <c:axId val="1067222719"/>
      </c:scatterChart>
      <c:valAx>
        <c:axId val="1067251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22719"/>
        <c:crosses val="autoZero"/>
        <c:crossBetween val="midCat"/>
      </c:valAx>
      <c:valAx>
        <c:axId val="1067222719"/>
        <c:scaling>
          <c:orientation val="minMax"/>
        </c:scaling>
        <c:delete val="0"/>
        <c:axPos val="l"/>
        <c:majorGridlines>
          <c:spPr>
            <a:ln w="3175" cap="flat" cmpd="sng" algn="ctr">
              <a:noFill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067251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597928620947316E-4"/>
          <c:y val="1.0032206202407967E-2"/>
          <c:w val="0.99986402071379055"/>
          <c:h val="0.989441535145083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29C48A">
                <a:alpha val="27843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D2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EA-415F-8673-DB42CBE81806}"/>
              </c:ext>
            </c:extLst>
          </c:dPt>
          <c:dPt>
            <c:idx val="6"/>
            <c:invertIfNegative val="0"/>
            <c:bubble3D val="0"/>
            <c:spPr>
              <a:solidFill>
                <a:srgbClr val="29C48A">
                  <a:alpha val="27843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BEA-415F-8673-DB42CBE81806}"/>
              </c:ext>
            </c:extLst>
          </c:dPt>
          <c:dPt>
            <c:idx val="7"/>
            <c:invertIfNegative val="0"/>
            <c:bubble3D val="0"/>
            <c:spPr>
              <a:solidFill>
                <a:srgbClr val="29C48A">
                  <a:alpha val="27843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90-41DC-AA14-F123EDCB38DA}"/>
              </c:ext>
            </c:extLst>
          </c:dPt>
          <c:dPt>
            <c:idx val="8"/>
            <c:invertIfNegative val="0"/>
            <c:bubble3D val="0"/>
            <c:spPr>
              <a:solidFill>
                <a:srgbClr val="C3E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B90-41DC-AA14-F123EDCB38DA}"/>
              </c:ext>
            </c:extLst>
          </c:dPt>
          <c:dPt>
            <c:idx val="9"/>
            <c:invertIfNegative val="0"/>
            <c:bubble3D val="0"/>
            <c:spPr>
              <a:solidFill>
                <a:srgbClr val="C3E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B90-41DC-AA14-F123EDCB38DA}"/>
              </c:ext>
            </c:extLst>
          </c:dPt>
          <c:dPt>
            <c:idx val="10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B90-41DC-AA14-F123EDCB38DA}"/>
              </c:ext>
            </c:extLst>
          </c:dPt>
          <c:dPt>
            <c:idx val="11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B90-41DC-AA14-F123EDCB38DA}"/>
              </c:ext>
            </c:extLst>
          </c:dPt>
          <c:dPt>
            <c:idx val="12"/>
            <c:invertIfNegative val="0"/>
            <c:bubble3D val="0"/>
            <c:spPr>
              <a:solidFill>
                <a:srgbClr val="29C48A">
                  <a:alpha val="7607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B90-41DC-AA14-F123EDCB38D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BEA-415F-8673-DB42CBE81806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B90-41DC-AA14-F123EDCB38DA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9B90-41DC-AA14-F123EDCB38DA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B90-41DC-AA14-F123EDCB3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工作表1!$A$2:$A$14</c:f>
              <c:strCache>
                <c:ptCount val="13"/>
                <c:pt idx="0">
                  <c:v>アフラック生命</c:v>
                </c:pt>
                <c:pt idx="1">
                  <c:v>三井住友海上プライマリー生命</c:v>
                </c:pt>
                <c:pt idx="2">
                  <c:v>プルデンシャル生命</c:v>
                </c:pt>
                <c:pt idx="3">
                  <c:v>ニッセイ・ウェルス生命</c:v>
                </c:pt>
                <c:pt idx="4">
                  <c:v>ソニー生命</c:v>
                </c:pt>
                <c:pt idx="5">
                  <c:v>PGF生命</c:v>
                </c:pt>
                <c:pt idx="6">
                  <c:v>第一生命</c:v>
                </c:pt>
                <c:pt idx="7">
                  <c:v>メットライフ生命</c:v>
                </c:pt>
                <c:pt idx="8">
                  <c:v>第一フロンティア</c:v>
                </c:pt>
                <c:pt idx="9">
                  <c:v>簡保生命</c:v>
                </c:pt>
                <c:pt idx="10">
                  <c:v>住友生命</c:v>
                </c:pt>
                <c:pt idx="11">
                  <c:v>明治安田</c:v>
                </c:pt>
                <c:pt idx="12">
                  <c:v>日本生命</c:v>
                </c:pt>
              </c:strCache>
            </c:strRef>
          </c:cat>
          <c:val>
            <c:numRef>
              <c:f>工作表1!$B$2:$B$14</c:f>
              <c:numCache>
                <c:formatCode>General</c:formatCode>
                <c:ptCount val="13"/>
                <c:pt idx="0">
                  <c:v>1.3</c:v>
                </c:pt>
                <c:pt idx="1">
                  <c:v>1.4</c:v>
                </c:pt>
                <c:pt idx="2">
                  <c:v>1.5</c:v>
                </c:pt>
                <c:pt idx="3">
                  <c:v>1.8</c:v>
                </c:pt>
                <c:pt idx="4">
                  <c:v>1.9</c:v>
                </c:pt>
                <c:pt idx="5">
                  <c:v>1.9</c:v>
                </c:pt>
                <c:pt idx="6">
                  <c:v>2.1</c:v>
                </c:pt>
                <c:pt idx="7">
                  <c:v>2.8</c:v>
                </c:pt>
                <c:pt idx="8">
                  <c:v>2.9</c:v>
                </c:pt>
                <c:pt idx="9">
                  <c:v>3.1</c:v>
                </c:pt>
                <c:pt idx="10">
                  <c:v>3.3</c:v>
                </c:pt>
                <c:pt idx="11">
                  <c:v>3.4</c:v>
                </c:pt>
                <c:pt idx="12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BEA-415F-8673-DB42CBE818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85847759"/>
        <c:axId val="385852751"/>
      </c:barChart>
      <c:catAx>
        <c:axId val="385847759"/>
        <c:scaling>
          <c:orientation val="minMax"/>
        </c:scaling>
        <c:delete val="1"/>
        <c:axPos val="l"/>
        <c:numFmt formatCode="0.00%" sourceLinked="0"/>
        <c:majorTickMark val="out"/>
        <c:minorTickMark val="none"/>
        <c:tickLblPos val="nextTo"/>
        <c:crossAx val="385852751"/>
        <c:crosses val="autoZero"/>
        <c:auto val="1"/>
        <c:lblAlgn val="ctr"/>
        <c:lblOffset val="100"/>
        <c:tickMarkSkip val="1"/>
        <c:noMultiLvlLbl val="0"/>
      </c:catAx>
      <c:valAx>
        <c:axId val="385852751"/>
        <c:scaling>
          <c:orientation val="minMax"/>
          <c:max val="8.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3858477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29C48A">
                <a:alpha val="34118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9C48A">
                  <a:alpha val="3411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69-41DA-A503-C1632425C32D}"/>
              </c:ext>
            </c:extLst>
          </c:dPt>
          <c:dPt>
            <c:idx val="1"/>
            <c:invertIfNegative val="0"/>
            <c:bubble3D val="0"/>
            <c:spPr>
              <a:solidFill>
                <a:srgbClr val="29C48A">
                  <a:alpha val="3411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69-41DA-A503-C1632425C32D}"/>
              </c:ext>
            </c:extLst>
          </c:dPt>
          <c:dPt>
            <c:idx val="2"/>
            <c:invertIfNegative val="0"/>
            <c:bubble3D val="0"/>
            <c:spPr>
              <a:solidFill>
                <a:srgbClr val="29C48A">
                  <a:alpha val="34118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69-41DA-A503-C1632425C32D}"/>
              </c:ext>
            </c:extLst>
          </c:dPt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TW" sz="1200" b="1" i="0" u="none" strike="noStrike" kern="1200" baseline="0">
                    <a:solidFill>
                      <a:srgbClr val="141414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48692</c:v>
                </c:pt>
                <c:pt idx="1">
                  <c:v>47689</c:v>
                </c:pt>
                <c:pt idx="2">
                  <c:v>47025</c:v>
                </c:pt>
                <c:pt idx="3">
                  <c:v>46173</c:v>
                </c:pt>
                <c:pt idx="4">
                  <c:v>43959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69-41DA-A503-C1632425C32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rgbClr val="737373">
                <a:alpha val="34118"/>
              </a:srgbClr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TW" sz="1200" b="1" i="0" u="none" strike="noStrike" kern="1200" baseline="0">
                    <a:solidFill>
                      <a:srgbClr val="141414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33114</c:v>
                </c:pt>
                <c:pt idx="1">
                  <c:v>32848</c:v>
                </c:pt>
                <c:pt idx="2">
                  <c:v>32652</c:v>
                </c:pt>
                <c:pt idx="3">
                  <c:v>32220</c:v>
                </c:pt>
                <c:pt idx="4">
                  <c:v>31339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C69-41DA-A503-C1632425C3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238246607"/>
        <c:axId val="238247023"/>
      </c:barChart>
      <c:catAx>
        <c:axId val="238246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TW" sz="1200" b="1" i="0" u="none" strike="noStrike" kern="1200" baseline="0">
                <a:solidFill>
                  <a:srgbClr val="14141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238247023"/>
        <c:crosses val="autoZero"/>
        <c:auto val="1"/>
        <c:lblAlgn val="ctr"/>
        <c:lblOffset val="50"/>
        <c:tickMarkSkip val="1"/>
        <c:noMultiLvlLbl val="0"/>
      </c:catAx>
      <c:valAx>
        <c:axId val="238247023"/>
        <c:scaling>
          <c:orientation val="minMax"/>
          <c:max val="54000"/>
          <c:min val="20000"/>
        </c:scaling>
        <c:delete val="1"/>
        <c:axPos val="l"/>
        <c:numFmt formatCode="General" sourceLinked="1"/>
        <c:majorTickMark val="out"/>
        <c:minorTickMark val="none"/>
        <c:tickLblPos val="nextTo"/>
        <c:crossAx val="238246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ctr">
        <a:defRPr lang="en-US" altLang="zh-TW" sz="1050" b="0" i="0" u="none" strike="noStrike" kern="1200" baseline="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F6DD30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6DD30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52-4311-8341-85E5BFC2DC0D}"/>
              </c:ext>
            </c:extLst>
          </c:dPt>
          <c:dPt>
            <c:idx val="1"/>
            <c:invertIfNegative val="0"/>
            <c:bubble3D val="0"/>
            <c:spPr>
              <a:solidFill>
                <a:srgbClr val="F6DD30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52-4311-8341-85E5BFC2DC0D}"/>
              </c:ext>
            </c:extLst>
          </c:dPt>
          <c:dPt>
            <c:idx val="2"/>
            <c:invertIfNegative val="0"/>
            <c:bubble3D val="0"/>
            <c:spPr>
              <a:solidFill>
                <a:srgbClr val="F6DD30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A52-4311-8341-85E5BFC2DC0D}"/>
              </c:ext>
            </c:extLst>
          </c:dPt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TW" sz="1200" b="1" i="0" u="none" strike="noStrike" kern="1200" baseline="0">
                    <a:solidFill>
                      <a:srgbClr val="141414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985726</c:v>
                </c:pt>
                <c:pt idx="1">
                  <c:v>971682</c:v>
                </c:pt>
                <c:pt idx="2">
                  <c:v>942225</c:v>
                </c:pt>
                <c:pt idx="3">
                  <c:v>924509</c:v>
                </c:pt>
                <c:pt idx="4">
                  <c:v>914233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52-4311-8341-85E5BFC2DC0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  <a:alpha val="52157"/>
              </a:schemeClr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TW" sz="1200" b="1" i="0" u="none" strike="noStrike" kern="1200" baseline="0">
                    <a:solidFill>
                      <a:srgbClr val="141414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248601</c:v>
                </c:pt>
                <c:pt idx="1">
                  <c:v>242947</c:v>
                </c:pt>
                <c:pt idx="2">
                  <c:v>247081</c:v>
                </c:pt>
                <c:pt idx="3">
                  <c:v>240903</c:v>
                </c:pt>
                <c:pt idx="4">
                  <c:v>241507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A52-4311-8341-85E5BFC2DC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238246607"/>
        <c:axId val="238247023"/>
      </c:barChart>
      <c:catAx>
        <c:axId val="2382466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TW" sz="1200" b="1" i="0" u="none" strike="noStrike" kern="1200" baseline="0">
                <a:solidFill>
                  <a:srgbClr val="14141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238247023"/>
        <c:crosses val="autoZero"/>
        <c:auto val="1"/>
        <c:lblAlgn val="ctr"/>
        <c:lblOffset val="50"/>
        <c:tickMarkSkip val="1"/>
        <c:noMultiLvlLbl val="0"/>
      </c:catAx>
      <c:valAx>
        <c:axId val="238247023"/>
        <c:scaling>
          <c:orientation val="minMax"/>
          <c:max val="1150000.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38246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ctr">
        <a:defRPr lang="en-US" altLang="zh-TW" sz="1050" b="0" i="0" u="none" strike="noStrike" kern="1200" baseline="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rgbClr val="29C4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B5-45C9-9230-C34605FCB0D2}"/>
              </c:ext>
            </c:extLst>
          </c:dPt>
          <c:dPt>
            <c:idx val="1"/>
            <c:bubble3D val="0"/>
            <c:spPr>
              <a:solidFill>
                <a:srgbClr val="90DD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B5-45C9-9230-C34605FCB0D2}"/>
              </c:ext>
            </c:extLst>
          </c:dPt>
          <c:dPt>
            <c:idx val="2"/>
            <c:bubble3D val="0"/>
            <c:spPr>
              <a:solidFill>
                <a:srgbClr val="BDE4D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5B5-45C9-9230-C34605FCB0D2}"/>
              </c:ext>
            </c:extLst>
          </c:dPt>
          <c:dPt>
            <c:idx val="3"/>
            <c:bubble3D val="0"/>
            <c:spPr>
              <a:solidFill>
                <a:srgbClr val="B4B4B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5B5-45C9-9230-C34605FCB0D2}"/>
              </c:ext>
            </c:extLst>
          </c:dPt>
          <c:dPt>
            <c:idx val="4"/>
            <c:bubble3D val="0"/>
            <c:spPr>
              <a:solidFill>
                <a:srgbClr val="DBDBD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5B5-45C9-9230-C34605FCB0D2}"/>
              </c:ext>
            </c:extLst>
          </c:dPt>
          <c:cat>
            <c:strRef>
              <c:f>工作表1!$A$2:$A$6</c:f>
              <c:strCache>
                <c:ptCount val="5"/>
                <c:pt idx="0">
                  <c:v>重疾</c:v>
                </c:pt>
                <c:pt idx="1">
                  <c:v>失能</c:v>
                </c:pt>
                <c:pt idx="2">
                  <c:v>意外</c:v>
                </c:pt>
                <c:pt idx="3">
                  <c:v>住院日額</c:v>
                </c:pt>
                <c:pt idx="4">
                  <c:v>其他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441</c:v>
                </c:pt>
                <c:pt idx="1">
                  <c:v>352</c:v>
                </c:pt>
                <c:pt idx="2">
                  <c:v>311</c:v>
                </c:pt>
                <c:pt idx="3">
                  <c:v>184</c:v>
                </c:pt>
                <c:pt idx="4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B5-45C9-9230-C34605FCB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rgbClr val="29C4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D8-41DB-8DF1-217A483ACDAA}"/>
              </c:ext>
            </c:extLst>
          </c:dPt>
          <c:dPt>
            <c:idx val="1"/>
            <c:bubble3D val="0"/>
            <c:spPr>
              <a:solidFill>
                <a:srgbClr val="90DD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D8-41DB-8DF1-217A483ACDAA}"/>
              </c:ext>
            </c:extLst>
          </c:dPt>
          <c:dPt>
            <c:idx val="2"/>
            <c:bubble3D val="0"/>
            <c:spPr>
              <a:solidFill>
                <a:srgbClr val="BDE4D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9D8-41DB-8DF1-217A483ACDAA}"/>
              </c:ext>
            </c:extLst>
          </c:dPt>
          <c:dPt>
            <c:idx val="3"/>
            <c:bubble3D val="0"/>
            <c:spPr>
              <a:solidFill>
                <a:srgbClr val="B4B4B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9D8-41DB-8DF1-217A483ACDAA}"/>
              </c:ext>
            </c:extLst>
          </c:dPt>
          <c:cat>
            <c:strRef>
              <c:f>工作表1!$A$2:$A$5</c:f>
              <c:strCache>
                <c:ptCount val="4"/>
                <c:pt idx="0">
                  <c:v>癌症</c:v>
                </c:pt>
                <c:pt idx="1">
                  <c:v>醫療</c:v>
                </c:pt>
                <c:pt idx="2">
                  <c:v>壽險</c:v>
                </c:pt>
                <c:pt idx="3">
                  <c:v>其他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839</c:v>
                </c:pt>
                <c:pt idx="1">
                  <c:v>529</c:v>
                </c:pt>
                <c:pt idx="2">
                  <c:v>316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D8-41DB-8DF1-217A483AC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13642</c:v>
                </c:pt>
                <c:pt idx="1">
                  <c:v>13203</c:v>
                </c:pt>
                <c:pt idx="2">
                  <c:v>12942</c:v>
                </c:pt>
                <c:pt idx="3">
                  <c:v>12950</c:v>
                </c:pt>
                <c:pt idx="4">
                  <c:v>13265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1E-476A-B70C-7D660CE9477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13800"/>
          <c:min val="127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2225" cap="rnd">
              <a:solidFill>
                <a:srgbClr val="737373">
                  <a:alpha val="34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41414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291978</c:v>
                </c:pt>
                <c:pt idx="1">
                  <c:v>298247</c:v>
                </c:pt>
                <c:pt idx="2">
                  <c:v>344978</c:v>
                </c:pt>
                <c:pt idx="3">
                  <c:v>375217</c:v>
                </c:pt>
                <c:pt idx="4">
                  <c:v>368037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3A-471C-A558-E42ECD9CB6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395000"/>
          <c:min val="2800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5388</c:v>
                </c:pt>
                <c:pt idx="1">
                  <c:v>5489</c:v>
                </c:pt>
                <c:pt idx="2">
                  <c:v>6171</c:v>
                </c:pt>
                <c:pt idx="3">
                  <c:v>5951</c:v>
                </c:pt>
                <c:pt idx="4">
                  <c:v>6251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61-4CE6-AE68-40D62FE96EB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6500"/>
          <c:min val="51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2225" cap="rnd">
              <a:solidFill>
                <a:srgbClr val="737373">
                  <a:alpha val="34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41414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301386</c:v>
                </c:pt>
                <c:pt idx="1">
                  <c:v>314366</c:v>
                </c:pt>
                <c:pt idx="2">
                  <c:v>397900</c:v>
                </c:pt>
                <c:pt idx="3">
                  <c:v>427630</c:v>
                </c:pt>
                <c:pt idx="4">
                  <c:v>435195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B7-4C08-9B79-D28BEF30030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460000"/>
          <c:min val="2800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127841</c:v>
                </c:pt>
                <c:pt idx="1">
                  <c:v>130686</c:v>
                </c:pt>
                <c:pt idx="2">
                  <c:v>129747</c:v>
                </c:pt>
                <c:pt idx="3">
                  <c:v>130926</c:v>
                </c:pt>
                <c:pt idx="4">
                  <c:v>123346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1E-476A-B70C-7D660CE9477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134000"/>
          <c:min val="1210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916.7</c:v>
                </c:pt>
                <c:pt idx="1">
                  <c:v>940.6</c:v>
                </c:pt>
                <c:pt idx="2">
                  <c:v>889.1</c:v>
                </c:pt>
                <c:pt idx="3">
                  <c:v>1135.5999999999999</c:v>
                </c:pt>
                <c:pt idx="4">
                  <c:v>973.3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61-4CE6-AE68-40D62FE96EB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1200"/>
          <c:min val="8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2225" cap="rnd">
              <a:solidFill>
                <a:srgbClr val="737373">
                  <a:alpha val="34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41414"/>
              </a:solidFill>
              <a:ln w="9525">
                <a:noFill/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4124465</c:v>
                </c:pt>
                <c:pt idx="1">
                  <c:v>4196966</c:v>
                </c:pt>
                <c:pt idx="2">
                  <c:v>4068156</c:v>
                </c:pt>
                <c:pt idx="3">
                  <c:v>4286072</c:v>
                </c:pt>
                <c:pt idx="4">
                  <c:v>4185222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1E-4CA6-89B9-F3FC83E9F78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4350000"/>
          <c:min val="400000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3.21</c:v>
                </c:pt>
                <c:pt idx="1">
                  <c:v>5.77</c:v>
                </c:pt>
                <c:pt idx="2">
                  <c:v>3.77</c:v>
                </c:pt>
                <c:pt idx="3">
                  <c:v>4.43</c:v>
                </c:pt>
                <c:pt idx="4">
                  <c:v>6.67</c:v>
                </c:pt>
                <c:pt idx="5">
                  <c:v>6.25</c:v>
                </c:pt>
                <c:pt idx="6">
                  <c:v>6.93</c:v>
                </c:pt>
                <c:pt idx="7">
                  <c:v>7.78</c:v>
                </c:pt>
                <c:pt idx="8">
                  <c:v>9.6300000000000008</c:v>
                </c:pt>
                <c:pt idx="9">
                  <c:v>6.82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4D-4F66-998A-1BD7635C51F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12"/>
          <c:min val="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96286781410086E-2"/>
          <c:y val="3.5450201971941112E-2"/>
          <c:w val="0.91702230611810698"/>
          <c:h val="0.88261487155556062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總金額</c:v>
                </c:pt>
              </c:strCache>
            </c:strRef>
          </c:tx>
          <c:spPr>
            <a:ln w="25400" cap="rnd">
              <a:solidFill>
                <a:srgbClr val="90DD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15BD8E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2.0499999999999998</c:v>
                </c:pt>
                <c:pt idx="1">
                  <c:v>3.36</c:v>
                </c:pt>
                <c:pt idx="2">
                  <c:v>2.08</c:v>
                </c:pt>
                <c:pt idx="3">
                  <c:v>2.16</c:v>
                </c:pt>
                <c:pt idx="4">
                  <c:v>2.89</c:v>
                </c:pt>
                <c:pt idx="5">
                  <c:v>2.69</c:v>
                </c:pt>
                <c:pt idx="6">
                  <c:v>3.35</c:v>
                </c:pt>
                <c:pt idx="7">
                  <c:v>3.68</c:v>
                </c:pt>
                <c:pt idx="8">
                  <c:v>4.63</c:v>
                </c:pt>
                <c:pt idx="9">
                  <c:v>3.13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11-459E-B15E-E1D822561E8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3750815"/>
        <c:axId val="1163753695"/>
      </c:lineChart>
      <c:catAx>
        <c:axId val="11637508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200" b="0" i="0" u="none" strike="noStrike" kern="1200" baseline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TW"/>
          </a:p>
        </c:txPr>
        <c:crossAx val="1163753695"/>
        <c:crosses val="autoZero"/>
        <c:auto val="1"/>
        <c:lblAlgn val="ctr"/>
        <c:lblOffset val="100"/>
        <c:noMultiLvlLbl val="0"/>
      </c:catAx>
      <c:valAx>
        <c:axId val="1163753695"/>
        <c:scaling>
          <c:orientation val="minMax"/>
          <c:max val="6"/>
          <c:min val="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63750815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64A1F-887B-4E13-A039-8BA21EEC3779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7FA55-00CA-41C6-88C6-96AE0D9F25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01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DDB1-C7FE-4156-B4BE-783143BDF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DACD61-66E7-F63E-BCED-B26BFC2BA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08008C-C693-5421-F967-AD2B8A17D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5CE10-F175-8CD9-B7F5-E90B48DCA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542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9B4AB-5DB0-142A-D8A7-81A1B8F3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BD27686-01CC-A09C-AE9C-820C6A23D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D238C0-3B0F-34FB-CB8E-C221F17C4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67898B-8AC1-07C8-236D-680789545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380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C61C-7F36-EB5E-4714-6FF50282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77C53D-4381-97CE-09EB-88BED7855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CDC5A0-4284-238E-D81E-D477CEC7F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0E7A9B-4923-2A23-3949-F4EDBF851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496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3B90-2287-67F4-B193-80DCAD8F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CDCD38B-2990-6DFB-3472-0864EF800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914690-A6E2-2D73-DDE0-6705FDEF1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/>
              <a:t>保費</a:t>
            </a:r>
            <a:r>
              <a:rPr lang="en-US" altLang="zh-TW" b="1" dirty="0"/>
              <a:t>/GDP</a:t>
            </a:r>
            <a:r>
              <a:rPr lang="zh-TW" altLang="en-US" b="1" dirty="0"/>
              <a:t>，世界平均 </a:t>
            </a:r>
            <a:r>
              <a:rPr lang="en-US" altLang="zh-TW" b="1" dirty="0"/>
              <a:t>7% (</a:t>
            </a:r>
            <a:r>
              <a:rPr lang="zh-TW" altLang="en-US" b="1" dirty="0"/>
              <a:t>壽險</a:t>
            </a:r>
            <a:r>
              <a:rPr lang="en-US" altLang="zh-TW" b="1" dirty="0"/>
              <a:t>3%+</a:t>
            </a:r>
            <a:r>
              <a:rPr lang="zh-TW" altLang="en-US" b="1" dirty="0"/>
              <a:t>非壽險</a:t>
            </a:r>
            <a:r>
              <a:rPr lang="en-US" altLang="zh-TW" b="1" dirty="0"/>
              <a:t>4.3%)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="1" dirty="0"/>
              <a:t>Swiss Re Institute. (2025). sigma No. 2/2025: World insurance in 2025 – a riskier, more fragmented world order.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3C3BD4-E44B-E6AA-C9D8-892590E3D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240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A4E6-D0EA-20EA-4CFB-0B3CBF7A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3BD51C-598F-21BC-D015-F8BCCBF4C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99E907-8ABC-5FA4-F20B-8374B91E6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/>
              <a:t>保費</a:t>
            </a:r>
            <a:r>
              <a:rPr lang="en-US" altLang="zh-TW" b="1" dirty="0"/>
              <a:t>/GDP</a:t>
            </a:r>
            <a:r>
              <a:rPr lang="zh-TW" altLang="en-US" b="1" dirty="0"/>
              <a:t>，衡量成熟度、風險意識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7F71B4-BE1B-BBD4-732F-DEF042BB6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11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C794-79D7-044F-3A4B-12ED0842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BE57C6-DD84-66A2-EEDB-A747E380E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C88557-CA0D-77A3-09C9-931895E0C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E268BD-0FA3-623E-C406-DBE911775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229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3458-A4D4-3C75-43E1-65F237E9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307C3B-FC37-528D-A6B1-36C08475A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7A226F9-3372-FCD3-2213-2B0CF26B6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98C99F-5484-00C3-8B06-E9AB3E32B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682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E85D-9B59-0948-B2D8-814B8839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99B38D-5F3F-93B1-AA1C-9BBFDBC72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CC5A967-09C0-90AD-A268-09DA9DEEA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FBAF2B-4957-27E7-0CD0-CA0E258AE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857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0187-473A-B872-2FAA-CC74EE28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850D702-EB8F-2772-0479-02A387DD5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618D17-7EB1-D1C9-D4EB-137ABBAA7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分受雇健保與國民健保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一階基礎、二階厚生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EED1D3-5E18-7569-A8D6-987582657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612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32D0-5C97-31E5-D6C1-2BAD3B79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79AE9B-ED00-07BE-5F59-3545DEFCA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9E3F66-3592-3632-75F7-84DC935B1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A48EA7-BFA5-1D26-B6CA-CDB305228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018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26DA-7698-351B-76BA-C15D3CEC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F895AE-5E6E-B766-183B-C717DED36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A540F4-E539-B25F-DAFB-A7E6EDA55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0F224-63A3-61C1-FE91-2B336F71B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425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22FD-DFDA-8670-393A-F7C9F490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6C0536-26DD-F63C-19D4-F80C76266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2684D1-BFA5-7CF0-96D2-589328F79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60C68C-EA3C-82CA-B66D-BB03C9EF0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330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5FBD-6B46-DC97-131B-5C6112F7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1090520-6AF8-59E8-164C-1D72EB0E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62B1D4-C554-9A22-745B-718F9B9BE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B35008-6103-9A05-0403-AE52F2867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303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48FD-F1D1-19C8-38C0-8411E04D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346C79-23E0-2576-447B-B1D68E086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3D38-DDA7-82D3-73A7-801A75272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</a:t>
            </a:r>
            <a:r>
              <a:rPr lang="zh-TW" altLang="en-US" b="1" dirty="0"/>
              <a:t> </a:t>
            </a:r>
            <a:r>
              <a:rPr lang="en-US" altLang="zh-TW" b="1" dirty="0"/>
              <a:t>MetLife </a:t>
            </a:r>
            <a:r>
              <a:rPr lang="zh-TW" altLang="en-US" b="1" dirty="0"/>
              <a:t>有龐大的銀行保險夥伴</a:t>
            </a:r>
            <a:r>
              <a:rPr lang="en-US" altLang="zh-TW" b="1" dirty="0"/>
              <a:t>(bancassurance)</a:t>
            </a:r>
            <a:r>
              <a:rPr lang="zh-TW" altLang="en-US" b="1" dirty="0"/>
              <a:t>、</a:t>
            </a:r>
            <a:r>
              <a:rPr lang="en-US" altLang="zh-TW" b="1" dirty="0"/>
              <a:t>Metropolitan(</a:t>
            </a:r>
            <a:r>
              <a:rPr lang="zh-TW" altLang="en-US" b="1" dirty="0"/>
              <a:t>大都會</a:t>
            </a:r>
            <a:r>
              <a:rPr lang="en-US" altLang="zh-TW" b="1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FE6930-7D91-4146-901B-7C110E5F9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823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28CD1-057A-7484-B9A7-5BE5922D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1C8326-D77F-9D67-8717-DF55C5013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73F045-9BFD-67E7-EBFF-D323E9FD2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A528EB-ADBD-BEFD-643C-BC1894F44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598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201A-9B62-BB1B-EAC6-9633F572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E856429-04A5-E2A5-118E-E2A200F59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A35055-22FA-D35D-0918-9AE176DC2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="1" dirty="0"/>
              <a:t>AFLAC 1974 </a:t>
            </a:r>
            <a:r>
              <a:rPr lang="zh-TW" altLang="en-US" b="1" dirty="0"/>
              <a:t>賣日本第一張癌症險</a:t>
            </a:r>
            <a:r>
              <a:rPr lang="en-US" altLang="zh-TW" b="1" dirty="0"/>
              <a:t>(</a:t>
            </a:r>
            <a:r>
              <a:rPr lang="zh-TW" altLang="en-US" b="1" dirty="0"/>
              <a:t>補充保險，搭配日本大公司好賣</a:t>
            </a:r>
            <a:r>
              <a:rPr lang="en-US" altLang="zh-TW" b="1" dirty="0"/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/>
              <a:t>規模以股東權益計算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852B33-FAC2-25B6-4C57-534B2F3B2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039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0B82-23A7-B482-3D2C-EFE3CE4B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F1B451-ACF3-FF4A-82D6-2B9784DA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26847A-2807-32B0-8C7B-9E471E82D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/>
              <a:t>日本生保公司也可以是其他公司的保險代理店</a:t>
            </a:r>
            <a:endParaRPr lang="en-US" altLang="zh-TW" b="1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ja-JP" b="1" dirty="0"/>
              <a:t>2008 </a:t>
            </a:r>
            <a:r>
              <a:rPr lang="ja-JP" altLang="en-US" b="1" dirty="0"/>
              <a:t>年起，郵便局開始銷售 </a:t>
            </a:r>
            <a:r>
              <a:rPr lang="en-US" altLang="ja-JP" b="1" dirty="0"/>
              <a:t>Aflac </a:t>
            </a:r>
            <a:r>
              <a:rPr lang="ja-JP" altLang="en-US" b="1" dirty="0"/>
              <a:t>的がん保険， </a:t>
            </a:r>
            <a:r>
              <a:rPr lang="en-US" altLang="ja-JP" b="1" dirty="0"/>
              <a:t>2014 </a:t>
            </a:r>
            <a:r>
              <a:rPr lang="ja-JP" altLang="en-US" b="1" dirty="0"/>
              <a:t>年起 かんぽ生命也開始取扱</a:t>
            </a:r>
            <a:r>
              <a:rPr lang="en-US" altLang="zh-TW" b="1" dirty="0"/>
              <a:t>(</a:t>
            </a:r>
            <a:r>
              <a:rPr lang="ja-JP" altLang="en-US" b="1" dirty="0"/>
              <a:t>代理販售</a:t>
            </a:r>
            <a:r>
              <a:rPr lang="en-US" altLang="zh-TW" b="1" dirty="0"/>
              <a:t>)</a:t>
            </a:r>
            <a:r>
              <a:rPr lang="en-US" altLang="ja-JP" b="1" dirty="0"/>
              <a:t>Aflac </a:t>
            </a:r>
            <a:r>
              <a:rPr lang="ja-JP" altLang="en-US" b="1" dirty="0"/>
              <a:t>商品。</a:t>
            </a:r>
            <a:endParaRPr lang="en-US" altLang="ja-JP" b="1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="1" dirty="0"/>
              <a:t>AFLAC</a:t>
            </a:r>
            <a:r>
              <a:rPr lang="zh-TW" altLang="en-US" b="1" dirty="0"/>
              <a:t> 主力是策略聯盟</a:t>
            </a:r>
            <a:r>
              <a:rPr lang="en-US" altLang="zh-TW" b="1" dirty="0"/>
              <a:t>+</a:t>
            </a:r>
            <a:r>
              <a:rPr lang="zh-TW" altLang="en-US" b="1" dirty="0"/>
              <a:t>代理、銀行很少、團險透過聯盟夥伴 </a:t>
            </a:r>
            <a:r>
              <a:rPr lang="en-US" altLang="zh-TW" b="1" dirty="0"/>
              <a:t>Bundle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b="1" dirty="0"/>
              <a:t>策略聯盟其實就是代理的一種，只是份額太大提出來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2416FE-6B08-7839-DC6A-0292D6750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575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3AF1-7620-D8B4-0513-ACB595E3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BCE4DE-A087-770D-FF95-079F4D96F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333A46-8693-36AA-3C61-8B30B0E08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365DAD-FA8F-02AF-EC42-9EE38B343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92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0138-5B12-9AC1-E54D-52D24D47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068607-C099-36F0-98FC-0ECA8F806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1E2757-8400-529E-D302-DF3ECC2B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5ADD6A-D66A-A1EF-37F6-4CD70B0AB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320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BA989-C84B-948A-F12E-70F4D19E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751112-4BA6-9658-BA98-B85268F75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01DB9E-1CA0-81EF-F729-992D55B8A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 AFLAC</a:t>
            </a:r>
            <a:r>
              <a:rPr lang="zh-TW" altLang="en-US" b="1" dirty="0"/>
              <a:t> 日本癌症險市佔高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D65D77-7B75-628D-F991-5E9AA04D0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114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FC0-207D-A2AF-CBA8-7108BE05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6C07AD-8169-A9F2-B78D-EBD4F5250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27E00A-40E6-D666-CC1C-8AE2C2910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 </a:t>
            </a:r>
            <a:r>
              <a:rPr lang="zh-TW" altLang="en-US" b="1" dirty="0"/>
              <a:t>資料皆比較</a:t>
            </a:r>
            <a:r>
              <a:rPr lang="en-US" altLang="zh-TW" b="1" dirty="0"/>
              <a:t>2000~2020(2 decades</a:t>
            </a:r>
            <a:r>
              <a:rPr lang="zh-TW" altLang="en-US" b="1" dirty="0"/>
              <a:t> 變化</a:t>
            </a:r>
            <a:r>
              <a:rPr lang="en-US" altLang="zh-TW" b="1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B7895-36DC-23A7-3772-1E92C1403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381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BC0F-386B-7F30-5FC8-1A1362252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699CE0-4E9F-B8DA-E790-459B35889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CE4C3F-8A1E-DC80-B0B6-9A2E4F05C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 </a:t>
            </a:r>
            <a:r>
              <a:rPr lang="zh-TW" altLang="en-US" b="1" dirty="0"/>
              <a:t>新客更容易入手</a:t>
            </a:r>
            <a:r>
              <a:rPr lang="en-US" altLang="zh-TW" b="1" dirty="0"/>
              <a:t>/</a:t>
            </a:r>
            <a:r>
              <a:rPr lang="zh-TW" altLang="en-US" b="1" dirty="0"/>
              <a:t>既有客也能依照需求強化保單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CAADC3-5427-9718-02BB-289F23415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4252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2271-D961-196B-3334-546BF6EF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791F85-6B90-3110-CF44-E68F76855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40CB8B-1DEA-A4D6-AC5B-32CF9D2AD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 </a:t>
            </a:r>
            <a:r>
              <a:rPr lang="zh-TW" altLang="en-US" b="1" dirty="0"/>
              <a:t>新客更容易入手</a:t>
            </a:r>
            <a:r>
              <a:rPr lang="en-US" altLang="zh-TW" b="1" dirty="0"/>
              <a:t>/</a:t>
            </a:r>
            <a:r>
              <a:rPr lang="zh-TW" altLang="en-US" b="1" dirty="0"/>
              <a:t>既有客也能依照需求強化保單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58AD0C-AB50-4C4C-B5DB-2014E3E3D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6641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F309-8A8C-C644-1F4A-A762D980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5E3F75-A1E5-8CAB-39D1-0399637A8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A07553-E609-95AE-73FA-C6FEE8709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</a:t>
            </a:r>
            <a:r>
              <a:rPr lang="zh-TW" altLang="en-US" b="1" dirty="0"/>
              <a:t> 看完通路、產品，看核保、理賠、服務、數位轉型等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24BF80-740F-2C93-47A9-19E2BABA6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149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34C1-3AD0-C706-BA4B-EA8425AF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B8F7D3-CFFB-EEA2-AACA-AFE6BE702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E33CA0-B3F6-57ED-B137-CA891FF83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 NAYYA</a:t>
            </a:r>
            <a:r>
              <a:rPr lang="zh-TW" altLang="en-US" b="1" dirty="0"/>
              <a:t> 如 </a:t>
            </a:r>
            <a:r>
              <a:rPr lang="en-US" altLang="zh-TW" b="1" dirty="0"/>
              <a:t>Tableau </a:t>
            </a:r>
            <a:r>
              <a:rPr lang="zh-TW" altLang="en-US" b="1" dirty="0"/>
              <a:t>串 </a:t>
            </a:r>
            <a:r>
              <a:rPr lang="en-US" altLang="zh-TW" b="1" dirty="0"/>
              <a:t>Slack</a:t>
            </a:r>
            <a:r>
              <a:rPr lang="zh-TW" altLang="en-US" b="1" dirty="0"/>
              <a:t>、想像 </a:t>
            </a:r>
            <a:r>
              <a:rPr lang="en-US" altLang="zh-TW" b="1" dirty="0"/>
              <a:t>Teams</a:t>
            </a:r>
            <a:r>
              <a:rPr lang="zh-TW" altLang="en-US" b="1" dirty="0"/>
              <a:t> 頻道可直接 </a:t>
            </a:r>
            <a:r>
              <a:rPr lang="en-US" altLang="zh-TW" b="1" dirty="0"/>
              <a:t>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2. SKYGEN | </a:t>
            </a:r>
            <a:r>
              <a:rPr lang="zh-TW" altLang="en-US" b="1" dirty="0"/>
              <a:t>牙科與視力保險通常不屬於健保，因此保險公司會外包給專門管理這類業務的平台</a:t>
            </a:r>
            <a:endParaRPr lang="en-US" altLang="zh-TW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3.</a:t>
            </a:r>
            <a:r>
              <a:rPr lang="zh-TW" altLang="en-US" b="1" dirty="0"/>
              <a:t> 把所有牙科生態系利害關係人 </a:t>
            </a:r>
            <a:r>
              <a:rPr lang="en-US" altLang="zh-TW" b="1" dirty="0"/>
              <a:t>(payers</a:t>
            </a:r>
            <a:r>
              <a:rPr lang="zh-TW" altLang="en-US" b="1" dirty="0"/>
              <a:t>、</a:t>
            </a:r>
            <a:r>
              <a:rPr lang="en-US" altLang="zh-TW" b="1" dirty="0"/>
              <a:t>providers</a:t>
            </a:r>
            <a:r>
              <a:rPr lang="zh-TW" altLang="en-US" b="1" dirty="0"/>
              <a:t>、</a:t>
            </a:r>
            <a:r>
              <a:rPr lang="en-US" altLang="zh-TW" b="1" dirty="0"/>
              <a:t>patients</a:t>
            </a:r>
            <a:r>
              <a:rPr lang="zh-TW" altLang="en-US" b="1" dirty="0"/>
              <a:t>、</a:t>
            </a:r>
            <a:r>
              <a:rPr lang="en-US" altLang="zh-TW" b="1" dirty="0"/>
              <a:t>partners)</a:t>
            </a:r>
            <a:r>
              <a:rPr lang="zh-TW" altLang="en-US" b="1" dirty="0"/>
              <a:t> 串接在同個平台的數位中心</a:t>
            </a:r>
            <a:r>
              <a:rPr lang="en-US" altLang="zh-TW" b="1" dirty="0"/>
              <a:t>(Dental Hub)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4. </a:t>
            </a:r>
            <a:r>
              <a:rPr lang="zh-TW" altLang="en-US" b="1" dirty="0"/>
              <a:t>法律文件包含遺囑、醫療指示、授權書等</a:t>
            </a:r>
            <a:r>
              <a:rPr lang="en-US" altLang="zh-TW" b="1" dirty="0"/>
              <a:t>(Vault </a:t>
            </a:r>
            <a:r>
              <a:rPr lang="zh-TW" altLang="en-US" b="1" dirty="0"/>
              <a:t>保險箱</a:t>
            </a:r>
            <a:r>
              <a:rPr lang="en-US" altLang="zh-TW" b="1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9A840B-BF2B-0150-236A-B7062AA8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9305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3FA6-CE66-87B5-9516-932FF026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1761E1-B349-15FA-A7AB-3355B6268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0296E4-903B-E239-DDD7-DAD1DF087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B3AB-6A99-CFBC-3705-8D0CF963E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7152-368B-238E-5731-E2793ADF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20013C-FD8A-6F1B-49DA-5D8D2FBFB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31BB19-351E-209E-F393-31A243880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E412A3-2F29-43D8-2DC4-0A2DC2B57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307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8816-F752-56EF-056B-A5E577A9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6C69DD3-5D43-8096-9C76-55E7A47C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7877BB-2D2F-19F9-54B8-0F90AD1FC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1.</a:t>
            </a:r>
            <a:r>
              <a:rPr lang="zh-TW" altLang="en-US" b="1" dirty="0"/>
              <a:t> </a:t>
            </a:r>
            <a:r>
              <a:rPr lang="en-US" altLang="zh-TW" b="1" dirty="0"/>
              <a:t>SMR, Solvency Margin Ratio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CE5CED-86A7-EAC8-C04D-581B33D84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19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2482-4C5F-8ABC-20FA-6ECD069E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1CAFDBE-1E90-9381-1BED-A106EEDFB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CD49FF-4936-10E3-FA60-EF7B9005F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329337-E143-D5B0-2B16-03EE07816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734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5AA6-7786-EBEC-7FB4-1B4132DC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FBA2709-DF86-F410-1DE0-0F8B2DC4E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D32D15F-0A2B-0D66-1B3F-E3352849F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648B2F-DE2A-62E9-BDDD-7BB05FED7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1BFCD-D222-4410-9D84-FA0B93A9A81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68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B22D6-A0EF-4ED0-AE22-1458FF841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7FE31B-E7D0-4A16-8E93-EA9EC705A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AAEE12-87ED-4DE1-82C9-9FD01AA2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608D0-4343-4478-88C6-DEC70FBC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11198F-3293-4338-95ED-9BE040B7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30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AF2F3-D071-48D1-B946-3435B0DA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DB446-A91D-4698-98AA-5F3BF429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A20BBD-ECE1-4EB7-8C8A-D4E5E195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6D5CD4-4991-48D4-9CCE-56E17C17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7CC21-7556-4EEE-B304-4FE56454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08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483AD-61B2-49C4-A687-DA7F66F9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E5B059-9854-44D7-BCBA-5D78F2AE7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17A251-09DB-4D3A-966B-B8A8C7DF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CA9839-B36A-4111-B421-D8340331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3EF793-A9CA-4B12-BBC5-1CB1CD41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57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02474-127E-469D-BE7F-C18B0F8D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E6E94-DAEB-4D67-A551-8659CEB77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6FAD0D-D3A7-453A-AF5E-569642756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5AD892-075E-442E-A613-3777B0BA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637F3D-AB0B-4D20-9C19-ADC75CB2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D392DF-8E99-4B80-80CC-39FFF54C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283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2FAC64-57E9-4A0E-A29B-BD073E77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79A356-4B37-4666-BEBE-12B0DA4D4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CF97C6-37DA-4C64-8FAB-692CAA5B6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0235D8A-EC16-4D94-BC4E-235E2C667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BE72FAA-3E42-4000-8B4C-A18E00258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DE880E8-EAF6-4DF7-921A-D6F22DA9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74E324-E584-4488-A7CA-939E54CF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6BEC485-D139-4E54-A7CA-BA9CC32D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41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EF80FF-F694-4303-9171-1EFBB591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B0A0C9-D516-4335-A568-5913A16E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57EF369-6545-4DF7-BB9F-6AA717B9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597585-62D8-4638-B293-E8CAE489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00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4E1D84-AEAD-4CD4-901F-C241B384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2C6D506-8779-4A0A-BE25-664BEE1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BFB4B9-6A46-458F-B54E-58391111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10D60A-E5F6-E6A1-16CF-E0660E4B26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699" b="66195"/>
          <a:stretch/>
        </p:blipFill>
        <p:spPr>
          <a:xfrm>
            <a:off x="0" y="-576583"/>
            <a:ext cx="2977071" cy="54024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5C754C-B3B3-9F6B-5B86-4835679BF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4118" r="27462" b="36775"/>
          <a:stretch/>
        </p:blipFill>
        <p:spPr>
          <a:xfrm>
            <a:off x="2977071" y="-576583"/>
            <a:ext cx="2159503" cy="54024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ABD8531-CBE6-632D-3E08-63E01CD07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5136574" y="-576583"/>
            <a:ext cx="2062536" cy="5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7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3831C99-2BE4-4641-B3E7-0579D409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Google Shape;12633;p6">
            <a:extLst>
              <a:ext uri="{FF2B5EF4-FFF2-40B4-BE49-F238E27FC236}">
                <a16:creationId xmlns:a16="http://schemas.microsoft.com/office/drawing/2014/main" id="{4BFC0F37-2957-4D70-9A4D-B49AE0775A74}"/>
              </a:ext>
            </a:extLst>
          </p:cNvPr>
          <p:cNvSpPr txBox="1"/>
          <p:nvPr userDrawn="1"/>
        </p:nvSpPr>
        <p:spPr>
          <a:xfrm>
            <a:off x="183247" y="98052"/>
            <a:ext cx="11524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400" b="1">
                <a:solidFill>
                  <a:srgbClr val="2D44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  <a:sym typeface="Microsoft YaHei"/>
              </a:rPr>
              <a:t>Agenda</a:t>
            </a:r>
            <a:endParaRPr sz="24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Google Shape;12634;p6">
            <a:extLst>
              <a:ext uri="{FF2B5EF4-FFF2-40B4-BE49-F238E27FC236}">
                <a16:creationId xmlns:a16="http://schemas.microsoft.com/office/drawing/2014/main" id="{BB8CFFCD-C7F0-46B6-B0F9-218B6F282496}"/>
              </a:ext>
            </a:extLst>
          </p:cNvPr>
          <p:cNvSpPr/>
          <p:nvPr userDrawn="1"/>
        </p:nvSpPr>
        <p:spPr>
          <a:xfrm>
            <a:off x="0" y="98067"/>
            <a:ext cx="183200" cy="461600"/>
          </a:xfrm>
          <a:prstGeom prst="rect">
            <a:avLst/>
          </a:prstGeom>
          <a:solidFill>
            <a:srgbClr val="2D445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8" name="Google Shape;12634;p6">
            <a:extLst>
              <a:ext uri="{FF2B5EF4-FFF2-40B4-BE49-F238E27FC236}">
                <a16:creationId xmlns:a16="http://schemas.microsoft.com/office/drawing/2014/main" id="{03E25763-9E81-48EE-A380-60EB9D964878}"/>
              </a:ext>
            </a:extLst>
          </p:cNvPr>
          <p:cNvSpPr/>
          <p:nvPr userDrawn="1"/>
        </p:nvSpPr>
        <p:spPr>
          <a:xfrm>
            <a:off x="1834055" y="1911078"/>
            <a:ext cx="183200" cy="461600"/>
          </a:xfrm>
          <a:prstGeom prst="rect">
            <a:avLst/>
          </a:prstGeom>
          <a:solidFill>
            <a:srgbClr val="2D445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9" name="Google Shape;12633;p6">
            <a:extLst>
              <a:ext uri="{FF2B5EF4-FFF2-40B4-BE49-F238E27FC236}">
                <a16:creationId xmlns:a16="http://schemas.microsoft.com/office/drawing/2014/main" id="{3337D9CA-E0BC-47DD-BA8D-F5052C357F82}"/>
              </a:ext>
            </a:extLst>
          </p:cNvPr>
          <p:cNvSpPr txBox="1"/>
          <p:nvPr userDrawn="1"/>
        </p:nvSpPr>
        <p:spPr>
          <a:xfrm>
            <a:off x="2164447" y="1911078"/>
            <a:ext cx="508108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>
                <a:solidFill>
                  <a:srgbClr val="2D44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分析架構</a:t>
            </a:r>
            <a:endParaRPr sz="24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Google Shape;12634;p6">
            <a:extLst>
              <a:ext uri="{FF2B5EF4-FFF2-40B4-BE49-F238E27FC236}">
                <a16:creationId xmlns:a16="http://schemas.microsoft.com/office/drawing/2014/main" id="{122BB71D-AB3B-438D-86B0-97889B909A65}"/>
              </a:ext>
            </a:extLst>
          </p:cNvPr>
          <p:cNvSpPr/>
          <p:nvPr userDrawn="1"/>
        </p:nvSpPr>
        <p:spPr>
          <a:xfrm>
            <a:off x="1834055" y="2765613"/>
            <a:ext cx="183200" cy="461600"/>
          </a:xfrm>
          <a:prstGeom prst="rect">
            <a:avLst/>
          </a:prstGeom>
          <a:solidFill>
            <a:srgbClr val="4F9B8E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1" name="Google Shape;12633;p6">
            <a:extLst>
              <a:ext uri="{FF2B5EF4-FFF2-40B4-BE49-F238E27FC236}">
                <a16:creationId xmlns:a16="http://schemas.microsoft.com/office/drawing/2014/main" id="{1A0DA904-BCF3-4B6D-9B04-27C2ABC28D01}"/>
              </a:ext>
            </a:extLst>
          </p:cNvPr>
          <p:cNvSpPr txBox="1"/>
          <p:nvPr userDrawn="1"/>
        </p:nvSpPr>
        <p:spPr>
          <a:xfrm>
            <a:off x="2164447" y="2765613"/>
            <a:ext cx="441923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>
                <a:solidFill>
                  <a:srgbClr val="2D44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網投客戶分群</a:t>
            </a:r>
            <a:endParaRPr lang="en-US" altLang="zh-TW" sz="2400" b="1">
              <a:solidFill>
                <a:srgbClr val="2D445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12" name="Google Shape;12634;p6">
            <a:extLst>
              <a:ext uri="{FF2B5EF4-FFF2-40B4-BE49-F238E27FC236}">
                <a16:creationId xmlns:a16="http://schemas.microsoft.com/office/drawing/2014/main" id="{56F059AC-29F6-4940-8B6D-041701E712E9}"/>
              </a:ext>
            </a:extLst>
          </p:cNvPr>
          <p:cNvSpPr/>
          <p:nvPr userDrawn="1"/>
        </p:nvSpPr>
        <p:spPr>
          <a:xfrm>
            <a:off x="1834055" y="4474611"/>
            <a:ext cx="183200" cy="461600"/>
          </a:xfrm>
          <a:prstGeom prst="rect">
            <a:avLst/>
          </a:prstGeom>
          <a:solidFill>
            <a:srgbClr val="E8A56C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5" name="Google Shape;12633;p6">
            <a:extLst>
              <a:ext uri="{FF2B5EF4-FFF2-40B4-BE49-F238E27FC236}">
                <a16:creationId xmlns:a16="http://schemas.microsoft.com/office/drawing/2014/main" id="{D9D3765C-8BA5-4832-A5E1-770A6E6ABE7F}"/>
              </a:ext>
            </a:extLst>
          </p:cNvPr>
          <p:cNvSpPr txBox="1"/>
          <p:nvPr userDrawn="1"/>
        </p:nvSpPr>
        <p:spPr>
          <a:xfrm>
            <a:off x="2164447" y="4474611"/>
            <a:ext cx="352165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>
                <a:solidFill>
                  <a:srgbClr val="2D44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後續建議</a:t>
            </a:r>
            <a:endParaRPr lang="en-US" altLang="zh-TW" sz="2400" b="1">
              <a:solidFill>
                <a:srgbClr val="2D445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13" name="Google Shape;12634;p6">
            <a:extLst>
              <a:ext uri="{FF2B5EF4-FFF2-40B4-BE49-F238E27FC236}">
                <a16:creationId xmlns:a16="http://schemas.microsoft.com/office/drawing/2014/main" id="{737C9E00-1C4F-4EF6-8A1E-1DAC8C0DC4E6}"/>
              </a:ext>
            </a:extLst>
          </p:cNvPr>
          <p:cNvSpPr/>
          <p:nvPr userDrawn="1"/>
        </p:nvSpPr>
        <p:spPr>
          <a:xfrm>
            <a:off x="1834055" y="3620124"/>
            <a:ext cx="183200" cy="461600"/>
          </a:xfrm>
          <a:prstGeom prst="rect">
            <a:avLst/>
          </a:prstGeom>
          <a:solidFill>
            <a:srgbClr val="E3C578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4" name="Google Shape;12633;p6">
            <a:extLst>
              <a:ext uri="{FF2B5EF4-FFF2-40B4-BE49-F238E27FC236}">
                <a16:creationId xmlns:a16="http://schemas.microsoft.com/office/drawing/2014/main" id="{07F94C89-DC61-4E48-AF84-AE1202F28DF1}"/>
              </a:ext>
            </a:extLst>
          </p:cNvPr>
          <p:cNvSpPr txBox="1"/>
          <p:nvPr userDrawn="1"/>
        </p:nvSpPr>
        <p:spPr>
          <a:xfrm>
            <a:off x="2164447" y="3620124"/>
            <a:ext cx="471343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>
                <a:solidFill>
                  <a:srgbClr val="2D44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網投客戶分群</a:t>
            </a:r>
            <a:endParaRPr lang="en-US" altLang="zh-TW" sz="2400" b="1">
              <a:solidFill>
                <a:srgbClr val="2D445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4560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5B31B-74DB-4C7E-A1BA-F3E2791C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DA379-E68E-40EE-89F0-B07F5FADE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4875CF8-7736-427C-A89C-D16648C5E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52C2E8-5D90-4EB3-BDC0-1DF476E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DD66C99-B9F2-4199-B9C2-14B6E4EA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71C0E4-7853-4DD8-BC4C-ECE4C2B1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87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80DD90-47F4-4836-9F6C-23586C58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D185654-F818-4015-B061-BC256735F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45FEDA-9A71-4470-B758-2EBFD4ED4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47CFB7-EA1F-429B-95D3-676833C1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369C8B-14E1-46D7-9BBB-42CC95EBB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0C2A45-F0B0-4EDF-9955-9EDC4AB9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58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C9CA52-6937-41E0-9A3B-ECD9E9AA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53592-F555-4E93-B8E7-5904C424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49CF9D-47FD-4408-B126-A8A20957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A8806A-96A4-424A-A167-6036F036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6474FC-C0C3-4763-B9EA-66DDD598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121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D94D35E-0A3C-4719-8FCB-03B4A9CF4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2EEE44-CC4C-4D7B-8223-1FC77AAC0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AE246B-BA8D-4B14-A1F6-1EB547F5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FA62B9-DA19-4BF5-82D0-6C8FA20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B58F62-76FF-4E56-AFAE-74DB4564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93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4E9558-2D11-49CF-8DA1-BDC0D478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1C5C7B-0937-44BD-9258-E04ED976C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A7A5BE-EF59-4F1E-A028-FBF8463F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54436-88D3-432B-A809-AEB537065BE5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529305-3F0B-4301-AB47-21E908546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7C91D8-F839-4705-9AF9-2B2961AD7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1366B-A21A-4DE3-A09A-F0C6AB71955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Google Shape;11;g281ed20ad75_1_0">
            <a:extLst>
              <a:ext uri="{FF2B5EF4-FFF2-40B4-BE49-F238E27FC236}">
                <a16:creationId xmlns:a16="http://schemas.microsoft.com/office/drawing/2014/main" id="{F41E8C0E-267B-4240-ACD6-76B3D4EE4469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0" y="-570732"/>
            <a:ext cx="2914421" cy="53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613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yya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orkday.com/" TargetMode="External"/><Relationship Id="rId5" Type="http://schemas.openxmlformats.org/officeDocument/2006/relationships/hyperlink" Target="https://www.empathy.com/" TargetMode="External"/><Relationship Id="rId4" Type="http://schemas.openxmlformats.org/officeDocument/2006/relationships/hyperlink" Target="https://www.skygenusa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8CC5-02FF-DFB4-8BD5-630D066D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7562231-E0B2-4C55-18FC-6F6086A49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37513"/>
          </a:xfrm>
          <a:prstGeom prst="rect">
            <a:avLst/>
          </a:prstGeom>
          <a:gradFill flip="none" rotWithShape="1">
            <a:gsLst>
              <a:gs pos="0">
                <a:srgbClr val="B3EAD6"/>
              </a:gs>
              <a:gs pos="100000">
                <a:srgbClr val="E7F9F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 txBox="1">
            <a:spLocks/>
          </p:cNvSpPr>
          <p:nvPr/>
        </p:nvSpPr>
        <p:spPr>
          <a:xfrm>
            <a:off x="1103445" y="920203"/>
            <a:ext cx="11088555" cy="1749163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zh-TW" altLang="en-US" sz="4000" b="1" dirty="0">
                <a:solidFill>
                  <a:srgbClr val="141414"/>
                </a:solidFill>
                <a:latin typeface="Microsoft YaHei"/>
                <a:ea typeface="Microsoft YaHei"/>
              </a:rPr>
              <a:t>如何看一間保險公司 ？</a:t>
            </a:r>
            <a:endParaRPr lang="en-US" altLang="zh-TW" sz="4000" b="1" dirty="0">
              <a:solidFill>
                <a:srgbClr val="141414"/>
              </a:solidFill>
              <a:latin typeface="Microsoft YaHei"/>
              <a:ea typeface="Microsoft YaHei"/>
            </a:endParaRPr>
          </a:p>
          <a:p>
            <a:pPr>
              <a:spcBef>
                <a:spcPts val="1800"/>
              </a:spcBef>
            </a:pPr>
            <a:r>
              <a:rPr lang="en-US" altLang="zh-TW" sz="2800" b="1" dirty="0">
                <a:solidFill>
                  <a:srgbClr val="141414"/>
                </a:solidFill>
                <a:latin typeface="Microsoft YaHei"/>
                <a:ea typeface="Microsoft YaHei"/>
              </a:rPr>
              <a:t>-</a:t>
            </a:r>
            <a:r>
              <a:rPr lang="zh-TW" altLang="en-US" sz="2800" b="1" dirty="0">
                <a:solidFill>
                  <a:srgbClr val="141414"/>
                </a:solidFill>
                <a:latin typeface="Microsoft YaHei"/>
                <a:ea typeface="Microsoft YaHei"/>
              </a:rPr>
              <a:t>以               為例</a:t>
            </a:r>
            <a:r>
              <a:rPr lang="en-US" altLang="zh-TW" sz="2800" b="1" dirty="0">
                <a:solidFill>
                  <a:srgbClr val="141414"/>
                </a:solidFill>
                <a:latin typeface="Microsoft YaHei"/>
                <a:ea typeface="Microsoft YaHei"/>
              </a:rPr>
              <a:t>-</a:t>
            </a:r>
            <a:endParaRPr lang="en-US" altLang="zh-TW" sz="2800" b="1" dirty="0">
              <a:solidFill>
                <a:srgbClr val="F6DD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</a:endParaRPr>
          </a:p>
        </p:txBody>
      </p:sp>
      <p:sp>
        <p:nvSpPr>
          <p:cNvPr id="10" name="Google Shape;37453;p49">
            <a:extLst>
              <a:ext uri="{FF2B5EF4-FFF2-40B4-BE49-F238E27FC236}">
                <a16:creationId xmlns:a16="http://schemas.microsoft.com/office/drawing/2014/main" id="{6ACE028A-C67A-403C-AC63-7B10C28C5D95}"/>
              </a:ext>
            </a:extLst>
          </p:cNvPr>
          <p:cNvSpPr/>
          <p:nvPr/>
        </p:nvSpPr>
        <p:spPr>
          <a:xfrm>
            <a:off x="1190625" y="3283680"/>
            <a:ext cx="1516856" cy="238189"/>
          </a:xfrm>
          <a:prstGeom prst="roundRect">
            <a:avLst>
              <a:gd name="adj" fmla="val 50000"/>
            </a:avLst>
          </a:prstGeom>
          <a:solidFill>
            <a:srgbClr val="29C48A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lang="en-US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</a:t>
            </a:r>
            <a:r>
              <a:rPr lang="en-US" altLang="zh-TW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26</a:t>
            </a:r>
            <a:r>
              <a:rPr lang="en-US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lang="en-US" altLang="zh-TW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</a:t>
            </a:r>
            <a:r>
              <a:rPr lang="en-US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lang="en-US" altLang="zh-TW" sz="1400" b="1" kern="0">
                <a:solidFill>
                  <a:prstClr val="whit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15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" name="副標題 5">
            <a:extLst>
              <a:ext uri="{FF2B5EF4-FFF2-40B4-BE49-F238E27FC236}">
                <a16:creationId xmlns:a16="http://schemas.microsoft.com/office/drawing/2014/main" id="{3EA715F9-7ADA-4029-8B11-C382DF75839D}"/>
              </a:ext>
            </a:extLst>
          </p:cNvPr>
          <p:cNvSpPr txBox="1">
            <a:spLocks/>
          </p:cNvSpPr>
          <p:nvPr/>
        </p:nvSpPr>
        <p:spPr>
          <a:xfrm>
            <a:off x="1103445" y="2569383"/>
            <a:ext cx="10465163" cy="6600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數位客戶經營科</a:t>
            </a:r>
            <a:r>
              <a:rPr lang="en-US" altLang="zh-TW" sz="2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 </a:t>
            </a:r>
            <a:r>
              <a:rPr lang="zh-TW" altLang="en-US" sz="2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蔡秉諺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2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TW" sz="1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Jason</a:t>
            </a:r>
            <a:r>
              <a:rPr lang="en-US" altLang="zh-TW" sz="2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20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3FAF629-585F-39B7-62F8-FC413C30E826}"/>
              </a:ext>
            </a:extLst>
          </p:cNvPr>
          <p:cNvCxnSpPr>
            <a:cxnSpLocks/>
          </p:cNvCxnSpPr>
          <p:nvPr/>
        </p:nvCxnSpPr>
        <p:spPr>
          <a:xfrm>
            <a:off x="393700" y="6527800"/>
            <a:ext cx="9474200" cy="0"/>
          </a:xfrm>
          <a:prstGeom prst="line">
            <a:avLst/>
          </a:prstGeom>
          <a:ln>
            <a:solidFill>
              <a:srgbClr val="15BD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投保國泰人壽保險專案享「里」遇">
            <a:extLst>
              <a:ext uri="{FF2B5EF4-FFF2-40B4-BE49-F238E27FC236}">
                <a16:creationId xmlns:a16="http://schemas.microsoft.com/office/drawing/2014/main" id="{FF0D308B-76BE-2F1B-C542-EF7FCCB9C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4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438" y="6348530"/>
            <a:ext cx="1566862" cy="35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美国最大健康保险公司：美国家庭人寿保险公司Aflac Incorporated(AFL) | 美股之家- 港股美股开户投资百科全书">
            <a:extLst>
              <a:ext uri="{FF2B5EF4-FFF2-40B4-BE49-F238E27FC236}">
                <a16:creationId xmlns:a16="http://schemas.microsoft.com/office/drawing/2014/main" id="{42AB2A40-0157-7309-8706-E470AF82C4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3" b="28831"/>
          <a:stretch>
            <a:fillRect/>
          </a:stretch>
        </p:blipFill>
        <p:spPr bwMode="auto">
          <a:xfrm>
            <a:off x="1758650" y="1883983"/>
            <a:ext cx="1516856" cy="51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35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9EAB-AAC2-167B-3154-F195A64E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20D88D53-CC8D-AA74-20D9-560254F2D9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CA71173D-5B46-E09C-CA6D-48F1C6FF4CC8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8E1512B9-0079-A3E6-498C-50CAE41123D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保險公司研究架構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6CC977B6-D434-0E35-6F67-B50DF2646A8F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4D8489DD-8FD3-D28D-2515-49F1FCD29EB0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可分為國家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產業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公司三層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B233F607-7B09-B426-BB6D-6C778B700AC3}"/>
              </a:ext>
            </a:extLst>
          </p:cNvPr>
          <p:cNvGrpSpPr/>
          <p:nvPr/>
        </p:nvGrpSpPr>
        <p:grpSpPr>
          <a:xfrm>
            <a:off x="1437961" y="1566168"/>
            <a:ext cx="9316072" cy="1232965"/>
            <a:chOff x="1437964" y="4396310"/>
            <a:chExt cx="9316072" cy="12329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7752321-16EB-35B7-017A-A85A33E1C2CB}"/>
                </a:ext>
              </a:extLst>
            </p:cNvPr>
            <p:cNvSpPr/>
            <p:nvPr/>
          </p:nvSpPr>
          <p:spPr>
            <a:xfrm>
              <a:off x="1437964" y="4396310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國家層級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BB1D987-B0DA-847F-20C9-FA586950C1F6}"/>
                </a:ext>
              </a:extLst>
            </p:cNvPr>
            <p:cNvSpPr/>
            <p:nvPr/>
          </p:nvSpPr>
          <p:spPr>
            <a:xfrm>
              <a:off x="1437964" y="4820758"/>
              <a:ext cx="3064647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保險滲透率 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x 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密度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278848-2D3E-2F51-25AE-6B0019454B5A}"/>
                </a:ext>
              </a:extLst>
            </p:cNvPr>
            <p:cNvSpPr/>
            <p:nvPr/>
          </p:nvSpPr>
          <p:spPr>
            <a:xfrm>
              <a:off x="4563677" y="4820758"/>
              <a:ext cx="3064647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公保、社保制度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E974674-6FFD-ED34-9078-5C3701F57EE8}"/>
                </a:ext>
              </a:extLst>
            </p:cNvPr>
            <p:cNvSpPr/>
            <p:nvPr/>
          </p:nvSpPr>
          <p:spPr>
            <a:xfrm>
              <a:off x="7689389" y="4820758"/>
              <a:ext cx="3064647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秩序、創新監理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D0CBA2A-E7E1-C983-E4A4-699F83A00099}"/>
              </a:ext>
            </a:extLst>
          </p:cNvPr>
          <p:cNvGrpSpPr/>
          <p:nvPr/>
        </p:nvGrpSpPr>
        <p:grpSpPr>
          <a:xfrm>
            <a:off x="1437961" y="2964953"/>
            <a:ext cx="9316073" cy="1232965"/>
            <a:chOff x="1437961" y="2964953"/>
            <a:chExt cx="9316073" cy="12329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B18BAC-36D4-86A6-B5F4-6B70EB3012B0}"/>
                </a:ext>
              </a:extLst>
            </p:cNvPr>
            <p:cNvSpPr/>
            <p:nvPr/>
          </p:nvSpPr>
          <p:spPr>
            <a:xfrm>
              <a:off x="1437961" y="2964953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產業層級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036BF4F-BF8C-1897-B911-CF199D28D162}"/>
                </a:ext>
              </a:extLst>
            </p:cNvPr>
            <p:cNvSpPr/>
            <p:nvPr/>
          </p:nvSpPr>
          <p:spPr>
            <a:xfrm>
              <a:off x="1437961" y="3389401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公會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壽險、產險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5A661EA-7D49-414E-FB58-A07AF58F84F7}"/>
                </a:ext>
              </a:extLst>
            </p:cNvPr>
            <p:cNvSpPr/>
            <p:nvPr/>
          </p:nvSpPr>
          <p:spPr>
            <a:xfrm>
              <a:off x="6124573" y="3389401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市佔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本土、外商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1725C269-12AA-A5DB-8C3E-0C4F4591C609}"/>
              </a:ext>
            </a:extLst>
          </p:cNvPr>
          <p:cNvGrpSpPr/>
          <p:nvPr/>
        </p:nvGrpSpPr>
        <p:grpSpPr>
          <a:xfrm>
            <a:off x="1437961" y="4363737"/>
            <a:ext cx="9316073" cy="1232965"/>
            <a:chOff x="1437963" y="3663298"/>
            <a:chExt cx="9316073" cy="12329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E4BE941-4A04-D4F8-1166-3CF0B89FB732}"/>
                </a:ext>
              </a:extLst>
            </p:cNvPr>
            <p:cNvSpPr/>
            <p:nvPr/>
          </p:nvSpPr>
          <p:spPr>
            <a:xfrm>
              <a:off x="1437964" y="3663298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公司層級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F61BB47-E217-C3B7-379B-75626E7BE4D9}"/>
                </a:ext>
              </a:extLst>
            </p:cNvPr>
            <p:cNvSpPr/>
            <p:nvPr/>
          </p:nvSpPr>
          <p:spPr>
            <a:xfrm>
              <a:off x="1437963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業務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通路、產品、核保、理賠、服務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13BD487-C6FF-86C7-F090-F1F6A8F2E7F3}"/>
                </a:ext>
              </a:extLst>
            </p:cNvPr>
            <p:cNvSpPr/>
            <p:nvPr/>
          </p:nvSpPr>
          <p:spPr>
            <a:xfrm>
              <a:off x="6124575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財務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三表、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TA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EPS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899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8336-11EA-2A36-CD68-7027C75E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84F85A17-B723-132B-A4D9-B23AC91E61B7}"/>
              </a:ext>
            </a:extLst>
          </p:cNvPr>
          <p:cNvGrpSpPr/>
          <p:nvPr/>
        </p:nvGrpSpPr>
        <p:grpSpPr>
          <a:xfrm>
            <a:off x="1437961" y="2964953"/>
            <a:ext cx="9316073" cy="1232965"/>
            <a:chOff x="1437961" y="2964953"/>
            <a:chExt cx="9316073" cy="12329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1BBC1C3-3364-1DD1-9AB6-57CA31C924FE}"/>
                </a:ext>
              </a:extLst>
            </p:cNvPr>
            <p:cNvSpPr/>
            <p:nvPr/>
          </p:nvSpPr>
          <p:spPr>
            <a:xfrm>
              <a:off x="1437961" y="2964953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產業層級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9F4BA81-1B58-F8F5-DF5A-B9E611D5CD35}"/>
                </a:ext>
              </a:extLst>
            </p:cNvPr>
            <p:cNvSpPr/>
            <p:nvPr/>
          </p:nvSpPr>
          <p:spPr>
            <a:xfrm>
              <a:off x="1437961" y="3389401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公會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壽險、產險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34DDEB3-B0FB-39DE-392B-420BB26E1C4A}"/>
                </a:ext>
              </a:extLst>
            </p:cNvPr>
            <p:cNvSpPr/>
            <p:nvPr/>
          </p:nvSpPr>
          <p:spPr>
            <a:xfrm>
              <a:off x="6124573" y="3389401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市佔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本土、外商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5ACB0D3-DC1B-2617-11ED-3FBE91DC69E3}"/>
              </a:ext>
            </a:extLst>
          </p:cNvPr>
          <p:cNvGrpSpPr/>
          <p:nvPr/>
        </p:nvGrpSpPr>
        <p:grpSpPr>
          <a:xfrm>
            <a:off x="1437961" y="4363737"/>
            <a:ext cx="9316073" cy="1232965"/>
            <a:chOff x="1437963" y="3663298"/>
            <a:chExt cx="9316073" cy="12329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707B213-3685-1007-F82A-B6E6BAE4C74E}"/>
                </a:ext>
              </a:extLst>
            </p:cNvPr>
            <p:cNvSpPr/>
            <p:nvPr/>
          </p:nvSpPr>
          <p:spPr>
            <a:xfrm>
              <a:off x="1437964" y="3663298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公司層級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74007CD-1F09-A828-DC1B-F6AFFF38FC8F}"/>
                </a:ext>
              </a:extLst>
            </p:cNvPr>
            <p:cNvSpPr/>
            <p:nvPr/>
          </p:nvSpPr>
          <p:spPr>
            <a:xfrm>
              <a:off x="1437963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業務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通路、產品、核保、理賠、服務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B713997-BE1A-6330-8743-CB4EA2514403}"/>
                </a:ext>
              </a:extLst>
            </p:cNvPr>
            <p:cNvSpPr/>
            <p:nvPr/>
          </p:nvSpPr>
          <p:spPr>
            <a:xfrm>
              <a:off x="6124575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財務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三表、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TA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EPS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ROE)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5356715-928D-BB8A-5326-EFCA3DF66699}"/>
              </a:ext>
            </a:extLst>
          </p:cNvPr>
          <p:cNvSpPr/>
          <p:nvPr/>
        </p:nvSpPr>
        <p:spPr>
          <a:xfrm>
            <a:off x="1437959" y="2964952"/>
            <a:ext cx="9316073" cy="26317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17DE74F4-522A-739A-AD79-342DDDAAA5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5756F715-4222-3141-C2E9-D3406F8196CB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0BCBA76F-F5D7-0B96-31F9-E5C04BF68469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保險公司研究架構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94A00F46-C9C3-6F75-5219-C62655BB01B2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19F77DAF-3C28-C3AC-221A-81FEEA3D479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可分為國家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產業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公司三層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C3F851A-3638-D1DA-2047-89FE8F72A429}"/>
              </a:ext>
            </a:extLst>
          </p:cNvPr>
          <p:cNvGrpSpPr/>
          <p:nvPr/>
        </p:nvGrpSpPr>
        <p:grpSpPr>
          <a:xfrm>
            <a:off x="1437961" y="1566168"/>
            <a:ext cx="9316072" cy="1232965"/>
            <a:chOff x="1437964" y="4396310"/>
            <a:chExt cx="9316072" cy="1232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1E62038-A9A1-4219-73B2-76C51947477A}"/>
                </a:ext>
              </a:extLst>
            </p:cNvPr>
            <p:cNvSpPr/>
            <p:nvPr/>
          </p:nvSpPr>
          <p:spPr>
            <a:xfrm>
              <a:off x="1437964" y="4396310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國家層級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C742984-F3B5-9B0B-DE98-66DDA8BFAD4D}"/>
                </a:ext>
              </a:extLst>
            </p:cNvPr>
            <p:cNvSpPr/>
            <p:nvPr/>
          </p:nvSpPr>
          <p:spPr>
            <a:xfrm>
              <a:off x="1437964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保險滲透率 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x 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密度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FD3F054-91E3-66AA-90B3-8723CBFBC32F}"/>
                </a:ext>
              </a:extLst>
            </p:cNvPr>
            <p:cNvSpPr/>
            <p:nvPr/>
          </p:nvSpPr>
          <p:spPr>
            <a:xfrm>
              <a:off x="4563677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公保、社保制度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241DC8E-6DB3-F7CD-7AB3-2F5C1BADAA72}"/>
                </a:ext>
              </a:extLst>
            </p:cNvPr>
            <p:cNvSpPr/>
            <p:nvPr/>
          </p:nvSpPr>
          <p:spPr>
            <a:xfrm>
              <a:off x="7689389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秩序、創新監理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41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C3FA-EE43-A384-B4CD-DEAE777C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7CCBF1BF-48FC-CB10-F407-08BB31F886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9B3D1AD7-FA95-8538-00D0-EE11DE72787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5F2825F7-BD87-36F2-FD04-F9639BAEAB71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各國保險滲透率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(Penetration)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排名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A8B930B5-725A-F1E2-F744-1CD74FB95009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6E56616D-34A4-A290-4000-297D7FF7A74C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以保費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/GDP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計算</a:t>
            </a:r>
            <a:r>
              <a:rPr lang="zh-TW" altLang="en-US" sz="12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用以衡量保險業在整個經濟中的比重</a:t>
            </a:r>
          </a:p>
        </p:txBody>
      </p:sp>
      <p:graphicFrame>
        <p:nvGraphicFramePr>
          <p:cNvPr id="31" name="圖表 30">
            <a:extLst>
              <a:ext uri="{FF2B5EF4-FFF2-40B4-BE49-F238E27FC236}">
                <a16:creationId xmlns:a16="http://schemas.microsoft.com/office/drawing/2014/main" id="{992B7BE9-85E7-088A-46D4-E99030A9AF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1009500"/>
              </p:ext>
            </p:extLst>
          </p:nvPr>
        </p:nvGraphicFramePr>
        <p:xfrm>
          <a:off x="6286498" y="1656848"/>
          <a:ext cx="5162551" cy="483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D890C435-83C6-6F21-035A-B2C47BD430C6}"/>
              </a:ext>
            </a:extLst>
          </p:cNvPr>
          <p:cNvSpPr/>
          <p:nvPr/>
        </p:nvSpPr>
        <p:spPr>
          <a:xfrm>
            <a:off x="6286499" y="1331913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保險滲透率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42E16-6526-4B2A-9101-9EE8555B9F43}"/>
              </a:ext>
            </a:extLst>
          </p:cNvPr>
          <p:cNvSpPr/>
          <p:nvPr/>
        </p:nvSpPr>
        <p:spPr>
          <a:xfrm>
            <a:off x="742948" y="1331913"/>
            <a:ext cx="2776629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區域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BCA03B-BC09-3BD1-53A8-C86294DD1DC1}"/>
              </a:ext>
            </a:extLst>
          </p:cNvPr>
          <p:cNvSpPr/>
          <p:nvPr/>
        </p:nvSpPr>
        <p:spPr>
          <a:xfrm>
            <a:off x="742948" y="17327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DF90D0F-3A1F-5CA8-3A4F-974073F6B67E}"/>
              </a:ext>
            </a:extLst>
          </p:cNvPr>
          <p:cNvSpPr/>
          <p:nvPr/>
        </p:nvSpPr>
        <p:spPr>
          <a:xfrm>
            <a:off x="742948" y="6171114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F4D434-9BD4-0ED4-7E80-C9C18E1CE5A5}"/>
              </a:ext>
            </a:extLst>
          </p:cNvPr>
          <p:cNvSpPr/>
          <p:nvPr/>
        </p:nvSpPr>
        <p:spPr>
          <a:xfrm>
            <a:off x="742948" y="21026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 and Canada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BD7C38D-5F07-98C9-DC1D-C31FC9111B95}"/>
              </a:ext>
            </a:extLst>
          </p:cNvPr>
          <p:cNvSpPr/>
          <p:nvPr/>
        </p:nvSpPr>
        <p:spPr>
          <a:xfrm>
            <a:off x="742948" y="247251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Emerging EMEA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3E53ADC-8664-84B2-09E3-70DDE3DAD065}"/>
              </a:ext>
            </a:extLst>
          </p:cNvPr>
          <p:cNvSpPr/>
          <p:nvPr/>
        </p:nvSpPr>
        <p:spPr>
          <a:xfrm>
            <a:off x="742948" y="284237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E5EBE6D-4FB7-44ED-D8CF-C3C52504D348}"/>
              </a:ext>
            </a:extLst>
          </p:cNvPr>
          <p:cNvSpPr/>
          <p:nvPr/>
        </p:nvSpPr>
        <p:spPr>
          <a:xfrm>
            <a:off x="742948" y="321223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5EA126A-F3AE-47D2-9436-416572961454}"/>
              </a:ext>
            </a:extLst>
          </p:cNvPr>
          <p:cNvSpPr/>
          <p:nvPr/>
        </p:nvSpPr>
        <p:spPr>
          <a:xfrm>
            <a:off x="742948" y="35820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8323DC9-5086-8622-975D-E8B0FB6ABE4F}"/>
              </a:ext>
            </a:extLst>
          </p:cNvPr>
          <p:cNvSpPr/>
          <p:nvPr/>
        </p:nvSpPr>
        <p:spPr>
          <a:xfrm>
            <a:off x="742948" y="39519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7D9FFB2-4825-F8E9-904A-182130518BEA}"/>
              </a:ext>
            </a:extLst>
          </p:cNvPr>
          <p:cNvSpPr/>
          <p:nvPr/>
        </p:nvSpPr>
        <p:spPr>
          <a:xfrm>
            <a:off x="742948" y="432181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648EA22-39CA-BD99-9EA9-ACC514281CF0}"/>
              </a:ext>
            </a:extLst>
          </p:cNvPr>
          <p:cNvSpPr/>
          <p:nvPr/>
        </p:nvSpPr>
        <p:spPr>
          <a:xfrm>
            <a:off x="742948" y="506153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Emerging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C1EDCB-EBB3-1A2C-1022-4D1B8965FF2D}"/>
              </a:ext>
            </a:extLst>
          </p:cNvPr>
          <p:cNvSpPr/>
          <p:nvPr/>
        </p:nvSpPr>
        <p:spPr>
          <a:xfrm>
            <a:off x="742948" y="54313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2B5C980-F3F5-2B99-87A1-339180365472}"/>
              </a:ext>
            </a:extLst>
          </p:cNvPr>
          <p:cNvSpPr/>
          <p:nvPr/>
        </p:nvSpPr>
        <p:spPr>
          <a:xfrm>
            <a:off x="742948" y="58012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E860E3F-8E51-9E3A-EDA2-E59A6D83E372}"/>
              </a:ext>
            </a:extLst>
          </p:cNvPr>
          <p:cNvSpPr/>
          <p:nvPr/>
        </p:nvSpPr>
        <p:spPr>
          <a:xfrm>
            <a:off x="742948" y="469167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7A1C92C-AC43-CF44-ECBB-FD6B05909F49}"/>
              </a:ext>
            </a:extLst>
          </p:cNvPr>
          <p:cNvSpPr/>
          <p:nvPr/>
        </p:nvSpPr>
        <p:spPr>
          <a:xfrm>
            <a:off x="3605843" y="1331913"/>
            <a:ext cx="1442407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國家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800146C-B3E0-6B66-2DAB-8BB14DCD0AFF}"/>
              </a:ext>
            </a:extLst>
          </p:cNvPr>
          <p:cNvSpPr/>
          <p:nvPr/>
        </p:nvSpPr>
        <p:spPr>
          <a:xfrm>
            <a:off x="3605842" y="17327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香港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3DC239E-754B-B6AE-90D5-509D4C392654}"/>
              </a:ext>
            </a:extLst>
          </p:cNvPr>
          <p:cNvSpPr/>
          <p:nvPr/>
        </p:nvSpPr>
        <p:spPr>
          <a:xfrm>
            <a:off x="3605842" y="6171114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新加坡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169285F-1E79-7597-A766-1AD8AFFCD9F5}"/>
              </a:ext>
            </a:extLst>
          </p:cNvPr>
          <p:cNvSpPr/>
          <p:nvPr/>
        </p:nvSpPr>
        <p:spPr>
          <a:xfrm>
            <a:off x="3605842" y="21026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8768587-FCE3-92C3-6DA4-EDD303D8DC8F}"/>
              </a:ext>
            </a:extLst>
          </p:cNvPr>
          <p:cNvSpPr/>
          <p:nvPr/>
        </p:nvSpPr>
        <p:spPr>
          <a:xfrm>
            <a:off x="3605842" y="247251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南非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6589F93-8024-7068-25CE-589916D6C7CE}"/>
              </a:ext>
            </a:extLst>
          </p:cNvPr>
          <p:cNvSpPr/>
          <p:nvPr/>
        </p:nvSpPr>
        <p:spPr>
          <a:xfrm>
            <a:off x="3605842" y="284237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英國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7480171-CE65-561E-FD5B-67E421FAB1A9}"/>
              </a:ext>
            </a:extLst>
          </p:cNvPr>
          <p:cNvSpPr/>
          <p:nvPr/>
        </p:nvSpPr>
        <p:spPr>
          <a:xfrm>
            <a:off x="3605842" y="321223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丹麥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6303F5-E1F4-54FB-B916-CF22CB2EE70E}"/>
              </a:ext>
            </a:extLst>
          </p:cNvPr>
          <p:cNvSpPr/>
          <p:nvPr/>
        </p:nvSpPr>
        <p:spPr>
          <a:xfrm>
            <a:off x="3605842" y="35820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芬蘭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CD3BC7F-84A1-65C1-B099-A71526BF3136}"/>
              </a:ext>
            </a:extLst>
          </p:cNvPr>
          <p:cNvSpPr/>
          <p:nvPr/>
        </p:nvSpPr>
        <p:spPr>
          <a:xfrm>
            <a:off x="3605842" y="39519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臺灣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8D59A18-D48C-6E2D-CE51-B4D2099612B3}"/>
              </a:ext>
            </a:extLst>
          </p:cNvPr>
          <p:cNvSpPr/>
          <p:nvPr/>
        </p:nvSpPr>
        <p:spPr>
          <a:xfrm>
            <a:off x="3605842" y="432181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法國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C24E2C6-2455-B75B-7BFF-7A5FDDF65E10}"/>
              </a:ext>
            </a:extLst>
          </p:cNvPr>
          <p:cNvSpPr/>
          <p:nvPr/>
        </p:nvSpPr>
        <p:spPr>
          <a:xfrm>
            <a:off x="3605842" y="469167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南韓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00F49EA-2379-2B55-E53E-D6BF076DECF8}"/>
              </a:ext>
            </a:extLst>
          </p:cNvPr>
          <p:cNvSpPr/>
          <p:nvPr/>
        </p:nvSpPr>
        <p:spPr>
          <a:xfrm>
            <a:off x="3605842" y="506153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納米比亞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5758F84-41D3-FE02-2E88-ACCFD0BF4578}"/>
              </a:ext>
            </a:extLst>
          </p:cNvPr>
          <p:cNvSpPr/>
          <p:nvPr/>
        </p:nvSpPr>
        <p:spPr>
          <a:xfrm>
            <a:off x="3605842" y="54313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瑞典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FB1E0E1-C38A-3C73-7DF3-3E7E278D8AD3}"/>
              </a:ext>
            </a:extLst>
          </p:cNvPr>
          <p:cNvSpPr/>
          <p:nvPr/>
        </p:nvSpPr>
        <p:spPr>
          <a:xfrm>
            <a:off x="3605842" y="58012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F678C9-6B22-DBE5-2E1D-56C7DAF61A51}"/>
              </a:ext>
            </a:extLst>
          </p:cNvPr>
          <p:cNvSpPr/>
          <p:nvPr/>
        </p:nvSpPr>
        <p:spPr>
          <a:xfrm>
            <a:off x="5134516" y="1331913"/>
            <a:ext cx="1067876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06AED3-C551-4D73-292C-E1FA0D24D114}"/>
              </a:ext>
            </a:extLst>
          </p:cNvPr>
          <p:cNvSpPr/>
          <p:nvPr/>
        </p:nvSpPr>
        <p:spPr>
          <a:xfrm>
            <a:off x="5132355" y="17327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29191E-C280-A290-6F0B-A78D02815C76}"/>
              </a:ext>
            </a:extLst>
          </p:cNvPr>
          <p:cNvSpPr/>
          <p:nvPr/>
        </p:nvSpPr>
        <p:spPr>
          <a:xfrm>
            <a:off x="5132355" y="6171114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E8C978-7031-0006-8DE4-1955971F09AC}"/>
              </a:ext>
            </a:extLst>
          </p:cNvPr>
          <p:cNvSpPr/>
          <p:nvPr/>
        </p:nvSpPr>
        <p:spPr>
          <a:xfrm>
            <a:off x="5132355" y="21026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FF824C-3DFB-0673-2893-37624A20683E}"/>
              </a:ext>
            </a:extLst>
          </p:cNvPr>
          <p:cNvSpPr/>
          <p:nvPr/>
        </p:nvSpPr>
        <p:spPr>
          <a:xfrm>
            <a:off x="5132355" y="247251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FDF1D1-AAF9-0238-991C-CB30EA93CC3C}"/>
              </a:ext>
            </a:extLst>
          </p:cNvPr>
          <p:cNvSpPr/>
          <p:nvPr/>
        </p:nvSpPr>
        <p:spPr>
          <a:xfrm>
            <a:off x="5132355" y="284237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40F113-3D60-18F7-3B31-41C58B09DE18}"/>
              </a:ext>
            </a:extLst>
          </p:cNvPr>
          <p:cNvSpPr/>
          <p:nvPr/>
        </p:nvSpPr>
        <p:spPr>
          <a:xfrm>
            <a:off x="5132355" y="321223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FDD270-5D1E-5DD9-CAA3-E486E729E565}"/>
              </a:ext>
            </a:extLst>
          </p:cNvPr>
          <p:cNvSpPr/>
          <p:nvPr/>
        </p:nvSpPr>
        <p:spPr>
          <a:xfrm>
            <a:off x="5132355" y="35820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91143A-8F3D-C70E-D163-8D15BF9A81E1}"/>
              </a:ext>
            </a:extLst>
          </p:cNvPr>
          <p:cNvSpPr/>
          <p:nvPr/>
        </p:nvSpPr>
        <p:spPr>
          <a:xfrm>
            <a:off x="5132355" y="39519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72B261-5385-712C-27EC-E3A92106FF51}"/>
              </a:ext>
            </a:extLst>
          </p:cNvPr>
          <p:cNvSpPr/>
          <p:nvPr/>
        </p:nvSpPr>
        <p:spPr>
          <a:xfrm>
            <a:off x="5132355" y="432181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BB21BC-97F4-4458-3E08-4AC7FD42BB83}"/>
              </a:ext>
            </a:extLst>
          </p:cNvPr>
          <p:cNvSpPr/>
          <p:nvPr/>
        </p:nvSpPr>
        <p:spPr>
          <a:xfrm>
            <a:off x="5132355" y="469167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1B2679-D8CA-FB7F-B21F-E47D7160A1C5}"/>
              </a:ext>
            </a:extLst>
          </p:cNvPr>
          <p:cNvSpPr/>
          <p:nvPr/>
        </p:nvSpPr>
        <p:spPr>
          <a:xfrm>
            <a:off x="5132355" y="506153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206D08-E0F0-4792-7055-890E4E0D78E1}"/>
              </a:ext>
            </a:extLst>
          </p:cNvPr>
          <p:cNvSpPr/>
          <p:nvPr/>
        </p:nvSpPr>
        <p:spPr>
          <a:xfrm>
            <a:off x="5132355" y="54313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E50409-A91B-ABB4-66C8-031480D84617}"/>
              </a:ext>
            </a:extLst>
          </p:cNvPr>
          <p:cNvSpPr/>
          <p:nvPr/>
        </p:nvSpPr>
        <p:spPr>
          <a:xfrm>
            <a:off x="5132355" y="58012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228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1185-554F-7434-5428-950E1C2A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3E3CB09B-C367-737F-438C-F830D6D2A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A4C06D4E-172F-6584-230B-D66A7337334B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5D96683E-F197-1F86-4E4B-C6862C6E64D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各國保險密度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(Density)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排名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1428B841-B55A-61C5-64F8-74BDADEC0D3F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07E25582-D9A6-30B1-B168-9B5F68CFD6C7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以保費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人口計算，即平均每人花多少買保險</a:t>
            </a:r>
          </a:p>
        </p:txBody>
      </p:sp>
      <p:graphicFrame>
        <p:nvGraphicFramePr>
          <p:cNvPr id="31" name="圖表 30">
            <a:extLst>
              <a:ext uri="{FF2B5EF4-FFF2-40B4-BE49-F238E27FC236}">
                <a16:creationId xmlns:a16="http://schemas.microsoft.com/office/drawing/2014/main" id="{E6C3C22E-8EE9-BA9D-EF03-0A1B19D5CF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8656791"/>
              </p:ext>
            </p:extLst>
          </p:nvPr>
        </p:nvGraphicFramePr>
        <p:xfrm>
          <a:off x="6286498" y="1656848"/>
          <a:ext cx="5162551" cy="483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9A72EA6F-D399-DAA2-85DD-B97FFF5FFCB2}"/>
              </a:ext>
            </a:extLst>
          </p:cNvPr>
          <p:cNvSpPr/>
          <p:nvPr/>
        </p:nvSpPr>
        <p:spPr>
          <a:xfrm>
            <a:off x="6286499" y="1331913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保險密度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($)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2F35A99-967F-CFFB-61C0-0EC306A4A6BE}"/>
              </a:ext>
            </a:extLst>
          </p:cNvPr>
          <p:cNvSpPr/>
          <p:nvPr/>
        </p:nvSpPr>
        <p:spPr>
          <a:xfrm>
            <a:off x="742948" y="1331913"/>
            <a:ext cx="2776629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區域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A22B457-3404-27DD-E375-726F1147AF80}"/>
              </a:ext>
            </a:extLst>
          </p:cNvPr>
          <p:cNvSpPr/>
          <p:nvPr/>
        </p:nvSpPr>
        <p:spPr>
          <a:xfrm>
            <a:off x="742948" y="17327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 and Canada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F67E3B6-ED4D-DC83-3E8D-F051D32FE9ED}"/>
              </a:ext>
            </a:extLst>
          </p:cNvPr>
          <p:cNvSpPr/>
          <p:nvPr/>
        </p:nvSpPr>
        <p:spPr>
          <a:xfrm>
            <a:off x="742948" y="6171114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DF9617-D029-2622-9453-AB852EE8F020}"/>
              </a:ext>
            </a:extLst>
          </p:cNvPr>
          <p:cNvSpPr/>
          <p:nvPr/>
        </p:nvSpPr>
        <p:spPr>
          <a:xfrm>
            <a:off x="742948" y="21026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C5AA9EF-CB6C-389F-24B8-7686A301D77D}"/>
              </a:ext>
            </a:extLst>
          </p:cNvPr>
          <p:cNvSpPr/>
          <p:nvPr/>
        </p:nvSpPr>
        <p:spPr>
          <a:xfrm>
            <a:off x="742948" y="247251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E66EC92-ED40-AC25-C70D-9CA17FA0F203}"/>
              </a:ext>
            </a:extLst>
          </p:cNvPr>
          <p:cNvSpPr/>
          <p:nvPr/>
        </p:nvSpPr>
        <p:spPr>
          <a:xfrm>
            <a:off x="742948" y="284237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EEA9EB1-3C89-AEDF-150D-25B170149E30}"/>
              </a:ext>
            </a:extLst>
          </p:cNvPr>
          <p:cNvSpPr/>
          <p:nvPr/>
        </p:nvSpPr>
        <p:spPr>
          <a:xfrm>
            <a:off x="742948" y="321223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651AC1-1B02-0C77-5369-F7F8FDD6B5BB}"/>
              </a:ext>
            </a:extLst>
          </p:cNvPr>
          <p:cNvSpPr/>
          <p:nvPr/>
        </p:nvSpPr>
        <p:spPr>
          <a:xfrm>
            <a:off x="742948" y="35820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8C7A1EF-B23B-29F6-76FD-7DA0A0ABE9E4}"/>
              </a:ext>
            </a:extLst>
          </p:cNvPr>
          <p:cNvSpPr/>
          <p:nvPr/>
        </p:nvSpPr>
        <p:spPr>
          <a:xfrm>
            <a:off x="742948" y="39519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BF06A7A-4E24-C323-0427-288828886228}"/>
              </a:ext>
            </a:extLst>
          </p:cNvPr>
          <p:cNvSpPr/>
          <p:nvPr/>
        </p:nvSpPr>
        <p:spPr>
          <a:xfrm>
            <a:off x="742948" y="432181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7B16D7E-1D3D-6D0C-7537-DF9DABA9E5AA}"/>
              </a:ext>
            </a:extLst>
          </p:cNvPr>
          <p:cNvSpPr/>
          <p:nvPr/>
        </p:nvSpPr>
        <p:spPr>
          <a:xfrm>
            <a:off x="742948" y="506153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5F6E0CE-DD8C-ED8D-BC14-24D9762AE7A6}"/>
              </a:ext>
            </a:extLst>
          </p:cNvPr>
          <p:cNvSpPr/>
          <p:nvPr/>
        </p:nvSpPr>
        <p:spPr>
          <a:xfrm>
            <a:off x="742948" y="543139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A99AD15-B6B5-01E1-9AEC-BD7F7FFC1EC6}"/>
              </a:ext>
            </a:extLst>
          </p:cNvPr>
          <p:cNvSpPr/>
          <p:nvPr/>
        </p:nvSpPr>
        <p:spPr>
          <a:xfrm>
            <a:off x="742948" y="580125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Asia-Pacific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6136EFB-0052-2073-34FB-96C0047AE080}"/>
              </a:ext>
            </a:extLst>
          </p:cNvPr>
          <p:cNvSpPr/>
          <p:nvPr/>
        </p:nvSpPr>
        <p:spPr>
          <a:xfrm>
            <a:off x="742948" y="4691675"/>
            <a:ext cx="277662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EMEA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9F8C0D-0200-4B39-B7C4-24079604BE9B}"/>
              </a:ext>
            </a:extLst>
          </p:cNvPr>
          <p:cNvSpPr/>
          <p:nvPr/>
        </p:nvSpPr>
        <p:spPr>
          <a:xfrm>
            <a:off x="3605843" y="1331913"/>
            <a:ext cx="1442407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國家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95598C2-61BE-186C-EE47-EF85B6663DC1}"/>
              </a:ext>
            </a:extLst>
          </p:cNvPr>
          <p:cNvSpPr/>
          <p:nvPr/>
        </p:nvSpPr>
        <p:spPr>
          <a:xfrm>
            <a:off x="3605842" y="17327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BA82787-1653-1C89-4F63-A4BCD5A5CB45}"/>
              </a:ext>
            </a:extLst>
          </p:cNvPr>
          <p:cNvSpPr/>
          <p:nvPr/>
        </p:nvSpPr>
        <p:spPr>
          <a:xfrm>
            <a:off x="3605842" y="6171114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EB6C7CB-AD22-2852-2218-3C425E3E8B90}"/>
              </a:ext>
            </a:extLst>
          </p:cNvPr>
          <p:cNvSpPr/>
          <p:nvPr/>
        </p:nvSpPr>
        <p:spPr>
          <a:xfrm>
            <a:off x="3605842" y="21026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香港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A299B72-ECAE-9017-E38E-A43BF660825A}"/>
              </a:ext>
            </a:extLst>
          </p:cNvPr>
          <p:cNvSpPr/>
          <p:nvPr/>
        </p:nvSpPr>
        <p:spPr>
          <a:xfrm>
            <a:off x="3605842" y="247251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丹麥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9578408-2D86-682E-9106-62F39573D4C0}"/>
              </a:ext>
            </a:extLst>
          </p:cNvPr>
          <p:cNvSpPr/>
          <p:nvPr/>
        </p:nvSpPr>
        <p:spPr>
          <a:xfrm>
            <a:off x="3605842" y="284237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新加坡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80A7513-AE69-B3C5-12B9-C576FF0B318F}"/>
              </a:ext>
            </a:extLst>
          </p:cNvPr>
          <p:cNvSpPr/>
          <p:nvPr/>
        </p:nvSpPr>
        <p:spPr>
          <a:xfrm>
            <a:off x="3605842" y="321223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瑞士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D639F16-8B11-C85E-61E2-9B9857E021A4}"/>
              </a:ext>
            </a:extLst>
          </p:cNvPr>
          <p:cNvSpPr/>
          <p:nvPr/>
        </p:nvSpPr>
        <p:spPr>
          <a:xfrm>
            <a:off x="3605842" y="35820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愛爾蘭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46D7266-7640-85A1-1FBB-C118B96F21B3}"/>
              </a:ext>
            </a:extLst>
          </p:cNvPr>
          <p:cNvSpPr/>
          <p:nvPr/>
        </p:nvSpPr>
        <p:spPr>
          <a:xfrm>
            <a:off x="3605842" y="39519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英國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B9F5251-7A4E-03D1-3CA6-D37E4B654A89}"/>
              </a:ext>
            </a:extLst>
          </p:cNvPr>
          <p:cNvSpPr/>
          <p:nvPr/>
        </p:nvSpPr>
        <p:spPr>
          <a:xfrm>
            <a:off x="3605842" y="432181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芬蘭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E724A84-383A-D029-A657-DB3F87D05946}"/>
              </a:ext>
            </a:extLst>
          </p:cNvPr>
          <p:cNvSpPr/>
          <p:nvPr/>
        </p:nvSpPr>
        <p:spPr>
          <a:xfrm>
            <a:off x="3605842" y="469167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荷蘭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E440522-795B-2EF6-5405-EB3E49AEDA88}"/>
              </a:ext>
            </a:extLst>
          </p:cNvPr>
          <p:cNvSpPr/>
          <p:nvPr/>
        </p:nvSpPr>
        <p:spPr>
          <a:xfrm>
            <a:off x="3605842" y="506153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盧森堡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8C432A7-5F8E-FAEE-CE6E-BF1C1EB520C7}"/>
              </a:ext>
            </a:extLst>
          </p:cNvPr>
          <p:cNvSpPr/>
          <p:nvPr/>
        </p:nvSpPr>
        <p:spPr>
          <a:xfrm>
            <a:off x="3605842" y="543139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瑞典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4FC286E-EDD1-1942-AB09-C4CFFE74176C}"/>
              </a:ext>
            </a:extLst>
          </p:cNvPr>
          <p:cNvSpPr/>
          <p:nvPr/>
        </p:nvSpPr>
        <p:spPr>
          <a:xfrm>
            <a:off x="3605842" y="5801255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臺灣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27909A-9DC8-2C87-E371-8CA1E9F8120D}"/>
              </a:ext>
            </a:extLst>
          </p:cNvPr>
          <p:cNvSpPr/>
          <p:nvPr/>
        </p:nvSpPr>
        <p:spPr>
          <a:xfrm>
            <a:off x="5134516" y="1331913"/>
            <a:ext cx="1067876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F82248-6C8A-95AD-5F34-8A4878C3BFCE}"/>
              </a:ext>
            </a:extLst>
          </p:cNvPr>
          <p:cNvSpPr/>
          <p:nvPr/>
        </p:nvSpPr>
        <p:spPr>
          <a:xfrm>
            <a:off x="5132355" y="17327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6609F0-5E63-2A03-306D-A6C71174B961}"/>
              </a:ext>
            </a:extLst>
          </p:cNvPr>
          <p:cNvSpPr/>
          <p:nvPr/>
        </p:nvSpPr>
        <p:spPr>
          <a:xfrm>
            <a:off x="5132355" y="6171114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4EC46F-61DD-EF1D-63E7-05BFE318B74D}"/>
              </a:ext>
            </a:extLst>
          </p:cNvPr>
          <p:cNvSpPr/>
          <p:nvPr/>
        </p:nvSpPr>
        <p:spPr>
          <a:xfrm>
            <a:off x="5132355" y="21026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D925FF-A3D2-595F-A5DC-B1AB175EE7CB}"/>
              </a:ext>
            </a:extLst>
          </p:cNvPr>
          <p:cNvSpPr/>
          <p:nvPr/>
        </p:nvSpPr>
        <p:spPr>
          <a:xfrm>
            <a:off x="5132355" y="247251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BD83AD-6C48-D799-7E30-EF01BC30159B}"/>
              </a:ext>
            </a:extLst>
          </p:cNvPr>
          <p:cNvSpPr/>
          <p:nvPr/>
        </p:nvSpPr>
        <p:spPr>
          <a:xfrm>
            <a:off x="5132355" y="284237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447EB2-D168-63B0-0B0F-E11DEEE636B7}"/>
              </a:ext>
            </a:extLst>
          </p:cNvPr>
          <p:cNvSpPr/>
          <p:nvPr/>
        </p:nvSpPr>
        <p:spPr>
          <a:xfrm>
            <a:off x="5132355" y="321223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2938FB-DF39-3D29-6665-647FC308D06F}"/>
              </a:ext>
            </a:extLst>
          </p:cNvPr>
          <p:cNvSpPr/>
          <p:nvPr/>
        </p:nvSpPr>
        <p:spPr>
          <a:xfrm>
            <a:off x="5132355" y="35820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506387-D05D-662C-A979-AF913C6E6BE9}"/>
              </a:ext>
            </a:extLst>
          </p:cNvPr>
          <p:cNvSpPr/>
          <p:nvPr/>
        </p:nvSpPr>
        <p:spPr>
          <a:xfrm>
            <a:off x="5132355" y="39519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CEE6FE-E3A7-07EC-E3EA-327EE953C13F}"/>
              </a:ext>
            </a:extLst>
          </p:cNvPr>
          <p:cNvSpPr/>
          <p:nvPr/>
        </p:nvSpPr>
        <p:spPr>
          <a:xfrm>
            <a:off x="5132355" y="432181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2DB6FE-CD4A-AB69-715A-9F7DEC6692FB}"/>
              </a:ext>
            </a:extLst>
          </p:cNvPr>
          <p:cNvSpPr/>
          <p:nvPr/>
        </p:nvSpPr>
        <p:spPr>
          <a:xfrm>
            <a:off x="5132355" y="469167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E1685F-E70D-8696-6C92-6F4245B49626}"/>
              </a:ext>
            </a:extLst>
          </p:cNvPr>
          <p:cNvSpPr/>
          <p:nvPr/>
        </p:nvSpPr>
        <p:spPr>
          <a:xfrm>
            <a:off x="5132355" y="506153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49FF77-66D4-C71C-D62E-3BC411D2118F}"/>
              </a:ext>
            </a:extLst>
          </p:cNvPr>
          <p:cNvSpPr/>
          <p:nvPr/>
        </p:nvSpPr>
        <p:spPr>
          <a:xfrm>
            <a:off x="5132355" y="543139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7C43CC-308C-C9B3-BAAC-2E28513355D7}"/>
              </a:ext>
            </a:extLst>
          </p:cNvPr>
          <p:cNvSpPr/>
          <p:nvPr/>
        </p:nvSpPr>
        <p:spPr>
          <a:xfrm>
            <a:off x="5132355" y="5801255"/>
            <a:ext cx="1070036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508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A667-F543-226F-FD5C-CF346CC4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E0309E74-C011-5E7F-1A52-DB7E803F30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24A11543-BDEC-3248-DDFD-09643A60312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B4E0CCE3-8496-6CEA-2E8F-68F7C8CD0155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保險滲透率</a:t>
            </a:r>
            <a:r>
              <a:rPr lang="zh-TW" altLang="en-US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vs.</a:t>
            </a:r>
            <a:r>
              <a:rPr lang="en-US" altLang="zh-TW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密度矩陣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8F0D7EF3-4409-FBA2-6D0C-6D0ED83B3B60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64EBE94C-1AC3-028A-EE98-694E69118B93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觀察各國保險市場競爭與人民風險意識</a:t>
            </a: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9CAA15A-ED41-0583-F1A3-0A4979536740}"/>
              </a:ext>
            </a:extLst>
          </p:cNvPr>
          <p:cNvGrpSpPr/>
          <p:nvPr/>
        </p:nvGrpSpPr>
        <p:grpSpPr>
          <a:xfrm>
            <a:off x="2031998" y="1331913"/>
            <a:ext cx="8128000" cy="4806421"/>
            <a:chOff x="2032000" y="1331913"/>
            <a:chExt cx="8128000" cy="4806421"/>
          </a:xfrm>
        </p:grpSpPr>
        <p:graphicFrame>
          <p:nvGraphicFramePr>
            <p:cNvPr id="23" name="圖表 22">
              <a:extLst>
                <a:ext uri="{FF2B5EF4-FFF2-40B4-BE49-F238E27FC236}">
                  <a16:creationId xmlns:a16="http://schemas.microsoft.com/office/drawing/2014/main" id="{F3E60DC1-A6CC-02F7-2C18-1F962A83654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34026365"/>
                </p:ext>
              </p:extLst>
            </p:nvPr>
          </p:nvGraphicFramePr>
          <p:xfrm>
            <a:off x="2032000" y="1331913"/>
            <a:ext cx="8128000" cy="48064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A630F7-BFD1-5857-FF98-575E11477E6F}"/>
                </a:ext>
              </a:extLst>
            </p:cNvPr>
            <p:cNvSpPr/>
            <p:nvPr/>
          </p:nvSpPr>
          <p:spPr>
            <a:xfrm>
              <a:off x="2032000" y="5624514"/>
              <a:ext cx="225425" cy="513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A8818A3-C27A-126A-BDDC-18D4C996FFC7}"/>
                </a:ext>
              </a:extLst>
            </p:cNvPr>
            <p:cNvSpPr/>
            <p:nvPr/>
          </p:nvSpPr>
          <p:spPr>
            <a:xfrm>
              <a:off x="2032000" y="5910262"/>
              <a:ext cx="582613" cy="2280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9A0A235F-81A4-A658-FE90-641CB8A8F488}"/>
              </a:ext>
            </a:extLst>
          </p:cNvPr>
          <p:cNvSpPr/>
          <p:nvPr/>
        </p:nvSpPr>
        <p:spPr>
          <a:xfrm>
            <a:off x="7920397" y="2063898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香港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C941DC0-3531-1102-BD93-196AF481AB60}"/>
              </a:ext>
            </a:extLst>
          </p:cNvPr>
          <p:cNvSpPr/>
          <p:nvPr/>
        </p:nvSpPr>
        <p:spPr>
          <a:xfrm>
            <a:off x="8081425" y="3351642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27B9F1-D247-C013-0B88-CC2702913523}"/>
              </a:ext>
            </a:extLst>
          </p:cNvPr>
          <p:cNvSpPr/>
          <p:nvPr/>
        </p:nvSpPr>
        <p:spPr>
          <a:xfrm>
            <a:off x="6616106" y="3042483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丹麥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14A65A-9A92-3ACE-4A28-1DFD114281D9}"/>
              </a:ext>
            </a:extLst>
          </p:cNvPr>
          <p:cNvSpPr/>
          <p:nvPr/>
        </p:nvSpPr>
        <p:spPr>
          <a:xfrm>
            <a:off x="7117556" y="3867705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新加坡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C784CC-81BA-3A16-DEB2-548A9A226486}"/>
              </a:ext>
            </a:extLst>
          </p:cNvPr>
          <p:cNvSpPr/>
          <p:nvPr/>
        </p:nvSpPr>
        <p:spPr>
          <a:xfrm>
            <a:off x="3467100" y="3823839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0DCE98-7774-E977-C04F-ED7E75F7F04B}"/>
              </a:ext>
            </a:extLst>
          </p:cNvPr>
          <p:cNvSpPr/>
          <p:nvPr/>
        </p:nvSpPr>
        <p:spPr>
          <a:xfrm>
            <a:off x="4324053" y="3154402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臺灣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1CC6F3-5AE1-BA15-89AF-D77ACB6FCE92}"/>
              </a:ext>
            </a:extLst>
          </p:cNvPr>
          <p:cNvSpPr/>
          <p:nvPr/>
        </p:nvSpPr>
        <p:spPr>
          <a:xfrm>
            <a:off x="5905484" y="2879227"/>
            <a:ext cx="6562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9A554CA-1C4B-A775-B0D2-753CF57E346B}"/>
              </a:ext>
            </a:extLst>
          </p:cNvPr>
          <p:cNvSpPr/>
          <p:nvPr/>
        </p:nvSpPr>
        <p:spPr>
          <a:xfrm>
            <a:off x="5167294" y="5058913"/>
            <a:ext cx="85486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盧森堡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EFE097-0ED5-9DFD-9792-3A5DDF94BED7}"/>
              </a:ext>
            </a:extLst>
          </p:cNvPr>
          <p:cNvSpPr/>
          <p:nvPr/>
        </p:nvSpPr>
        <p:spPr>
          <a:xfrm>
            <a:off x="5889327" y="3903324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7AF5DD-1E28-618A-4473-3FC362414FA0}"/>
              </a:ext>
            </a:extLst>
          </p:cNvPr>
          <p:cNvSpPr/>
          <p:nvPr/>
        </p:nvSpPr>
        <p:spPr>
          <a:xfrm>
            <a:off x="2547115" y="2836936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南非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8616304-5616-481F-CA2D-FF7A4B9BCF79}"/>
              </a:ext>
            </a:extLst>
          </p:cNvPr>
          <p:cNvSpPr/>
          <p:nvPr/>
        </p:nvSpPr>
        <p:spPr>
          <a:xfrm>
            <a:off x="4141144" y="3823839"/>
            <a:ext cx="704553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南韓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448E276A-556E-2696-8C78-C934CA955802}"/>
              </a:ext>
            </a:extLst>
          </p:cNvPr>
          <p:cNvCxnSpPr>
            <a:cxnSpLocks/>
          </p:cNvCxnSpPr>
          <p:nvPr/>
        </p:nvCxnSpPr>
        <p:spPr>
          <a:xfrm>
            <a:off x="2386013" y="3836649"/>
            <a:ext cx="7469187" cy="0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95F1BC8A-A903-4045-D215-A24F9354EA56}"/>
              </a:ext>
            </a:extLst>
          </p:cNvPr>
          <p:cNvCxnSpPr>
            <a:cxnSpLocks/>
          </p:cNvCxnSpPr>
          <p:nvPr/>
        </p:nvCxnSpPr>
        <p:spPr>
          <a:xfrm flipV="1">
            <a:off x="5688312" y="1581150"/>
            <a:ext cx="0" cy="4198144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79D91E78-DDDB-EF75-1DB3-7811C437D8A8}"/>
              </a:ext>
            </a:extLst>
          </p:cNvPr>
          <p:cNvSpPr/>
          <p:nvPr/>
        </p:nvSpPr>
        <p:spPr>
          <a:xfrm>
            <a:off x="6366175" y="4442324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瑞士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B843468-CDFC-510E-9CBE-93DC8B25E51D}"/>
              </a:ext>
            </a:extLst>
          </p:cNvPr>
          <p:cNvSpPr/>
          <p:nvPr/>
        </p:nvSpPr>
        <p:spPr>
          <a:xfrm>
            <a:off x="5319313" y="6121327"/>
            <a:ext cx="1553370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($)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E41C356-1DFA-E96B-BCBA-47C673D22576}"/>
              </a:ext>
            </a:extLst>
          </p:cNvPr>
          <p:cNvSpPr/>
          <p:nvPr/>
        </p:nvSpPr>
        <p:spPr>
          <a:xfrm>
            <a:off x="1649765" y="3060531"/>
            <a:ext cx="330123" cy="1349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滲透率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33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5F29-065D-A28B-6DDB-380DFEF0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133D2FE-2B3F-5E4C-B943-D9524DAF651D}"/>
              </a:ext>
            </a:extLst>
          </p:cNvPr>
          <p:cNvSpPr/>
          <p:nvPr/>
        </p:nvSpPr>
        <p:spPr>
          <a:xfrm>
            <a:off x="2405066" y="1581150"/>
            <a:ext cx="3259928" cy="2224442"/>
          </a:xfrm>
          <a:prstGeom prst="rect">
            <a:avLst/>
          </a:prstGeom>
          <a:solidFill>
            <a:srgbClr val="D2F3E4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C7AD8F12-FB5D-1CDF-AFC3-D8B10D74DD03}"/>
              </a:ext>
            </a:extLst>
          </p:cNvPr>
          <p:cNvGrpSpPr/>
          <p:nvPr/>
        </p:nvGrpSpPr>
        <p:grpSpPr>
          <a:xfrm>
            <a:off x="2031998" y="1331913"/>
            <a:ext cx="8128000" cy="4806421"/>
            <a:chOff x="2032000" y="1331913"/>
            <a:chExt cx="8128000" cy="4806421"/>
          </a:xfrm>
        </p:grpSpPr>
        <p:graphicFrame>
          <p:nvGraphicFramePr>
            <p:cNvPr id="23" name="圖表 22">
              <a:extLst>
                <a:ext uri="{FF2B5EF4-FFF2-40B4-BE49-F238E27FC236}">
                  <a16:creationId xmlns:a16="http://schemas.microsoft.com/office/drawing/2014/main" id="{2311C0D0-0010-FBD9-2DAA-631BFB3F6F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69053192"/>
                </p:ext>
              </p:extLst>
            </p:nvPr>
          </p:nvGraphicFramePr>
          <p:xfrm>
            <a:off x="2032000" y="1331913"/>
            <a:ext cx="8128000" cy="48064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102890E-7329-1ACA-4DE0-9DAF119F17FE}"/>
                </a:ext>
              </a:extLst>
            </p:cNvPr>
            <p:cNvSpPr/>
            <p:nvPr/>
          </p:nvSpPr>
          <p:spPr>
            <a:xfrm>
              <a:off x="2032000" y="5624514"/>
              <a:ext cx="225425" cy="513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097D0AC-23BB-5D04-E7F7-40E3887CE33C}"/>
                </a:ext>
              </a:extLst>
            </p:cNvPr>
            <p:cNvSpPr/>
            <p:nvPr/>
          </p:nvSpPr>
          <p:spPr>
            <a:xfrm>
              <a:off x="2032000" y="5910262"/>
              <a:ext cx="582613" cy="2280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9A634DD8-7C57-6A87-8B7B-D9ED89BC91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126B3B2C-494E-2F03-A0E5-7FE780ABF487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98966040-FE85-256A-0A63-60449383D637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保險滲透率</a:t>
            </a:r>
            <a:r>
              <a:rPr lang="zh-TW" altLang="en-US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vs.</a:t>
            </a:r>
            <a:r>
              <a:rPr lang="en-US" altLang="zh-TW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密度矩陣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42780C37-C269-9359-AD80-A996E67F333A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212EEBB9-C580-3DBD-264A-5E78461903C4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觀察各國保險市場競爭與人民風險意識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196456-7E5B-0086-0417-51A64A38212E}"/>
              </a:ext>
            </a:extLst>
          </p:cNvPr>
          <p:cNvSpPr/>
          <p:nvPr/>
        </p:nvSpPr>
        <p:spPr>
          <a:xfrm>
            <a:off x="7920397" y="2063898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香港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589033-8345-1FCE-B741-1A1372B34B19}"/>
              </a:ext>
            </a:extLst>
          </p:cNvPr>
          <p:cNvSpPr/>
          <p:nvPr/>
        </p:nvSpPr>
        <p:spPr>
          <a:xfrm>
            <a:off x="8081425" y="3351642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67A41C-26E7-2415-C24F-903ADA7A46D2}"/>
              </a:ext>
            </a:extLst>
          </p:cNvPr>
          <p:cNvSpPr/>
          <p:nvPr/>
        </p:nvSpPr>
        <p:spPr>
          <a:xfrm>
            <a:off x="6616106" y="3042483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丹麥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634647F-6EF8-3ACD-D2C0-1385872BC293}"/>
              </a:ext>
            </a:extLst>
          </p:cNvPr>
          <p:cNvSpPr/>
          <p:nvPr/>
        </p:nvSpPr>
        <p:spPr>
          <a:xfrm>
            <a:off x="7117556" y="3867705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新加坡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BD4D1F-3DB5-45A7-896B-762C744B07C3}"/>
              </a:ext>
            </a:extLst>
          </p:cNvPr>
          <p:cNvSpPr/>
          <p:nvPr/>
        </p:nvSpPr>
        <p:spPr>
          <a:xfrm>
            <a:off x="3467100" y="3823839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33E381-2B41-4B41-2CCC-3F110051B9E5}"/>
              </a:ext>
            </a:extLst>
          </p:cNvPr>
          <p:cNvSpPr/>
          <p:nvPr/>
        </p:nvSpPr>
        <p:spPr>
          <a:xfrm>
            <a:off x="4324053" y="3154402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臺灣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270747-8EF7-E686-E1D6-790AFFD815E1}"/>
              </a:ext>
            </a:extLst>
          </p:cNvPr>
          <p:cNvSpPr/>
          <p:nvPr/>
        </p:nvSpPr>
        <p:spPr>
          <a:xfrm>
            <a:off x="5905484" y="2879227"/>
            <a:ext cx="6562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3B3340E-0309-19F8-F2BE-873DC199D2A1}"/>
              </a:ext>
            </a:extLst>
          </p:cNvPr>
          <p:cNvSpPr/>
          <p:nvPr/>
        </p:nvSpPr>
        <p:spPr>
          <a:xfrm>
            <a:off x="5167294" y="5058913"/>
            <a:ext cx="85486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盧森堡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AC63A26-208F-3EFF-8AE6-56E9E113B2D2}"/>
              </a:ext>
            </a:extLst>
          </p:cNvPr>
          <p:cNvSpPr/>
          <p:nvPr/>
        </p:nvSpPr>
        <p:spPr>
          <a:xfrm>
            <a:off x="5889327" y="3903324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89F0535-ABCF-FF9A-07DB-7D91C6D6BE75}"/>
              </a:ext>
            </a:extLst>
          </p:cNvPr>
          <p:cNvSpPr/>
          <p:nvPr/>
        </p:nvSpPr>
        <p:spPr>
          <a:xfrm>
            <a:off x="2547115" y="2836936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南非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86BEBE-E9B4-5FA8-FDC0-F9E2E89C9F86}"/>
              </a:ext>
            </a:extLst>
          </p:cNvPr>
          <p:cNvSpPr/>
          <p:nvPr/>
        </p:nvSpPr>
        <p:spPr>
          <a:xfrm>
            <a:off x="4141144" y="3823839"/>
            <a:ext cx="704553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南韓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BC6832C-11CF-9270-F4A7-AAE424794A57}"/>
              </a:ext>
            </a:extLst>
          </p:cNvPr>
          <p:cNvCxnSpPr>
            <a:cxnSpLocks/>
          </p:cNvCxnSpPr>
          <p:nvPr/>
        </p:nvCxnSpPr>
        <p:spPr>
          <a:xfrm>
            <a:off x="2386013" y="3836649"/>
            <a:ext cx="7469187" cy="0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E736889C-A9D6-55E8-3DAD-C0D45234A1CE}"/>
              </a:ext>
            </a:extLst>
          </p:cNvPr>
          <p:cNvCxnSpPr>
            <a:cxnSpLocks/>
          </p:cNvCxnSpPr>
          <p:nvPr/>
        </p:nvCxnSpPr>
        <p:spPr>
          <a:xfrm flipV="1">
            <a:off x="5688312" y="1581150"/>
            <a:ext cx="0" cy="4198144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B1146A93-AA38-B6BC-E6B0-1C3F9D665EB7}"/>
              </a:ext>
            </a:extLst>
          </p:cNvPr>
          <p:cNvSpPr/>
          <p:nvPr/>
        </p:nvSpPr>
        <p:spPr>
          <a:xfrm>
            <a:off x="6366175" y="4442324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瑞士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457B61E-3CC2-00E3-B7AF-0FCB704316B8}"/>
              </a:ext>
            </a:extLst>
          </p:cNvPr>
          <p:cNvSpPr/>
          <p:nvPr/>
        </p:nvSpPr>
        <p:spPr>
          <a:xfrm>
            <a:off x="5319313" y="6121327"/>
            <a:ext cx="1553370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($)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F45C9A7-2969-38C7-69A0-330C73278512}"/>
              </a:ext>
            </a:extLst>
          </p:cNvPr>
          <p:cNvSpPr/>
          <p:nvPr/>
        </p:nvSpPr>
        <p:spPr>
          <a:xfrm>
            <a:off x="1649765" y="3060531"/>
            <a:ext cx="330123" cy="1349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滲透率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DDD4E8-4033-2701-FD7D-6E350F74EB8A}"/>
              </a:ext>
            </a:extLst>
          </p:cNvPr>
          <p:cNvSpPr/>
          <p:nvPr/>
        </p:nvSpPr>
        <p:spPr>
          <a:xfrm>
            <a:off x="2405066" y="1581149"/>
            <a:ext cx="3283246" cy="4340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保險於</a:t>
            </a:r>
            <a:r>
              <a:rPr lang="en-US" altLang="zh-TW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GDP</a:t>
            </a:r>
            <a:r>
              <a:rPr lang="zh-TW" altLang="en-US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比重高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E8464D-E002-D149-8DCD-E85835E100E4}"/>
              </a:ext>
            </a:extLst>
          </p:cNvPr>
          <p:cNvSpPr/>
          <p:nvPr/>
        </p:nvSpPr>
        <p:spPr>
          <a:xfrm>
            <a:off x="4840609" y="3361572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法國</a:t>
            </a:r>
          </a:p>
        </p:txBody>
      </p:sp>
    </p:spTree>
    <p:extLst>
      <p:ext uri="{BB962C8B-B14F-4D97-AF65-F5344CB8AC3E}">
        <p14:creationId xmlns:p14="http://schemas.microsoft.com/office/powerpoint/2010/main" val="103601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9462-AE2D-860F-75D9-B2D75742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F89DB00-823F-FE93-C2C7-60FD6793545A}"/>
              </a:ext>
            </a:extLst>
          </p:cNvPr>
          <p:cNvSpPr/>
          <p:nvPr/>
        </p:nvSpPr>
        <p:spPr>
          <a:xfrm>
            <a:off x="5719763" y="3857811"/>
            <a:ext cx="4135437" cy="1889547"/>
          </a:xfrm>
          <a:prstGeom prst="rect">
            <a:avLst/>
          </a:prstGeom>
          <a:solidFill>
            <a:srgbClr val="D2F3E4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3DFB2A2-5CA1-B2CA-4E3F-4A8CC6722E29}"/>
              </a:ext>
            </a:extLst>
          </p:cNvPr>
          <p:cNvGrpSpPr/>
          <p:nvPr/>
        </p:nvGrpSpPr>
        <p:grpSpPr>
          <a:xfrm>
            <a:off x="2031998" y="1331913"/>
            <a:ext cx="8128000" cy="4806421"/>
            <a:chOff x="2032000" y="1331913"/>
            <a:chExt cx="8128000" cy="4806421"/>
          </a:xfrm>
        </p:grpSpPr>
        <p:graphicFrame>
          <p:nvGraphicFramePr>
            <p:cNvPr id="23" name="圖表 22">
              <a:extLst>
                <a:ext uri="{FF2B5EF4-FFF2-40B4-BE49-F238E27FC236}">
                  <a16:creationId xmlns:a16="http://schemas.microsoft.com/office/drawing/2014/main" id="{E182A6B0-95BD-AA1D-D94F-20F009F0387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71958005"/>
                </p:ext>
              </p:extLst>
            </p:nvPr>
          </p:nvGraphicFramePr>
          <p:xfrm>
            <a:off x="2032000" y="1331913"/>
            <a:ext cx="8128000" cy="48064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7D602A-DD31-7BEB-DBE1-4D77B3FB931F}"/>
                </a:ext>
              </a:extLst>
            </p:cNvPr>
            <p:cNvSpPr/>
            <p:nvPr/>
          </p:nvSpPr>
          <p:spPr>
            <a:xfrm>
              <a:off x="2032000" y="5624514"/>
              <a:ext cx="225425" cy="513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9DDE0F2-815F-DF63-7854-52888B6092DF}"/>
                </a:ext>
              </a:extLst>
            </p:cNvPr>
            <p:cNvSpPr/>
            <p:nvPr/>
          </p:nvSpPr>
          <p:spPr>
            <a:xfrm>
              <a:off x="2032000" y="5910262"/>
              <a:ext cx="582613" cy="2280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29B9891E-19C0-1973-CD15-E696B367FC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D1B45BD8-C7D5-92B4-EDAF-6D2320E0309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3C0E2A68-BA0E-42F2-B15B-CEA3A2B26D99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保險滲透率</a:t>
            </a:r>
            <a:r>
              <a:rPr lang="zh-TW" altLang="en-US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vs.</a:t>
            </a:r>
            <a:r>
              <a:rPr lang="en-US" altLang="zh-TW" sz="28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密度矩陣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D2ABABDD-0EAA-FF09-BC39-FBF2B0E1EF28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D9A11D7E-9A34-6CF4-4E29-C4E26032EE9D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觀察各國保險市場競爭與人民風險意識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9BD44C-DE2D-ABF5-9869-1BED12B135DC}"/>
              </a:ext>
            </a:extLst>
          </p:cNvPr>
          <p:cNvSpPr/>
          <p:nvPr/>
        </p:nvSpPr>
        <p:spPr>
          <a:xfrm>
            <a:off x="7920397" y="2063898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香港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C3449B-11B2-00E9-C57B-168E73B8D548}"/>
              </a:ext>
            </a:extLst>
          </p:cNvPr>
          <p:cNvSpPr/>
          <p:nvPr/>
        </p:nvSpPr>
        <p:spPr>
          <a:xfrm>
            <a:off x="8081425" y="3351642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593A55-7B8D-84B6-D168-00A731E29254}"/>
              </a:ext>
            </a:extLst>
          </p:cNvPr>
          <p:cNvSpPr/>
          <p:nvPr/>
        </p:nvSpPr>
        <p:spPr>
          <a:xfrm>
            <a:off x="6616106" y="3042483"/>
            <a:ext cx="144240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丹麥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587595-613A-9127-D285-D10C3176ACE1}"/>
              </a:ext>
            </a:extLst>
          </p:cNvPr>
          <p:cNvSpPr/>
          <p:nvPr/>
        </p:nvSpPr>
        <p:spPr>
          <a:xfrm>
            <a:off x="7117556" y="3867705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新加坡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C54FA7-F1A0-7D02-14BA-8CBE24F23F11}"/>
              </a:ext>
            </a:extLst>
          </p:cNvPr>
          <p:cNvSpPr/>
          <p:nvPr/>
        </p:nvSpPr>
        <p:spPr>
          <a:xfrm>
            <a:off x="3467100" y="3823839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DA6918-2541-CB54-5A15-844465FA23F7}"/>
              </a:ext>
            </a:extLst>
          </p:cNvPr>
          <p:cNvSpPr/>
          <p:nvPr/>
        </p:nvSpPr>
        <p:spPr>
          <a:xfrm>
            <a:off x="4324053" y="3154402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臺灣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F2FD77-07B2-A399-C568-8EC0F4A39D5F}"/>
              </a:ext>
            </a:extLst>
          </p:cNvPr>
          <p:cNvSpPr/>
          <p:nvPr/>
        </p:nvSpPr>
        <p:spPr>
          <a:xfrm>
            <a:off x="5905484" y="2879227"/>
            <a:ext cx="6562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DB68263-8EED-4D8E-B755-469215B310BC}"/>
              </a:ext>
            </a:extLst>
          </p:cNvPr>
          <p:cNvSpPr/>
          <p:nvPr/>
        </p:nvSpPr>
        <p:spPr>
          <a:xfrm>
            <a:off x="5167294" y="5058913"/>
            <a:ext cx="854869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盧森堡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3A46DB3-5C32-473E-5452-B06B26A266CA}"/>
              </a:ext>
            </a:extLst>
          </p:cNvPr>
          <p:cNvSpPr/>
          <p:nvPr/>
        </p:nvSpPr>
        <p:spPr>
          <a:xfrm>
            <a:off x="5889327" y="3903324"/>
            <a:ext cx="530224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9196C84-F77A-6355-7FE8-D21034B82C26}"/>
              </a:ext>
            </a:extLst>
          </p:cNvPr>
          <p:cNvSpPr/>
          <p:nvPr/>
        </p:nvSpPr>
        <p:spPr>
          <a:xfrm>
            <a:off x="2547115" y="2836936"/>
            <a:ext cx="60751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南非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E9C6C5-0520-770F-34C1-1D273A298931}"/>
              </a:ext>
            </a:extLst>
          </p:cNvPr>
          <p:cNvSpPr/>
          <p:nvPr/>
        </p:nvSpPr>
        <p:spPr>
          <a:xfrm>
            <a:off x="4141144" y="3823839"/>
            <a:ext cx="704553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南韓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B2950B5A-ADB5-0DE9-6FAF-1C7F83C88370}"/>
              </a:ext>
            </a:extLst>
          </p:cNvPr>
          <p:cNvCxnSpPr>
            <a:cxnSpLocks/>
          </p:cNvCxnSpPr>
          <p:nvPr/>
        </p:nvCxnSpPr>
        <p:spPr>
          <a:xfrm>
            <a:off x="2386013" y="3836649"/>
            <a:ext cx="7469187" cy="0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38293790-157E-073B-4BE1-CF14FB82EE2C}"/>
              </a:ext>
            </a:extLst>
          </p:cNvPr>
          <p:cNvCxnSpPr>
            <a:cxnSpLocks/>
          </p:cNvCxnSpPr>
          <p:nvPr/>
        </p:nvCxnSpPr>
        <p:spPr>
          <a:xfrm flipV="1">
            <a:off x="5688312" y="1581150"/>
            <a:ext cx="0" cy="4198144"/>
          </a:xfrm>
          <a:prstGeom prst="line">
            <a:avLst/>
          </a:prstGeom>
          <a:ln w="12700">
            <a:solidFill>
              <a:srgbClr val="73737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7F6DCC20-C146-CF3D-2663-9CD331D74CF1}"/>
              </a:ext>
            </a:extLst>
          </p:cNvPr>
          <p:cNvSpPr/>
          <p:nvPr/>
        </p:nvSpPr>
        <p:spPr>
          <a:xfrm>
            <a:off x="6366175" y="4442324"/>
            <a:ext cx="737095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瑞士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0BD7D70-4349-3E04-2804-C32580B20748}"/>
              </a:ext>
            </a:extLst>
          </p:cNvPr>
          <p:cNvSpPr/>
          <p:nvPr/>
        </p:nvSpPr>
        <p:spPr>
          <a:xfrm>
            <a:off x="5319313" y="6121327"/>
            <a:ext cx="1553370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($)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C3123B0-2E88-8D67-B02E-BCE8B0F1D790}"/>
              </a:ext>
            </a:extLst>
          </p:cNvPr>
          <p:cNvSpPr/>
          <p:nvPr/>
        </p:nvSpPr>
        <p:spPr>
          <a:xfrm>
            <a:off x="1649765" y="3060531"/>
            <a:ext cx="330123" cy="1349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滲透率</a:t>
            </a:r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3B87FC-DB06-AB36-F9B4-C7AC9E7BA65C}"/>
              </a:ext>
            </a:extLst>
          </p:cNvPr>
          <p:cNvSpPr/>
          <p:nvPr/>
        </p:nvSpPr>
        <p:spPr>
          <a:xfrm>
            <a:off x="5719763" y="5313343"/>
            <a:ext cx="4135437" cy="4340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人均保費高、</a:t>
            </a:r>
            <a:r>
              <a:rPr lang="en-US" altLang="zh-TW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GDP</a:t>
            </a:r>
            <a:r>
              <a:rPr lang="zh-TW" altLang="en-US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基數大</a:t>
            </a:r>
          </a:p>
        </p:txBody>
      </p:sp>
    </p:spTree>
    <p:extLst>
      <p:ext uri="{BB962C8B-B14F-4D97-AF65-F5344CB8AC3E}">
        <p14:creationId xmlns:p14="http://schemas.microsoft.com/office/powerpoint/2010/main" val="256687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9AEA0-C265-6CC1-3826-B441B930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92EF6175-207F-47AA-956A-771AC5BD84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B1B80B11-0580-8689-8379-3145A59A56A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4F41AC00-8770-BBDF-14EB-9C8557C7B614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日本社會保險的五大架構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8259AE62-7E40-D9FE-0B57-BB11362154A1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120C3B87-99A7-4D52-A6A7-CABC0C66B84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健保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介護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雇用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勞災與厚生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國民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C52997-7CB7-CAFF-D515-C065735A1308}"/>
              </a:ext>
            </a:extLst>
          </p:cNvPr>
          <p:cNvSpPr/>
          <p:nvPr/>
        </p:nvSpPr>
        <p:spPr>
          <a:xfrm>
            <a:off x="455094" y="1837671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健康保險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C211C7-8601-EF50-7553-D8BD33B7C6B7}"/>
              </a:ext>
            </a:extLst>
          </p:cNvPr>
          <p:cNvSpPr/>
          <p:nvPr/>
        </p:nvSpPr>
        <p:spPr>
          <a:xfrm>
            <a:off x="1350995" y="1468496"/>
            <a:ext cx="542073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7F400D-1953-5AB4-45FD-9491F2E2D38A}"/>
              </a:ext>
            </a:extLst>
          </p:cNvPr>
          <p:cNvSpPr/>
          <p:nvPr/>
        </p:nvSpPr>
        <p:spPr>
          <a:xfrm>
            <a:off x="6771734" y="1468496"/>
            <a:ext cx="4965171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費用與給付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03186F-430C-60B0-8AD6-55B8338AEC3C}"/>
              </a:ext>
            </a:extLst>
          </p:cNvPr>
          <p:cNvSpPr/>
          <p:nvPr/>
        </p:nvSpPr>
        <p:spPr>
          <a:xfrm>
            <a:off x="1350995" y="1837672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分為受雇者與非受雇者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國保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兩類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F33AE1-5CF4-6828-80BD-CF8E4E144D3B}"/>
              </a:ext>
            </a:extLst>
          </p:cNvPr>
          <p:cNvSpPr/>
          <p:nvPr/>
        </p:nvSpPr>
        <p:spPr>
          <a:xfrm>
            <a:off x="6771734" y="1837672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</a:t>
            </a:r>
            <a:r>
              <a:rPr lang="zh-TW" altLang="en-US" sz="11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非受雇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全額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醫療費：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</a:t>
            </a:r>
            <a:r>
              <a:rPr lang="zh-TW" altLang="en-US" sz="11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非受雇亦同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A23171-2068-03A1-68FE-5979388EADB0}"/>
              </a:ext>
            </a:extLst>
          </p:cNvPr>
          <p:cNvSpPr/>
          <p:nvPr/>
        </p:nvSpPr>
        <p:spPr>
          <a:xfrm>
            <a:off x="455094" y="1468496"/>
            <a:ext cx="895901" cy="36929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AEA32-7ADD-B2B3-E416-16004494ECE3}"/>
              </a:ext>
            </a:extLst>
          </p:cNvPr>
          <p:cNvSpPr/>
          <p:nvPr/>
        </p:nvSpPr>
        <p:spPr>
          <a:xfrm>
            <a:off x="455092" y="2523751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介護保險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E1F67D-0450-D81A-BDAE-49E58EC39AC0}"/>
              </a:ext>
            </a:extLst>
          </p:cNvPr>
          <p:cNvSpPr/>
          <p:nvPr/>
        </p:nvSpPr>
        <p:spPr>
          <a:xfrm>
            <a:off x="1350995" y="2523752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歲以上納保，旨在提供長照支援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841722-8A89-2389-772F-767D1471E1A5}"/>
              </a:ext>
            </a:extLst>
          </p:cNvPr>
          <p:cNvSpPr/>
          <p:nvPr/>
        </p:nvSpPr>
        <p:spPr>
          <a:xfrm>
            <a:off x="6771734" y="2523752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</a:t>
            </a:r>
            <a:r>
              <a:rPr lang="zh-TW" altLang="en-US" sz="11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非受雇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全額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給付項：如居家照護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機構入住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生活支援等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756795-86B4-6A75-5EE3-86F05E30DF8F}"/>
              </a:ext>
            </a:extLst>
          </p:cNvPr>
          <p:cNvSpPr/>
          <p:nvPr/>
        </p:nvSpPr>
        <p:spPr>
          <a:xfrm>
            <a:off x="455092" y="3216603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雇用保險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C94379-74A9-7C9A-B22C-4996A1A5388F}"/>
              </a:ext>
            </a:extLst>
          </p:cNvPr>
          <p:cNvSpPr/>
          <p:nvPr/>
        </p:nvSpPr>
        <p:spPr>
          <a:xfrm>
            <a:off x="1350995" y="3216604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失業給付制度，企業依法加入受雇者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0644D5-9840-5B45-A94E-2D82A1C2D634}"/>
              </a:ext>
            </a:extLst>
          </p:cNvPr>
          <p:cNvSpPr/>
          <p:nvPr/>
        </p:nvSpPr>
        <p:spPr>
          <a:xfrm>
            <a:off x="6771734" y="3216604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保險費：薪資中的</a:t>
            </a:r>
            <a:r>
              <a: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0.9%</a:t>
            </a:r>
            <a:r>
              <a: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0.55%</a:t>
            </a:r>
            <a:r>
              <a: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給付項：包含失業給付以及職訓補助等項目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DCC2C07-D153-AA24-92A4-E961E4F20320}"/>
              </a:ext>
            </a:extLst>
          </p:cNvPr>
          <p:cNvSpPr/>
          <p:nvPr/>
        </p:nvSpPr>
        <p:spPr>
          <a:xfrm>
            <a:off x="455092" y="3900449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勞災保險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C58A84-A40D-1B3E-0CC1-DEC34AC24586}"/>
              </a:ext>
            </a:extLst>
          </p:cNvPr>
          <p:cNvSpPr/>
          <p:nvPr/>
        </p:nvSpPr>
        <p:spPr>
          <a:xfrm>
            <a:off x="1350995" y="3900450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職災補償制度，企業依法加入受雇者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A68B02-EFEC-41CB-86DD-81A80EA4179B}"/>
              </a:ext>
            </a:extLst>
          </p:cNvPr>
          <p:cNvSpPr/>
          <p:nvPr/>
        </p:nvSpPr>
        <p:spPr>
          <a:xfrm>
            <a:off x="6771734" y="3900450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保險費：金額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由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雇主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全額負擔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給付項：受雇者在工作中的傷害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死亡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53425B-963E-F205-BA75-78FC7FAABDE9}"/>
              </a:ext>
            </a:extLst>
          </p:cNvPr>
          <p:cNvSpPr/>
          <p:nvPr/>
        </p:nvSpPr>
        <p:spPr>
          <a:xfrm>
            <a:off x="455092" y="4593300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厚生年金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9B5B9E-2D70-56A9-613A-4A7276E8CB53}"/>
              </a:ext>
            </a:extLst>
          </p:cNvPr>
          <p:cNvSpPr/>
          <p:nvPr/>
        </p:nvSpPr>
        <p:spPr>
          <a:xfrm>
            <a:off x="1350995" y="4593301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屬報酬比例型年金，與國民年金搭配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823F74-6771-C478-27C3-499B76E1F353}"/>
              </a:ext>
            </a:extLst>
          </p:cNvPr>
          <p:cNvSpPr/>
          <p:nvPr/>
        </p:nvSpPr>
        <p:spPr>
          <a:xfrm>
            <a:off x="6771734" y="4593301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</a:t>
            </a:r>
            <a:r>
              <a:rPr lang="zh-TW" altLang="en-US" sz="11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限雇員加入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給付項：包含退休</a:t>
            </a:r>
            <a:r>
              <a:rPr lang="zh-TW" altLang="en-US" sz="15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傷害</a:t>
            </a:r>
            <a:r>
              <a:rPr lang="zh-TW" altLang="en-US" sz="15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遺族厚生年金等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8927B9E-843F-B795-51A7-932E4633BA0B}"/>
              </a:ext>
            </a:extLst>
          </p:cNvPr>
          <p:cNvSpPr/>
          <p:nvPr/>
        </p:nvSpPr>
        <p:spPr>
          <a:xfrm>
            <a:off x="455092" y="5271824"/>
            <a:ext cx="895901" cy="68753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國民年金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237E7E8-D536-E2D6-CDF7-49D8AC153C2A}"/>
              </a:ext>
            </a:extLst>
          </p:cNvPr>
          <p:cNvSpPr/>
          <p:nvPr/>
        </p:nvSpPr>
        <p:spPr>
          <a:xfrm>
            <a:off x="1350995" y="5271825"/>
            <a:ext cx="5420739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20-59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歲日本居民加入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一階基礎年金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15DE3C2-84FF-DA6A-1515-62A2B61CC4A1}"/>
              </a:ext>
            </a:extLst>
          </p:cNvPr>
          <p:cNvSpPr/>
          <p:nvPr/>
        </p:nvSpPr>
        <p:spPr>
          <a:xfrm>
            <a:off x="6771734" y="5271825"/>
            <a:ext cx="4965171" cy="68753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保險費：金額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由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負擔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固定金額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285750" indent="-285750" algn="ctr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給付項：包含退休</a:t>
            </a:r>
            <a:r>
              <a:rPr lang="zh-TW" altLang="en-US" sz="15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傷害</a:t>
            </a:r>
            <a:r>
              <a:rPr lang="zh-TW" altLang="en-US" sz="15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遺族厚生年金等</a:t>
            </a:r>
          </a:p>
        </p:txBody>
      </p:sp>
    </p:spTree>
    <p:extLst>
      <p:ext uri="{BB962C8B-B14F-4D97-AF65-F5344CB8AC3E}">
        <p14:creationId xmlns:p14="http://schemas.microsoft.com/office/powerpoint/2010/main" val="122361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DBD5-6D53-F981-670D-EA227552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52DA4D91-3475-412A-7C6F-0F9952E9B4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11893F91-3D68-DB1C-173D-56E885A0A137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A4AF9529-1ADA-49CD-DA5B-FC474EAB25C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日本保險的三大分野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6124D499-47CA-1CEE-1E00-0161CABC0C6F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B594F825-1553-DCF5-2953-9798040A23C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參照保険業法分第一、二、三類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FB48C3-E678-A1F7-1EA4-785C2B22E1E3}"/>
              </a:ext>
            </a:extLst>
          </p:cNvPr>
          <p:cNvSpPr/>
          <p:nvPr/>
        </p:nvSpPr>
        <p:spPr>
          <a:xfrm>
            <a:off x="455094" y="1842835"/>
            <a:ext cx="895901" cy="69985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險種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F7873-2082-034C-1BFF-D860DA0404DE}"/>
              </a:ext>
            </a:extLst>
          </p:cNvPr>
          <p:cNvSpPr/>
          <p:nvPr/>
        </p:nvSpPr>
        <p:spPr>
          <a:xfrm>
            <a:off x="135099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第一分野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223955-6020-7E47-2E84-636ED6C6BD56}"/>
              </a:ext>
            </a:extLst>
          </p:cNvPr>
          <p:cNvSpPr/>
          <p:nvPr/>
        </p:nvSpPr>
        <p:spPr>
          <a:xfrm>
            <a:off x="827493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第三分野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EA455-A488-22E8-4AF7-57C7BC2A960C}"/>
              </a:ext>
            </a:extLst>
          </p:cNvPr>
          <p:cNvSpPr/>
          <p:nvPr/>
        </p:nvSpPr>
        <p:spPr>
          <a:xfrm>
            <a:off x="1350997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ex: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壽險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7B68D1-AC6E-D88A-DF8F-A1A1637DFBF6}"/>
              </a:ext>
            </a:extLst>
          </p:cNvPr>
          <p:cNvSpPr/>
          <p:nvPr/>
        </p:nvSpPr>
        <p:spPr>
          <a:xfrm>
            <a:off x="8274938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ex: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D41C2-5818-7DD3-CB9D-6B01A6058F52}"/>
              </a:ext>
            </a:extLst>
          </p:cNvPr>
          <p:cNvSpPr/>
          <p:nvPr/>
        </p:nvSpPr>
        <p:spPr>
          <a:xfrm>
            <a:off x="455094" y="1468496"/>
            <a:ext cx="895901" cy="36929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F55BE9-74BA-E8F5-F425-F8D2A69551DD}"/>
              </a:ext>
            </a:extLst>
          </p:cNvPr>
          <p:cNvSpPr/>
          <p:nvPr/>
        </p:nvSpPr>
        <p:spPr>
          <a:xfrm>
            <a:off x="455094" y="2542690"/>
            <a:ext cx="895901" cy="69985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D19707-0425-E9CA-AFF9-C667267B945D}"/>
              </a:ext>
            </a:extLst>
          </p:cNvPr>
          <p:cNvSpPr/>
          <p:nvPr/>
        </p:nvSpPr>
        <p:spPr>
          <a:xfrm>
            <a:off x="1350997" y="2542691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關係到生存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死亡給付之保險金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F4BF13-D28E-5E6D-7D8E-3AE189C41CA1}"/>
              </a:ext>
            </a:extLst>
          </p:cNvPr>
          <p:cNvSpPr/>
          <p:nvPr/>
        </p:nvSpPr>
        <p:spPr>
          <a:xfrm>
            <a:off x="8274938" y="2542691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傷害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介護等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F66FF2-E9B8-D565-FF42-95F565514F18}"/>
              </a:ext>
            </a:extLst>
          </p:cNvPr>
          <p:cNvSpPr/>
          <p:nvPr/>
        </p:nvSpPr>
        <p:spPr>
          <a:xfrm>
            <a:off x="481296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第二分野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C93006-D618-529C-0CFC-7602B6CC770B}"/>
              </a:ext>
            </a:extLst>
          </p:cNvPr>
          <p:cNvSpPr/>
          <p:nvPr/>
        </p:nvSpPr>
        <p:spPr>
          <a:xfrm>
            <a:off x="4812968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ex: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287E5C-F898-7BAF-BC3F-A0010E74987B}"/>
              </a:ext>
            </a:extLst>
          </p:cNvPr>
          <p:cNvSpPr/>
          <p:nvPr/>
        </p:nvSpPr>
        <p:spPr>
          <a:xfrm>
            <a:off x="4812968" y="2542691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負責事故所造成損害額之填補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751E82-7DB1-4380-748D-7B4391282850}"/>
              </a:ext>
            </a:extLst>
          </p:cNvPr>
          <p:cNvSpPr/>
          <p:nvPr/>
        </p:nvSpPr>
        <p:spPr>
          <a:xfrm>
            <a:off x="455094" y="3242546"/>
            <a:ext cx="895901" cy="69985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3A8A81-E6FA-1807-F032-0CF9A59A54D5}"/>
              </a:ext>
            </a:extLst>
          </p:cNvPr>
          <p:cNvSpPr/>
          <p:nvPr/>
        </p:nvSpPr>
        <p:spPr>
          <a:xfrm>
            <a:off x="1350997" y="3242547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生保公司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EA4CE3-E356-2F6D-4A4F-CA9FEFCBE935}"/>
              </a:ext>
            </a:extLst>
          </p:cNvPr>
          <p:cNvSpPr/>
          <p:nvPr/>
        </p:nvSpPr>
        <p:spPr>
          <a:xfrm>
            <a:off x="8274938" y="3242547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生保、損保公司皆可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AB7A1F6-7E0E-01A3-A1A9-D3809736ECDB}"/>
              </a:ext>
            </a:extLst>
          </p:cNvPr>
          <p:cNvSpPr/>
          <p:nvPr/>
        </p:nvSpPr>
        <p:spPr>
          <a:xfrm>
            <a:off x="4812968" y="3242547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損保公司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D53AC3-1EF9-C7EC-9601-7C79174224F6}"/>
              </a:ext>
            </a:extLst>
          </p:cNvPr>
          <p:cNvSpPr/>
          <p:nvPr/>
        </p:nvSpPr>
        <p:spPr>
          <a:xfrm>
            <a:off x="455094" y="3943388"/>
            <a:ext cx="895901" cy="69985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DAA8F9-9C8C-9AA4-9EEB-33B8EAD8C653}"/>
              </a:ext>
            </a:extLst>
          </p:cNvPr>
          <p:cNvSpPr/>
          <p:nvPr/>
        </p:nvSpPr>
        <p:spPr>
          <a:xfrm>
            <a:off x="1350997" y="394338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多為長期契約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F4F2AE-902E-974F-0F5A-31D8DDC37FF0}"/>
              </a:ext>
            </a:extLst>
          </p:cNvPr>
          <p:cNvSpPr/>
          <p:nvPr/>
        </p:nvSpPr>
        <p:spPr>
          <a:xfrm>
            <a:off x="8274938" y="394338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視商品而定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14D78A-A8A5-DC4D-5380-02B91C7AF525}"/>
              </a:ext>
            </a:extLst>
          </p:cNvPr>
          <p:cNvSpPr/>
          <p:nvPr/>
        </p:nvSpPr>
        <p:spPr>
          <a:xfrm>
            <a:off x="4812968" y="394338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短期契約為主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30188-966D-A63B-06D1-CA484B987B0F}"/>
              </a:ext>
            </a:extLst>
          </p:cNvPr>
          <p:cNvSpPr/>
          <p:nvPr/>
        </p:nvSpPr>
        <p:spPr>
          <a:xfrm>
            <a:off x="455094" y="4647768"/>
            <a:ext cx="895901" cy="69985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2F5CDD-26D0-74AF-D60C-E0A44378F117}"/>
              </a:ext>
            </a:extLst>
          </p:cNvPr>
          <p:cNvSpPr/>
          <p:nvPr/>
        </p:nvSpPr>
        <p:spPr>
          <a:xfrm>
            <a:off x="1350997" y="464776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死亡保障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資產傳承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9F95FF-CECD-95FF-63CB-17D7C700E603}"/>
              </a:ext>
            </a:extLst>
          </p:cNvPr>
          <p:cNvSpPr/>
          <p:nvPr/>
        </p:nvSpPr>
        <p:spPr>
          <a:xfrm>
            <a:off x="8274938" y="464776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公保、團險不足之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補充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5772DE-9A53-0AA7-25D4-D2360278BCDB}"/>
              </a:ext>
            </a:extLst>
          </p:cNvPr>
          <p:cNvSpPr/>
          <p:nvPr/>
        </p:nvSpPr>
        <p:spPr>
          <a:xfrm>
            <a:off x="4812968" y="4647769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財產風險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責任管理</a:t>
            </a:r>
          </a:p>
        </p:txBody>
      </p:sp>
    </p:spTree>
    <p:extLst>
      <p:ext uri="{BB962C8B-B14F-4D97-AF65-F5344CB8AC3E}">
        <p14:creationId xmlns:p14="http://schemas.microsoft.com/office/powerpoint/2010/main" val="913001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CB6C-C32C-B3D0-6C7A-C6ACA468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3D191E0-ED15-5425-30CB-B3D135ADAB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4E6BD42E-1ABE-2B35-3BAA-F36D9C7DF8E1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98FC1AB0-C97C-D829-0959-634CDDE36EFC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日本保險業的監理說明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5423F3FB-4E37-DA45-B885-045F8A836D2A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133C4CA8-9CA8-B60C-C102-E3136EEF7921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包含准入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財務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業務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創新等層面</a:t>
            </a: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AD3CBACA-1E7F-43B8-13B6-B5C35DCCFE51}"/>
              </a:ext>
            </a:extLst>
          </p:cNvPr>
          <p:cNvGrpSpPr/>
          <p:nvPr/>
        </p:nvGrpSpPr>
        <p:grpSpPr>
          <a:xfrm>
            <a:off x="1437961" y="1526695"/>
            <a:ext cx="9316073" cy="4482472"/>
            <a:chOff x="1437961" y="1398764"/>
            <a:chExt cx="9316073" cy="4482472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70084FC-E0D8-D8C9-95BC-CA6F0E2F193D}"/>
                </a:ext>
              </a:extLst>
            </p:cNvPr>
            <p:cNvGrpSpPr/>
            <p:nvPr/>
          </p:nvGrpSpPr>
          <p:grpSpPr>
            <a:xfrm>
              <a:off x="1437961" y="5066855"/>
              <a:ext cx="9316073" cy="814381"/>
              <a:chOff x="1437961" y="5009888"/>
              <a:chExt cx="9316073" cy="81438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E0F26E0-D0CA-0B82-2823-0654235EB205}"/>
                  </a:ext>
                </a:extLst>
              </p:cNvPr>
              <p:cNvSpPr/>
              <p:nvPr/>
            </p:nvSpPr>
            <p:spPr>
              <a:xfrm>
                <a:off x="1437962" y="5009888"/>
                <a:ext cx="9316072" cy="360948"/>
              </a:xfrm>
              <a:prstGeom prst="rect">
                <a:avLst/>
              </a:prstGeom>
              <a:solidFill>
                <a:srgbClr val="15BD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TW" altLang="en-US" sz="16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監管架構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2864168-8601-3AD9-B992-9CF2AEA871C0}"/>
                  </a:ext>
                </a:extLst>
              </p:cNvPr>
              <p:cNvSpPr/>
              <p:nvPr/>
            </p:nvSpPr>
            <p:spPr>
              <a:xfrm>
                <a:off x="1437961" y="5397030"/>
                <a:ext cx="9316072" cy="427239"/>
              </a:xfrm>
              <a:prstGeom prst="rect">
                <a:avLst/>
              </a:prstGeom>
              <a:solidFill>
                <a:srgbClr val="BDE4D5">
                  <a:alpha val="36078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主管機關為日本金融廳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(FSA)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、法律基礎為保險業法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(IBA)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，負責執照、財務監督與消費者保護等</a:t>
                </a:r>
                <a:endPara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757C61AB-348B-0E06-ED36-A3AFC5EF7189}"/>
                </a:ext>
              </a:extLst>
            </p:cNvPr>
            <p:cNvGrpSpPr/>
            <p:nvPr/>
          </p:nvGrpSpPr>
          <p:grpSpPr>
            <a:xfrm>
              <a:off x="1437961" y="4149833"/>
              <a:ext cx="9316073" cy="814381"/>
              <a:chOff x="1437961" y="5009888"/>
              <a:chExt cx="9316073" cy="814381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B393F50-A3BB-9D1C-CE7B-8A11358F743C}"/>
                  </a:ext>
                </a:extLst>
              </p:cNvPr>
              <p:cNvSpPr/>
              <p:nvPr/>
            </p:nvSpPr>
            <p:spPr>
              <a:xfrm>
                <a:off x="1437962" y="5009888"/>
                <a:ext cx="9316072" cy="360948"/>
              </a:xfrm>
              <a:prstGeom prst="rect">
                <a:avLst/>
              </a:prstGeom>
              <a:solidFill>
                <a:srgbClr val="15BD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TW" altLang="en-US" sz="16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市場准入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E52FFF1-4EC5-07EC-12AA-57261CA25779}"/>
                  </a:ext>
                </a:extLst>
              </p:cNvPr>
              <p:cNvSpPr/>
              <p:nvPr/>
            </p:nvSpPr>
            <p:spPr>
              <a:xfrm>
                <a:off x="1437961" y="5397030"/>
                <a:ext cx="9316072" cy="427239"/>
              </a:xfrm>
              <a:prstGeom prst="rect">
                <a:avLst/>
              </a:prstGeom>
              <a:solidFill>
                <a:srgbClr val="BDE4D5">
                  <a:alpha val="36078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FSA</a:t>
                </a:r>
                <a:r>
                  <a:rPr lang="zh-TW" altLang="en-US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管理生保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/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損保執照；外資需設日本分公司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(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另有</a:t>
                </a:r>
                <a:r>
                  <a:rPr lang="zh-TW" altLang="en-US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Market Entry Office</a:t>
                </a:r>
                <a:r>
                  <a:rPr lang="en-US" altLang="zh-TW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協助處理流程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)</a:t>
                </a:r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795E9EDB-C36D-E51D-F103-71045EA11B77}"/>
                </a:ext>
              </a:extLst>
            </p:cNvPr>
            <p:cNvGrpSpPr/>
            <p:nvPr/>
          </p:nvGrpSpPr>
          <p:grpSpPr>
            <a:xfrm>
              <a:off x="1437961" y="3232810"/>
              <a:ext cx="9316073" cy="814381"/>
              <a:chOff x="1437961" y="5009888"/>
              <a:chExt cx="9316073" cy="814381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6B8B608-CDD3-A91C-840F-C871B704EFD2}"/>
                  </a:ext>
                </a:extLst>
              </p:cNvPr>
              <p:cNvSpPr/>
              <p:nvPr/>
            </p:nvSpPr>
            <p:spPr>
              <a:xfrm>
                <a:off x="1437962" y="5009888"/>
                <a:ext cx="9316072" cy="360948"/>
              </a:xfrm>
              <a:prstGeom prst="rect">
                <a:avLst/>
              </a:prstGeom>
              <a:solidFill>
                <a:srgbClr val="15BD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TW" altLang="en-US" sz="16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財務健全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466FB89F-1B19-10D5-58C9-F8F2E6309E51}"/>
                  </a:ext>
                </a:extLst>
              </p:cNvPr>
              <p:cNvSpPr/>
              <p:nvPr/>
            </p:nvSpPr>
            <p:spPr>
              <a:xfrm>
                <a:off x="1437961" y="5397030"/>
                <a:ext cx="9316072" cy="427239"/>
              </a:xfrm>
              <a:prstGeom prst="rect">
                <a:avLst/>
              </a:prstGeom>
              <a:solidFill>
                <a:srgbClr val="BDE4D5">
                  <a:alpha val="36078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2025</a:t>
                </a:r>
                <a:r>
                  <a:rPr lang="zh-TW" altLang="en-US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導入經濟本位償付能力新規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(</a:t>
                </a:r>
                <a:r>
                  <a:rPr lang="en-US" altLang="zh-TW" sz="1600" b="1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ESR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, Economic Value-based Solvency Regulation)</a:t>
                </a:r>
              </a:p>
            </p:txBody>
          </p:sp>
        </p:grp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9BE70F97-CEE2-204F-BAA9-019C205D90B9}"/>
                </a:ext>
              </a:extLst>
            </p:cNvPr>
            <p:cNvGrpSpPr/>
            <p:nvPr/>
          </p:nvGrpSpPr>
          <p:grpSpPr>
            <a:xfrm>
              <a:off x="1437961" y="2315787"/>
              <a:ext cx="9316073" cy="814381"/>
              <a:chOff x="1437961" y="5009888"/>
              <a:chExt cx="9316073" cy="814381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E311D217-5645-EB8B-9710-3B5AABA49698}"/>
                  </a:ext>
                </a:extLst>
              </p:cNvPr>
              <p:cNvSpPr/>
              <p:nvPr/>
            </p:nvSpPr>
            <p:spPr>
              <a:xfrm>
                <a:off x="1437962" y="5009888"/>
                <a:ext cx="9316072" cy="360948"/>
              </a:xfrm>
              <a:prstGeom prst="rect">
                <a:avLst/>
              </a:prstGeom>
              <a:solidFill>
                <a:srgbClr val="15BD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TW" altLang="en-US" sz="16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業務監理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4896D7C-CD5E-5A83-8965-4A2A25E246DE}"/>
                  </a:ext>
                </a:extLst>
              </p:cNvPr>
              <p:cNvSpPr/>
              <p:nvPr/>
            </p:nvSpPr>
            <p:spPr>
              <a:xfrm>
                <a:off x="1437961" y="5397030"/>
                <a:ext cx="9316072" cy="427239"/>
              </a:xfrm>
              <a:prstGeom prst="rect">
                <a:avLst/>
              </a:prstGeom>
              <a:solidFill>
                <a:srgbClr val="BDE4D5">
                  <a:alpha val="36078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保單條款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/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市場風險審查、公司治理、再保審視、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ALM(Asset-Liability Management)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等</a:t>
                </a:r>
                <a:endPara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4DF93D71-4D6E-5934-C05D-6AE3D4AE0475}"/>
                </a:ext>
              </a:extLst>
            </p:cNvPr>
            <p:cNvGrpSpPr/>
            <p:nvPr/>
          </p:nvGrpSpPr>
          <p:grpSpPr>
            <a:xfrm>
              <a:off x="1437961" y="1398764"/>
              <a:ext cx="9316073" cy="814381"/>
              <a:chOff x="1437961" y="5009888"/>
              <a:chExt cx="9316073" cy="814381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DEC8196-A7E5-3BC3-7B03-2D2D694AC3F8}"/>
                  </a:ext>
                </a:extLst>
              </p:cNvPr>
              <p:cNvSpPr/>
              <p:nvPr/>
            </p:nvSpPr>
            <p:spPr>
              <a:xfrm>
                <a:off x="1437962" y="5009888"/>
                <a:ext cx="9316072" cy="360948"/>
              </a:xfrm>
              <a:prstGeom prst="rect">
                <a:avLst/>
              </a:prstGeom>
              <a:solidFill>
                <a:srgbClr val="15BD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zh-TW" altLang="en-US" sz="16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科技創新</a:t>
                </a: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75A7D06-9947-E03D-3727-A4D43E08B432}"/>
                  </a:ext>
                </a:extLst>
              </p:cNvPr>
              <p:cNvSpPr/>
              <p:nvPr/>
            </p:nvSpPr>
            <p:spPr>
              <a:xfrm>
                <a:off x="1437961" y="5397030"/>
                <a:ext cx="9316072" cy="427239"/>
              </a:xfrm>
              <a:prstGeom prst="rect">
                <a:avLst/>
              </a:prstGeom>
              <a:solidFill>
                <a:srgbClr val="BDE4D5">
                  <a:alpha val="36078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包含</a:t>
                </a:r>
                <a:r>
                  <a:rPr lang="zh-TW" altLang="en-US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FinTech Support Desk(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法規諮詢</a:t>
                </a:r>
                <a:r>
                  <a:rPr lang="en-US" altLang="zh-TW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), FinTech PoC Hub, DeFi</a:t>
                </a:r>
                <a:r>
                  <a:rPr lang="zh-TW" altLang="en-US" sz="100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TW" altLang="en-US" sz="1600" kern="0" dirty="0">
                    <a:solidFill>
                      <a:srgbClr val="14141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libri" panose="020F0502020204030204" pitchFamily="34" charset="0"/>
                  </a:rPr>
                  <a:t>治理研究等平台</a:t>
                </a:r>
                <a:endPara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671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1989-941F-80B3-67A4-8CF2FCB8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F98ADEBC-9C16-FC18-626C-DD2985DE757F}"/>
              </a:ext>
            </a:extLst>
          </p:cNvPr>
          <p:cNvGrpSpPr/>
          <p:nvPr/>
        </p:nvGrpSpPr>
        <p:grpSpPr>
          <a:xfrm>
            <a:off x="1437961" y="4363737"/>
            <a:ext cx="9316073" cy="1232965"/>
            <a:chOff x="1437963" y="3663298"/>
            <a:chExt cx="9316073" cy="12329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2497E88-57D8-BF08-7928-015309FC75C5}"/>
                </a:ext>
              </a:extLst>
            </p:cNvPr>
            <p:cNvSpPr/>
            <p:nvPr/>
          </p:nvSpPr>
          <p:spPr>
            <a:xfrm>
              <a:off x="1437964" y="3663298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公司層級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B0A485B-065D-A072-6A6F-8C364F8306F6}"/>
                </a:ext>
              </a:extLst>
            </p:cNvPr>
            <p:cNvSpPr/>
            <p:nvPr/>
          </p:nvSpPr>
          <p:spPr>
            <a:xfrm>
              <a:off x="1437963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業務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通路、產品、核保、理賠、服務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2535550-8EAA-6B38-57DB-7A75F40F1598}"/>
                </a:ext>
              </a:extLst>
            </p:cNvPr>
            <p:cNvSpPr/>
            <p:nvPr/>
          </p:nvSpPr>
          <p:spPr>
            <a:xfrm>
              <a:off x="6124575" y="4087746"/>
              <a:ext cx="4629461" cy="808517"/>
            </a:xfrm>
            <a:prstGeom prst="rect">
              <a:avLst/>
            </a:prstGeom>
            <a:solidFill>
              <a:srgbClr val="BDE4D5">
                <a:alpha val="36078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財務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三表、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TA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EPS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ROA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ROE)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02B5C6F-B61C-8745-11EF-65591BC27977}"/>
              </a:ext>
            </a:extLst>
          </p:cNvPr>
          <p:cNvSpPr/>
          <p:nvPr/>
        </p:nvSpPr>
        <p:spPr>
          <a:xfrm>
            <a:off x="1437959" y="4363736"/>
            <a:ext cx="9316073" cy="12329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C201880-0A38-72A0-4A1E-394E2E9338CF}"/>
              </a:ext>
            </a:extLst>
          </p:cNvPr>
          <p:cNvGrpSpPr/>
          <p:nvPr/>
        </p:nvGrpSpPr>
        <p:grpSpPr>
          <a:xfrm>
            <a:off x="1437961" y="1566168"/>
            <a:ext cx="9316072" cy="1232965"/>
            <a:chOff x="1437964" y="4396310"/>
            <a:chExt cx="9316072" cy="1232965"/>
          </a:xfrm>
          <a:effectLst/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9A54658-4433-ACB4-FAAE-24CFDB2AE48A}"/>
                </a:ext>
              </a:extLst>
            </p:cNvPr>
            <p:cNvSpPr/>
            <p:nvPr/>
          </p:nvSpPr>
          <p:spPr>
            <a:xfrm>
              <a:off x="1437964" y="4396310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國家層級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A8FB00E-6BF5-FA0A-653B-FE3439DE2B1C}"/>
                </a:ext>
              </a:extLst>
            </p:cNvPr>
            <p:cNvSpPr/>
            <p:nvPr/>
          </p:nvSpPr>
          <p:spPr>
            <a:xfrm>
              <a:off x="1437964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保險滲透率 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x 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密度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B15CE91-7753-2CE3-A9F1-240E65919804}"/>
                </a:ext>
              </a:extLst>
            </p:cNvPr>
            <p:cNvSpPr/>
            <p:nvPr/>
          </p:nvSpPr>
          <p:spPr>
            <a:xfrm>
              <a:off x="4563677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公保、社保制度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CFB338-E640-AB1B-61FB-6AE0E315F1F2}"/>
                </a:ext>
              </a:extLst>
            </p:cNvPr>
            <p:cNvSpPr/>
            <p:nvPr/>
          </p:nvSpPr>
          <p:spPr>
            <a:xfrm>
              <a:off x="7689389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秩序、創新監理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CCC356ED-FAC1-4D6D-0C03-1DFFBD2B699D}"/>
              </a:ext>
            </a:extLst>
          </p:cNvPr>
          <p:cNvSpPr/>
          <p:nvPr/>
        </p:nvSpPr>
        <p:spPr>
          <a:xfrm>
            <a:off x="1437961" y="1566168"/>
            <a:ext cx="9316073" cy="12329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C1CECF5D-ABDF-8646-6093-EC8AB3A8E2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F136DFAC-40F1-E822-B2FB-27F8132C2683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EC3905E7-665C-8DDB-AE36-6F7AD003F3A0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保險公司研究架構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60B3211A-08BB-993F-63D2-473C521B803E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BB9F6EC5-1348-3CDA-E4DE-04BC93C9FA1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可分為國家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產業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公司三層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DF7B8FD-A3A8-02D7-49E2-FA5CAA56C688}"/>
              </a:ext>
            </a:extLst>
          </p:cNvPr>
          <p:cNvGrpSpPr/>
          <p:nvPr/>
        </p:nvGrpSpPr>
        <p:grpSpPr>
          <a:xfrm>
            <a:off x="1437961" y="2964953"/>
            <a:ext cx="9316073" cy="1232965"/>
            <a:chOff x="1437961" y="2964953"/>
            <a:chExt cx="9316073" cy="1232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0863EB7-7BD2-6912-8810-69CDE84A0FAB}"/>
                </a:ext>
              </a:extLst>
            </p:cNvPr>
            <p:cNvSpPr/>
            <p:nvPr/>
          </p:nvSpPr>
          <p:spPr>
            <a:xfrm>
              <a:off x="1437961" y="2964953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產業層級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1C1C31E-A742-B337-2774-702637EDD187}"/>
                </a:ext>
              </a:extLst>
            </p:cNvPr>
            <p:cNvSpPr/>
            <p:nvPr/>
          </p:nvSpPr>
          <p:spPr>
            <a:xfrm>
              <a:off x="1437961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公會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壽險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、產險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35B91F5-9D1A-0D6F-EE20-E74F4FFC02D5}"/>
                </a:ext>
              </a:extLst>
            </p:cNvPr>
            <p:cNvSpPr/>
            <p:nvPr/>
          </p:nvSpPr>
          <p:spPr>
            <a:xfrm>
              <a:off x="6124573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市佔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本土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、外商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59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15BE-F7CA-78A9-2907-8D0C6D03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AB9B20BB-5341-AB7C-5832-9D126881BA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6B24BCC9-C7D4-301F-0416-5CA038CCE45F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FFA2731F-4BCD-ED9C-0F74-0E45C93E019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日本保險產業三大公會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492BE35E-6C09-5E27-386B-EE8D38058123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9163F25C-A620-4F40-1257-CF6652C929EE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有生保協會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損保協會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及共済協會</a:t>
            </a:r>
          </a:p>
        </p:txBody>
      </p:sp>
      <p:sp>
        <p:nvSpPr>
          <p:cNvPr id="73" name="Google Shape;12633;p6">
            <a:extLst>
              <a:ext uri="{FF2B5EF4-FFF2-40B4-BE49-F238E27FC236}">
                <a16:creationId xmlns:a16="http://schemas.microsoft.com/office/drawing/2014/main" id="{DA320C89-FB73-5102-52FD-FBB157C21AAF}"/>
              </a:ext>
            </a:extLst>
          </p:cNvPr>
          <p:cNvSpPr txBox="1"/>
          <p:nvPr/>
        </p:nvSpPr>
        <p:spPr>
          <a:xfrm>
            <a:off x="1431033" y="1704646"/>
            <a:ext cx="98380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生命保險協會</a:t>
            </a:r>
            <a:r>
              <a:rPr lang="en-US" altLang="zh-TW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(LIAJ, Life Insurance Association of Japan)</a:t>
            </a:r>
            <a:endParaRPr lang="zh-TW" altLang="en-US" sz="2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DF711D21-CAD2-A8A9-2EAE-52ECEAEA7DA8}"/>
              </a:ext>
            </a:extLst>
          </p:cNvPr>
          <p:cNvSpPr/>
          <p:nvPr/>
        </p:nvSpPr>
        <p:spPr>
          <a:xfrm>
            <a:off x="922867" y="1728871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Google Shape;12633;p6">
            <a:extLst>
              <a:ext uri="{FF2B5EF4-FFF2-40B4-BE49-F238E27FC236}">
                <a16:creationId xmlns:a16="http://schemas.microsoft.com/office/drawing/2014/main" id="{3F8FA81D-6423-CE77-EBF5-B9002A23414B}"/>
              </a:ext>
            </a:extLst>
          </p:cNvPr>
          <p:cNvSpPr txBox="1"/>
          <p:nvPr/>
        </p:nvSpPr>
        <p:spPr>
          <a:xfrm>
            <a:off x="1431034" y="2285938"/>
            <a:ext cx="801776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1908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年成為法人，日本逾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間主要生命保險公司加入</a:t>
            </a:r>
          </a:p>
        </p:txBody>
      </p:sp>
      <p:sp>
        <p:nvSpPr>
          <p:cNvPr id="76" name="Google Shape;12633;p6">
            <a:extLst>
              <a:ext uri="{FF2B5EF4-FFF2-40B4-BE49-F238E27FC236}">
                <a16:creationId xmlns:a16="http://schemas.microsoft.com/office/drawing/2014/main" id="{4BA36AFC-C0C5-5104-7DD8-19988FCDF988}"/>
              </a:ext>
            </a:extLst>
          </p:cNvPr>
          <p:cNvSpPr txBox="1"/>
          <p:nvPr/>
        </p:nvSpPr>
        <p:spPr>
          <a:xfrm>
            <a:off x="1431033" y="2980350"/>
            <a:ext cx="98380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損害保険協会</a:t>
            </a:r>
            <a:r>
              <a:rPr lang="en-US" altLang="zh-TW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(GIAJ, General Insurance Association of Japan)</a:t>
            </a:r>
            <a:endParaRPr lang="zh-TW" altLang="en-US" sz="2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7B3DE998-2B18-28F3-0185-07CBEBBB1B5D}"/>
              </a:ext>
            </a:extLst>
          </p:cNvPr>
          <p:cNvSpPr/>
          <p:nvPr/>
        </p:nvSpPr>
        <p:spPr>
          <a:xfrm>
            <a:off x="922867" y="3004575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Google Shape;12633;p6">
            <a:extLst>
              <a:ext uri="{FF2B5EF4-FFF2-40B4-BE49-F238E27FC236}">
                <a16:creationId xmlns:a16="http://schemas.microsoft.com/office/drawing/2014/main" id="{24AC8B9E-EE94-98F5-C5BE-DCD23255A1A5}"/>
              </a:ext>
            </a:extLst>
          </p:cNvPr>
          <p:cNvSpPr txBox="1"/>
          <p:nvPr/>
        </p:nvSpPr>
        <p:spPr>
          <a:xfrm>
            <a:off x="1431034" y="3561642"/>
            <a:ext cx="801776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1948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年成為法人，日本逾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間主要損害保險公司加入</a:t>
            </a:r>
          </a:p>
        </p:txBody>
      </p:sp>
      <p:sp>
        <p:nvSpPr>
          <p:cNvPr id="79" name="Google Shape;12633;p6">
            <a:extLst>
              <a:ext uri="{FF2B5EF4-FFF2-40B4-BE49-F238E27FC236}">
                <a16:creationId xmlns:a16="http://schemas.microsoft.com/office/drawing/2014/main" id="{4B3967C8-CC6F-74B3-8731-35153E557212}"/>
              </a:ext>
            </a:extLst>
          </p:cNvPr>
          <p:cNvSpPr txBox="1"/>
          <p:nvPr/>
        </p:nvSpPr>
        <p:spPr>
          <a:xfrm>
            <a:off x="1431033" y="4256054"/>
            <a:ext cx="98380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日本共済協会</a:t>
            </a:r>
            <a:r>
              <a:rPr lang="en-US" altLang="zh-TW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(JCIA, Japan Cooperative Insurance Association)</a:t>
            </a:r>
            <a:endParaRPr lang="zh-TW" altLang="en-US" sz="2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03651837-1350-FC60-BEB4-91A81406F953}"/>
              </a:ext>
            </a:extLst>
          </p:cNvPr>
          <p:cNvSpPr/>
          <p:nvPr/>
        </p:nvSpPr>
        <p:spPr>
          <a:xfrm>
            <a:off x="922867" y="4280279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Google Shape;12633;p6">
            <a:extLst>
              <a:ext uri="{FF2B5EF4-FFF2-40B4-BE49-F238E27FC236}">
                <a16:creationId xmlns:a16="http://schemas.microsoft.com/office/drawing/2014/main" id="{F451CC29-D99E-E58E-0C52-D9C717D3872D}"/>
              </a:ext>
            </a:extLst>
          </p:cNvPr>
          <p:cNvSpPr txBox="1"/>
          <p:nvPr/>
        </p:nvSpPr>
        <p:spPr>
          <a:xfrm>
            <a:off x="1431034" y="4831045"/>
            <a:ext cx="801776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源自「互助」精神，屬非營利型保障制度，主要協助農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林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漁、勞工等社群</a:t>
            </a:r>
          </a:p>
        </p:txBody>
      </p:sp>
    </p:spTree>
    <p:extLst>
      <p:ext uri="{BB962C8B-B14F-4D97-AF65-F5344CB8AC3E}">
        <p14:creationId xmlns:p14="http://schemas.microsoft.com/office/powerpoint/2010/main" val="3814590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6E73-6F64-7FDF-400D-CE288208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E8D58B83-43C8-FA0E-FE6C-5EF10E697A8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8BBA6D7D-64B9-6035-45C7-589A56B5F535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0111EB59-BA38-3D43-DB42-49F60C4AD7FB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日本生保公司排序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(AFLAC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位列第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13)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29534791-F4AE-E0A6-8AAC-5D8062EC96A3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1AEB1439-48CC-6C84-3FDB-49D41F8106C7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保費收入之排序結果，並區分日系以及外資系公司</a:t>
            </a:r>
          </a:p>
        </p:txBody>
      </p:sp>
      <p:graphicFrame>
        <p:nvGraphicFramePr>
          <p:cNvPr id="31" name="圖表 30">
            <a:extLst>
              <a:ext uri="{FF2B5EF4-FFF2-40B4-BE49-F238E27FC236}">
                <a16:creationId xmlns:a16="http://schemas.microsoft.com/office/drawing/2014/main" id="{B42E97A1-895D-084A-D9C8-851AA80A9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357530"/>
              </p:ext>
            </p:extLst>
          </p:nvPr>
        </p:nvGraphicFramePr>
        <p:xfrm>
          <a:off x="6286498" y="1656848"/>
          <a:ext cx="5162551" cy="483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2E406C70-EF98-3FA2-65EF-AD6F66082A52}"/>
              </a:ext>
            </a:extLst>
          </p:cNvPr>
          <p:cNvSpPr/>
          <p:nvPr/>
        </p:nvSpPr>
        <p:spPr>
          <a:xfrm>
            <a:off x="6286499" y="1331913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保費收入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日圓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5D9DEBC-7A3D-BE57-8A99-6FC4E9989EA0}"/>
              </a:ext>
            </a:extLst>
          </p:cNvPr>
          <p:cNvSpPr/>
          <p:nvPr/>
        </p:nvSpPr>
        <p:spPr>
          <a:xfrm>
            <a:off x="742948" y="1331913"/>
            <a:ext cx="3851697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公司名稱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65F06BD-6C35-A9F5-2E4E-B9051844D3D0}"/>
              </a:ext>
            </a:extLst>
          </p:cNvPr>
          <p:cNvSpPr/>
          <p:nvPr/>
        </p:nvSpPr>
        <p:spPr>
          <a:xfrm>
            <a:off x="742948" y="173279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日本生命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B8C5EE8-6149-EFDF-C05D-CDE96C02D495}"/>
              </a:ext>
            </a:extLst>
          </p:cNvPr>
          <p:cNvSpPr/>
          <p:nvPr/>
        </p:nvSpPr>
        <p:spPr>
          <a:xfrm>
            <a:off x="742948" y="6171114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アフラック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(AFLAC)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69B036-5D9E-4B28-E1FF-41EF990675C9}"/>
              </a:ext>
            </a:extLst>
          </p:cNvPr>
          <p:cNvSpPr/>
          <p:nvPr/>
        </p:nvSpPr>
        <p:spPr>
          <a:xfrm>
            <a:off x="742948" y="210265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明治安田生命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29C28D-BB7D-1395-80DF-D98DE0338A40}"/>
              </a:ext>
            </a:extLst>
          </p:cNvPr>
          <p:cNvSpPr/>
          <p:nvPr/>
        </p:nvSpPr>
        <p:spPr>
          <a:xfrm>
            <a:off x="742948" y="247251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住友生命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ACD7F07-BF7E-0059-DD14-07E2F08442CC}"/>
              </a:ext>
            </a:extLst>
          </p:cNvPr>
          <p:cNvSpPr/>
          <p:nvPr/>
        </p:nvSpPr>
        <p:spPr>
          <a:xfrm>
            <a:off x="742948" y="284237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簡保生命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169BFEB-499B-1081-44C8-BB7B5A82E119}"/>
              </a:ext>
            </a:extLst>
          </p:cNvPr>
          <p:cNvSpPr/>
          <p:nvPr/>
        </p:nvSpPr>
        <p:spPr>
          <a:xfrm>
            <a:off x="742948" y="321223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第一フロンティア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0D14F14-0355-8BC7-1EA3-B18839D08F6F}"/>
              </a:ext>
            </a:extLst>
          </p:cNvPr>
          <p:cNvSpPr/>
          <p:nvPr/>
        </p:nvSpPr>
        <p:spPr>
          <a:xfrm>
            <a:off x="742948" y="358209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メットライフ生命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(MET)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D2129E5-C2CA-5D01-C610-BA8D51B2F16F}"/>
              </a:ext>
            </a:extLst>
          </p:cNvPr>
          <p:cNvSpPr/>
          <p:nvPr/>
        </p:nvSpPr>
        <p:spPr>
          <a:xfrm>
            <a:off x="742948" y="395195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第一生命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195D4DD-B549-BD8C-9A7B-A91778410094}"/>
              </a:ext>
            </a:extLst>
          </p:cNvPr>
          <p:cNvSpPr/>
          <p:nvPr/>
        </p:nvSpPr>
        <p:spPr>
          <a:xfrm>
            <a:off x="742948" y="432181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PGF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(Prudential Gibraltar Financial)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880668E-F4AC-FBAB-B947-301F0E6F2104}"/>
              </a:ext>
            </a:extLst>
          </p:cNvPr>
          <p:cNvSpPr/>
          <p:nvPr/>
        </p:nvSpPr>
        <p:spPr>
          <a:xfrm>
            <a:off x="742948" y="506153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ニッセイ・ウェルス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(Nissay Wealth)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D216EFE-7257-CC0F-7115-2E232FF51F33}"/>
              </a:ext>
            </a:extLst>
          </p:cNvPr>
          <p:cNvSpPr/>
          <p:nvPr/>
        </p:nvSpPr>
        <p:spPr>
          <a:xfrm>
            <a:off x="742948" y="543139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プルデンシャル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ja-JP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(Prudential)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A3AAF27-2CB4-22A1-0EB6-84A6E88EDD5C}"/>
              </a:ext>
            </a:extLst>
          </p:cNvPr>
          <p:cNvSpPr/>
          <p:nvPr/>
        </p:nvSpPr>
        <p:spPr>
          <a:xfrm>
            <a:off x="742948" y="580125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三井住友海上プライマリー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(Primary)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E3E4660-A992-E7C3-E420-7A10CDCDA0BD}"/>
              </a:ext>
            </a:extLst>
          </p:cNvPr>
          <p:cNvSpPr/>
          <p:nvPr/>
        </p:nvSpPr>
        <p:spPr>
          <a:xfrm>
            <a:off x="742948" y="4691675"/>
            <a:ext cx="3851697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ソニー</a:t>
            </a:r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生命</a:t>
            </a:r>
            <a:r>
              <a:rPr lang="zh-TW" altLang="en-US" sz="10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(Sony)</a:t>
            </a:r>
            <a:endParaRPr lang="zh-TW" altLang="en-US" sz="1600" dirty="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502C368-FE7E-536C-D773-F6CF6F338810}"/>
              </a:ext>
            </a:extLst>
          </p:cNvPr>
          <p:cNvSpPr/>
          <p:nvPr/>
        </p:nvSpPr>
        <p:spPr>
          <a:xfrm>
            <a:off x="4683806" y="1331913"/>
            <a:ext cx="1513532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國家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D59F51C-E90F-9E73-95FA-31114C318D08}"/>
              </a:ext>
            </a:extLst>
          </p:cNvPr>
          <p:cNvSpPr/>
          <p:nvPr/>
        </p:nvSpPr>
        <p:spPr>
          <a:xfrm>
            <a:off x="4683805" y="173279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F0E0954-0AE9-32B3-90EC-E5B5C77B2A68}"/>
              </a:ext>
            </a:extLst>
          </p:cNvPr>
          <p:cNvSpPr/>
          <p:nvPr/>
        </p:nvSpPr>
        <p:spPr>
          <a:xfrm>
            <a:off x="4683805" y="6171114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美系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02DC2E6-02A2-1F55-6AE5-AE853A95E634}"/>
              </a:ext>
            </a:extLst>
          </p:cNvPr>
          <p:cNvSpPr/>
          <p:nvPr/>
        </p:nvSpPr>
        <p:spPr>
          <a:xfrm>
            <a:off x="4683805" y="210265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906BE54-D0E9-9B2F-63D5-2E34B811FBC1}"/>
              </a:ext>
            </a:extLst>
          </p:cNvPr>
          <p:cNvSpPr/>
          <p:nvPr/>
        </p:nvSpPr>
        <p:spPr>
          <a:xfrm>
            <a:off x="4683805" y="247251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B6F8AD3-801C-CB2D-8EFF-D2E4CAF81100}"/>
              </a:ext>
            </a:extLst>
          </p:cNvPr>
          <p:cNvSpPr/>
          <p:nvPr/>
        </p:nvSpPr>
        <p:spPr>
          <a:xfrm>
            <a:off x="4683805" y="284237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5B42F3B-DFA1-6FE5-0CA0-136CD9A37EBF}"/>
              </a:ext>
            </a:extLst>
          </p:cNvPr>
          <p:cNvSpPr/>
          <p:nvPr/>
        </p:nvSpPr>
        <p:spPr>
          <a:xfrm>
            <a:off x="4683805" y="321223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2FF98AA-33AB-43E7-E4C6-A869BCF0CE60}"/>
              </a:ext>
            </a:extLst>
          </p:cNvPr>
          <p:cNvSpPr/>
          <p:nvPr/>
        </p:nvSpPr>
        <p:spPr>
          <a:xfrm>
            <a:off x="4683805" y="358209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90DD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美系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4B1D59-827B-DB42-4363-5E49C08DCC90}"/>
              </a:ext>
            </a:extLst>
          </p:cNvPr>
          <p:cNvSpPr/>
          <p:nvPr/>
        </p:nvSpPr>
        <p:spPr>
          <a:xfrm>
            <a:off x="4683805" y="395195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2E3D318-1AB5-0553-C318-00D29BA19825}"/>
              </a:ext>
            </a:extLst>
          </p:cNvPr>
          <p:cNvSpPr/>
          <p:nvPr/>
        </p:nvSpPr>
        <p:spPr>
          <a:xfrm>
            <a:off x="4683805" y="432181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90DD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D62B535-BF80-999F-6B63-59C67E33E627}"/>
              </a:ext>
            </a:extLst>
          </p:cNvPr>
          <p:cNvSpPr/>
          <p:nvPr/>
        </p:nvSpPr>
        <p:spPr>
          <a:xfrm>
            <a:off x="4683805" y="469167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0A0EDE7-7D6A-6EBA-C3E3-4B628929AF31}"/>
              </a:ext>
            </a:extLst>
          </p:cNvPr>
          <p:cNvSpPr/>
          <p:nvPr/>
        </p:nvSpPr>
        <p:spPr>
          <a:xfrm>
            <a:off x="4683805" y="506153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386B816-BE96-B9B8-90A1-703CF0C843DB}"/>
              </a:ext>
            </a:extLst>
          </p:cNvPr>
          <p:cNvSpPr/>
          <p:nvPr/>
        </p:nvSpPr>
        <p:spPr>
          <a:xfrm>
            <a:off x="4683805" y="543139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90DD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美系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346D466-F914-5DF9-3F94-D260F6C52060}"/>
              </a:ext>
            </a:extLst>
          </p:cNvPr>
          <p:cNvSpPr/>
          <p:nvPr/>
        </p:nvSpPr>
        <p:spPr>
          <a:xfrm>
            <a:off x="4683805" y="5801255"/>
            <a:ext cx="1513532" cy="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</a:t>
            </a:r>
          </a:p>
        </p:txBody>
      </p:sp>
      <p:sp>
        <p:nvSpPr>
          <p:cNvPr id="72" name="等腰三角形 71">
            <a:extLst>
              <a:ext uri="{FF2B5EF4-FFF2-40B4-BE49-F238E27FC236}">
                <a16:creationId xmlns:a16="http://schemas.microsoft.com/office/drawing/2014/main" id="{426C6F24-ACAC-1339-40BD-790D6752EB93}"/>
              </a:ext>
            </a:extLst>
          </p:cNvPr>
          <p:cNvSpPr/>
          <p:nvPr/>
        </p:nvSpPr>
        <p:spPr>
          <a:xfrm rot="5400000">
            <a:off x="1407485" y="6212347"/>
            <a:ext cx="222336" cy="191669"/>
          </a:xfrm>
          <a:prstGeom prst="triangle">
            <a:avLst/>
          </a:prstGeom>
          <a:gradFill>
            <a:gsLst>
              <a:gs pos="0">
                <a:srgbClr val="15BD8E">
                  <a:alpha val="22000"/>
                </a:srgbClr>
              </a:gs>
              <a:gs pos="74000">
                <a:srgbClr val="15BD8E">
                  <a:alpha val="58000"/>
                </a:srgbClr>
              </a:gs>
              <a:gs pos="100000">
                <a:srgbClr val="15BD8E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32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0490-524A-57A5-09C8-ED731B85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EE6728E6-F394-CE55-D8F8-BB9C5888A27C}"/>
              </a:ext>
            </a:extLst>
          </p:cNvPr>
          <p:cNvGrpSpPr/>
          <p:nvPr/>
        </p:nvGrpSpPr>
        <p:grpSpPr>
          <a:xfrm>
            <a:off x="1437961" y="1566168"/>
            <a:ext cx="9316072" cy="1232965"/>
            <a:chOff x="1437964" y="4396310"/>
            <a:chExt cx="9316072" cy="1232965"/>
          </a:xfrm>
          <a:effectLst/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7FB5B2-4FE1-F525-20DD-5569863095B7}"/>
                </a:ext>
              </a:extLst>
            </p:cNvPr>
            <p:cNvSpPr/>
            <p:nvPr/>
          </p:nvSpPr>
          <p:spPr>
            <a:xfrm>
              <a:off x="1437964" y="4396310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國家層級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90EDBB4-575C-F76F-5ABC-9241ED1820AD}"/>
                </a:ext>
              </a:extLst>
            </p:cNvPr>
            <p:cNvSpPr/>
            <p:nvPr/>
          </p:nvSpPr>
          <p:spPr>
            <a:xfrm>
              <a:off x="1437964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保險滲透率 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x 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密度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41A1358-B295-7ABC-8B87-3158255CAA03}"/>
                </a:ext>
              </a:extLst>
            </p:cNvPr>
            <p:cNvSpPr/>
            <p:nvPr/>
          </p:nvSpPr>
          <p:spPr>
            <a:xfrm>
              <a:off x="4563677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公保、社保制度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CE77990-937A-7414-A08F-0500C54DDB27}"/>
                </a:ext>
              </a:extLst>
            </p:cNvPr>
            <p:cNvSpPr/>
            <p:nvPr/>
          </p:nvSpPr>
          <p:spPr>
            <a:xfrm>
              <a:off x="7689389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秩序、創新監理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D187807-37DB-02AD-58AE-D8056EB2D660}"/>
              </a:ext>
            </a:extLst>
          </p:cNvPr>
          <p:cNvGrpSpPr/>
          <p:nvPr/>
        </p:nvGrpSpPr>
        <p:grpSpPr>
          <a:xfrm>
            <a:off x="1437961" y="2964953"/>
            <a:ext cx="9316073" cy="1232965"/>
            <a:chOff x="1437961" y="2964953"/>
            <a:chExt cx="9316073" cy="1232965"/>
          </a:xfrm>
          <a:effectLst/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386F9E7-DCC3-2BFE-BD5B-B795F3274294}"/>
                </a:ext>
              </a:extLst>
            </p:cNvPr>
            <p:cNvSpPr/>
            <p:nvPr/>
          </p:nvSpPr>
          <p:spPr>
            <a:xfrm>
              <a:off x="1437961" y="2964953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產業層級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A98C442-9BF5-EFCB-01F9-F2701B0E1ABE}"/>
                </a:ext>
              </a:extLst>
            </p:cNvPr>
            <p:cNvSpPr/>
            <p:nvPr/>
          </p:nvSpPr>
          <p:spPr>
            <a:xfrm>
              <a:off x="1437961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公會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壽險、產險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989E011-08B6-926D-9A13-3316CEC43DC8}"/>
                </a:ext>
              </a:extLst>
            </p:cNvPr>
            <p:cNvSpPr/>
            <p:nvPr/>
          </p:nvSpPr>
          <p:spPr>
            <a:xfrm>
              <a:off x="6124573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市佔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本土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、外商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75EAF8D-3320-0E9B-6CDF-FA3C6FFDBB75}"/>
              </a:ext>
            </a:extLst>
          </p:cNvPr>
          <p:cNvSpPr/>
          <p:nvPr/>
        </p:nvSpPr>
        <p:spPr>
          <a:xfrm>
            <a:off x="1437961" y="1566168"/>
            <a:ext cx="9316073" cy="26317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8F5B6FF6-17DE-7370-BC68-D8D9A3E654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5A42DB33-4D0C-D6EC-4945-315FB0594C57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2CFCE145-6DBD-D190-9275-CEBF18EC9333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保險公司研究架構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98ED9B3A-26E5-C8ED-844F-22A8BB153FB5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78BA1686-0E9C-6BBE-CF40-ED708D4FB5B8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可分為國家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產業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公司三層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DFE81A-08A5-B2F9-3FCA-4A43A4C231FA}"/>
              </a:ext>
            </a:extLst>
          </p:cNvPr>
          <p:cNvSpPr/>
          <p:nvPr/>
        </p:nvSpPr>
        <p:spPr>
          <a:xfrm>
            <a:off x="1437962" y="4363737"/>
            <a:ext cx="9316072" cy="360948"/>
          </a:xfrm>
          <a:prstGeom prst="rect">
            <a:avLst/>
          </a:prstGeom>
          <a:solidFill>
            <a:srgbClr val="15BD8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公司層級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A2A001-27D9-8E39-168E-C91F2CE83FFF}"/>
              </a:ext>
            </a:extLst>
          </p:cNvPr>
          <p:cNvSpPr/>
          <p:nvPr/>
        </p:nvSpPr>
        <p:spPr>
          <a:xfrm>
            <a:off x="1437961" y="4788185"/>
            <a:ext cx="4629461" cy="808517"/>
          </a:xfrm>
          <a:prstGeom prst="rect">
            <a:avLst/>
          </a:prstGeom>
          <a:solidFill>
            <a:srgbClr val="E7F5F0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業務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通路、產品、核保、理賠、服務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65265E-F579-26F7-7835-18AF94610EE5}"/>
              </a:ext>
            </a:extLst>
          </p:cNvPr>
          <p:cNvSpPr/>
          <p:nvPr/>
        </p:nvSpPr>
        <p:spPr>
          <a:xfrm>
            <a:off x="6124573" y="4788185"/>
            <a:ext cx="4629461" cy="808517"/>
          </a:xfrm>
          <a:prstGeom prst="rect">
            <a:avLst/>
          </a:prstGeom>
          <a:solidFill>
            <a:srgbClr val="E7F5F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財務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三表、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TA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EPS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ROA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ROE)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044E9-DDE2-56D1-B370-61FCC8488352}"/>
              </a:ext>
            </a:extLst>
          </p:cNvPr>
          <p:cNvSpPr/>
          <p:nvPr/>
        </p:nvSpPr>
        <p:spPr>
          <a:xfrm>
            <a:off x="6124572" y="4788184"/>
            <a:ext cx="4629462" cy="8085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51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78F3-9BCA-D6C3-3E20-DD5537E9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11291AE8-F9B9-EB96-200D-49C1DE8BB0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82692FB0-4F4B-45CC-D035-978BF787A19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0028D91A-D6E4-B9D2-C5AB-508EDBF5A0A4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日本、美國與國壽的基本資訊比較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84C7A1D6-0037-14AE-A281-AB9BC50FF968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11897B58-94BF-4A4B-6F4D-71AF223A782F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主推補充型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第三類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</a:t>
            </a:r>
            <a:r>
              <a:rPr lang="zh-TW" altLang="en-US" sz="12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日本策略聯盟是其重要銷售模式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56D4AD-4DCA-09CA-22CC-718F1AB9B924}"/>
              </a:ext>
            </a:extLst>
          </p:cNvPr>
          <p:cNvSpPr/>
          <p:nvPr/>
        </p:nvSpPr>
        <p:spPr>
          <a:xfrm>
            <a:off x="455094" y="1842835"/>
            <a:ext cx="895901" cy="69985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創立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7E8D62-DB6A-BADA-B1A6-68E773298EE0}"/>
              </a:ext>
            </a:extLst>
          </p:cNvPr>
          <p:cNvSpPr/>
          <p:nvPr/>
        </p:nvSpPr>
        <p:spPr>
          <a:xfrm>
            <a:off x="135099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Japan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9D44D7-108C-7248-06F3-EA87151CB320}"/>
              </a:ext>
            </a:extLst>
          </p:cNvPr>
          <p:cNvSpPr/>
          <p:nvPr/>
        </p:nvSpPr>
        <p:spPr>
          <a:xfrm>
            <a:off x="827493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國泰人壽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8E7924-96ED-4343-7CF6-F371723E5F1B}"/>
              </a:ext>
            </a:extLst>
          </p:cNvPr>
          <p:cNvSpPr/>
          <p:nvPr/>
        </p:nvSpPr>
        <p:spPr>
          <a:xfrm>
            <a:off x="1350997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1974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5A13E6-E99C-2879-CBDC-E4F31AFA2C89}"/>
              </a:ext>
            </a:extLst>
          </p:cNvPr>
          <p:cNvSpPr/>
          <p:nvPr/>
        </p:nvSpPr>
        <p:spPr>
          <a:xfrm>
            <a:off x="8274938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1962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D11C41-0FA7-6F86-55E1-E4C8D9C74893}"/>
              </a:ext>
            </a:extLst>
          </p:cNvPr>
          <p:cNvSpPr/>
          <p:nvPr/>
        </p:nvSpPr>
        <p:spPr>
          <a:xfrm>
            <a:off x="455094" y="1468496"/>
            <a:ext cx="895901" cy="36929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15622E6-1B4C-E0A0-7ADE-9969FD8B17B3}"/>
              </a:ext>
            </a:extLst>
          </p:cNvPr>
          <p:cNvSpPr/>
          <p:nvPr/>
        </p:nvSpPr>
        <p:spPr>
          <a:xfrm>
            <a:off x="4812968" y="1468496"/>
            <a:ext cx="3461969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U.S.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E44F26-E739-E7D2-5988-4E9D98E7D7BD}"/>
              </a:ext>
            </a:extLst>
          </p:cNvPr>
          <p:cNvSpPr/>
          <p:nvPr/>
        </p:nvSpPr>
        <p:spPr>
          <a:xfrm>
            <a:off x="4812968" y="18428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1955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EAA7D76-BA8E-01F6-AD3E-C972FF17E30E}"/>
              </a:ext>
            </a:extLst>
          </p:cNvPr>
          <p:cNvSpPr/>
          <p:nvPr/>
        </p:nvSpPr>
        <p:spPr>
          <a:xfrm>
            <a:off x="455092" y="2542690"/>
            <a:ext cx="895901" cy="69985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保單數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047FD11-54EA-9F1A-74B8-D9004BA74996}"/>
              </a:ext>
            </a:extLst>
          </p:cNvPr>
          <p:cNvSpPr/>
          <p:nvPr/>
        </p:nvSpPr>
        <p:spPr>
          <a:xfrm>
            <a:off x="1350995" y="2542690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約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2,200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萬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B369C9-53D3-8D42-8BE3-3AAE68F735DA}"/>
              </a:ext>
            </a:extLst>
          </p:cNvPr>
          <p:cNvSpPr/>
          <p:nvPr/>
        </p:nvSpPr>
        <p:spPr>
          <a:xfrm>
            <a:off x="8274936" y="2542690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約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2,180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萬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33131EE-6576-A39A-6F2D-69EA35928FC2}"/>
              </a:ext>
            </a:extLst>
          </p:cNvPr>
          <p:cNvSpPr/>
          <p:nvPr/>
        </p:nvSpPr>
        <p:spPr>
          <a:xfrm>
            <a:off x="4812966" y="2542690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2,000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萬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4A316F1-6161-727F-F08D-BBEC2F12B861}"/>
              </a:ext>
            </a:extLst>
          </p:cNvPr>
          <p:cNvSpPr/>
          <p:nvPr/>
        </p:nvSpPr>
        <p:spPr>
          <a:xfrm>
            <a:off x="455092" y="3942398"/>
            <a:ext cx="895901" cy="1178945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業務</a:t>
            </a:r>
            <a:endParaRPr lang="en-US" altLang="zh-TW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特性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CF6C875-9C33-8039-D8D9-5BE305C9B7F2}"/>
              </a:ext>
            </a:extLst>
          </p:cNvPr>
          <p:cNvSpPr/>
          <p:nvPr/>
        </p:nvSpPr>
        <p:spPr>
          <a:xfrm>
            <a:off x="1350995" y="3942399"/>
            <a:ext cx="3461969" cy="1178943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與日本郵政、第一生命保險等企業的 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策略聯盟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占新契約保收達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50%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689E576-17C1-7B4A-4B51-8868F4D76FD6}"/>
              </a:ext>
            </a:extLst>
          </p:cNvPr>
          <p:cNvSpPr/>
          <p:nvPr/>
        </p:nvSpPr>
        <p:spPr>
          <a:xfrm>
            <a:off x="8274936" y="3942399"/>
            <a:ext cx="3461969" cy="1178943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具業務員、直效、保代、團險、網投等完善通路。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CC9140A-8618-B738-1F3C-1257E8F5088F}"/>
              </a:ext>
            </a:extLst>
          </p:cNvPr>
          <p:cNvSpPr/>
          <p:nvPr/>
        </p:nvSpPr>
        <p:spPr>
          <a:xfrm>
            <a:off x="4812966" y="3942399"/>
            <a:ext cx="3461969" cy="1178943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Brokers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主打中大型企業的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補充型保險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，並積極開創數位通路獲客。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5F35EA-4EDB-2570-0235-9315A12F5C2B}"/>
              </a:ext>
            </a:extLst>
          </p:cNvPr>
          <p:cNvSpPr/>
          <p:nvPr/>
        </p:nvSpPr>
        <p:spPr>
          <a:xfrm>
            <a:off x="455092" y="3243535"/>
            <a:ext cx="895901" cy="69985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續保率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6B2E41-3827-221D-CDCE-F1C3913E4861}"/>
              </a:ext>
            </a:extLst>
          </p:cNvPr>
          <p:cNvSpPr/>
          <p:nvPr/>
        </p:nvSpPr>
        <p:spPr>
          <a:xfrm>
            <a:off x="1350995" y="32435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5B4906-C825-5A09-17CC-0840D09523E2}"/>
              </a:ext>
            </a:extLst>
          </p:cNvPr>
          <p:cNvSpPr/>
          <p:nvPr/>
        </p:nvSpPr>
        <p:spPr>
          <a:xfrm>
            <a:off x="8274936" y="32435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1606CA-DC33-3EDC-2345-F93287123733}"/>
              </a:ext>
            </a:extLst>
          </p:cNvPr>
          <p:cNvSpPr/>
          <p:nvPr/>
        </p:nvSpPr>
        <p:spPr>
          <a:xfrm>
            <a:off x="4812966" y="3243535"/>
            <a:ext cx="3461969" cy="699855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636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B575-939B-8CC4-74CE-558363469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052430A5-F6CA-0D73-E696-44940BA909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DD9E60F4-8A82-4FC7-FD22-75F2DBA99E8B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7771B113-7391-D986-467A-C73DDA4C6C25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日本的五大銷售通路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30D8C62E-F2E4-A1FE-C0BF-C0B8F22E6100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4C3D17F6-5917-235A-C67A-49BBCD1B1A41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包含金融機構、代理、直營以及企業團險等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71FF43-F75B-14E4-9FB9-C639C7D3C5A8}"/>
              </a:ext>
            </a:extLst>
          </p:cNvPr>
          <p:cNvSpPr/>
          <p:nvPr/>
        </p:nvSpPr>
        <p:spPr>
          <a:xfrm>
            <a:off x="455094" y="1842834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金融機構</a:t>
            </a:r>
            <a:endParaRPr lang="en-US" altLang="zh-TW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BAA423-477C-EDA6-8DD0-35ABE21BDA04}"/>
              </a:ext>
            </a:extLst>
          </p:cNvPr>
          <p:cNvSpPr/>
          <p:nvPr/>
        </p:nvSpPr>
        <p:spPr>
          <a:xfrm>
            <a:off x="1350998" y="1468496"/>
            <a:ext cx="5403486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34B861-9C1E-91E1-CA80-00B6D92BE68B}"/>
              </a:ext>
            </a:extLst>
          </p:cNvPr>
          <p:cNvSpPr/>
          <p:nvPr/>
        </p:nvSpPr>
        <p:spPr>
          <a:xfrm>
            <a:off x="6754485" y="1468496"/>
            <a:ext cx="4982422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範例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CF28FD-C888-77D3-4FBD-A6598F730F72}"/>
              </a:ext>
            </a:extLst>
          </p:cNvPr>
          <p:cNvSpPr/>
          <p:nvPr/>
        </p:nvSpPr>
        <p:spPr>
          <a:xfrm>
            <a:off x="1350997" y="1842835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由銀行、證券公司等金融機構代為銷售保險商品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90%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銀行與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Bancassurance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5B0E6A-FD37-A864-F6A4-66460B4B3117}"/>
              </a:ext>
            </a:extLst>
          </p:cNvPr>
          <p:cNvSpPr/>
          <p:nvPr/>
        </p:nvSpPr>
        <p:spPr>
          <a:xfrm>
            <a:off x="6754485" y="1842835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三菱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UFJ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銀行理專銷售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509C89E-0FA7-A34E-D0B0-45D4461BC8B4}"/>
              </a:ext>
            </a:extLst>
          </p:cNvPr>
          <p:cNvSpPr/>
          <p:nvPr/>
        </p:nvSpPr>
        <p:spPr>
          <a:xfrm>
            <a:off x="455094" y="1468496"/>
            <a:ext cx="895901" cy="36929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8C7E28-BD4F-3227-078E-230DFB6B5FED}"/>
              </a:ext>
            </a:extLst>
          </p:cNvPr>
          <p:cNvSpPr/>
          <p:nvPr/>
        </p:nvSpPr>
        <p:spPr>
          <a:xfrm>
            <a:off x="455094" y="2704692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策略聯盟</a:t>
            </a:r>
            <a:endParaRPr lang="en-US" altLang="zh-TW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0697E0C-E9C9-0F8F-B467-EAB257544D7F}"/>
              </a:ext>
            </a:extLst>
          </p:cNvPr>
          <p:cNvSpPr/>
          <p:nvPr/>
        </p:nvSpPr>
        <p:spPr>
          <a:xfrm>
            <a:off x="1350997" y="2704693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與郵政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生保公司等同業協同銷售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提攜チャネル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與超過兩萬郵政據點、三萬第一生命業務合作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4D2221-A058-0E85-7E91-77DBD4F72A3B}"/>
              </a:ext>
            </a:extLst>
          </p:cNvPr>
          <p:cNvSpPr/>
          <p:nvPr/>
        </p:nvSpPr>
        <p:spPr>
          <a:xfrm>
            <a:off x="6754485" y="2704693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日系生保公司主約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附約的搭售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2BC0A54-B3C7-764D-7716-110277B6DEE9}"/>
              </a:ext>
            </a:extLst>
          </p:cNvPr>
          <p:cNvSpPr/>
          <p:nvPr/>
        </p:nvSpPr>
        <p:spPr>
          <a:xfrm>
            <a:off x="455092" y="3566549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代理通路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FAD356F-D7E1-BD53-96E0-D4353D53A47D}"/>
              </a:ext>
            </a:extLst>
          </p:cNvPr>
          <p:cNvSpPr/>
          <p:nvPr/>
        </p:nvSpPr>
        <p:spPr>
          <a:xfrm>
            <a:off x="1350995" y="3566550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如保險超市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保険ショップ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、車商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房仲協同銷售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包括法人代理店、個人代理店共計逾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6,600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間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462B54E-01E6-C503-4481-8CD2A8C5587E}"/>
              </a:ext>
            </a:extLst>
          </p:cNvPr>
          <p:cNvSpPr/>
          <p:nvPr/>
        </p:nvSpPr>
        <p:spPr>
          <a:xfrm>
            <a:off x="6754483" y="3566550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於站前保險超市比較方案，選定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B88061-B433-AB10-2C8C-A4D87A7B51B8}"/>
              </a:ext>
            </a:extLst>
          </p:cNvPr>
          <p:cNvSpPr/>
          <p:nvPr/>
        </p:nvSpPr>
        <p:spPr>
          <a:xfrm>
            <a:off x="455092" y="4428407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直營通路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D5D0A7-E18A-4C88-B5C6-BA5E0A38BBE2}"/>
              </a:ext>
            </a:extLst>
          </p:cNvPr>
          <p:cNvSpPr/>
          <p:nvPr/>
        </p:nvSpPr>
        <p:spPr>
          <a:xfrm>
            <a:off x="1350995" y="4428408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包含店舗相談、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オンライン申込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網路投保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等通路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87900-DBC9-9FE9-9C11-63479C0F2BDD}"/>
              </a:ext>
            </a:extLst>
          </p:cNvPr>
          <p:cNvSpPr/>
          <p:nvPr/>
        </p:nvSpPr>
        <p:spPr>
          <a:xfrm>
            <a:off x="6754483" y="4428408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客戶進入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店鋪、或於網路直接投保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FBDE63-EAA6-2BF9-857B-300FDC2D7CF3}"/>
              </a:ext>
            </a:extLst>
          </p:cNvPr>
          <p:cNvSpPr/>
          <p:nvPr/>
        </p:nvSpPr>
        <p:spPr>
          <a:xfrm>
            <a:off x="455092" y="5289159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企業團險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2BF4A8-5659-8250-274B-48819987AD6F}"/>
              </a:ext>
            </a:extLst>
          </p:cNvPr>
          <p:cNvSpPr/>
          <p:nvPr/>
        </p:nvSpPr>
        <p:spPr>
          <a:xfrm>
            <a:off x="1350995" y="5289160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職域営業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(Worksite Marketing)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是日本主力通路之一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7036D8-4684-291F-08BE-065389E75FC4}"/>
              </a:ext>
            </a:extLst>
          </p:cNvPr>
          <p:cNvSpPr/>
          <p:nvPr/>
        </p:nvSpPr>
        <p:spPr>
          <a:xfrm>
            <a:off x="6754483" y="5289160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人資邀請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在企業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內部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舉辦保険説明会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7068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7299-8831-A90C-1B63-0F9A8B38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A11E4E5-6AD6-4961-27A6-4BBCE6420E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272913D8-D4EA-29E2-1B62-F493EDD5ABC8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F33340E8-C8F5-D460-CA62-CE925D7DA0AC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日本的五大銷售通路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86DF9800-BE35-3B22-A220-3D387D682947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0A253F77-D441-461E-82B1-6797EBAB9612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包含金融機構、代理、直營以及企業團險等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7A258B-EB7B-B5FD-0B1B-8E447C516D00}"/>
              </a:ext>
            </a:extLst>
          </p:cNvPr>
          <p:cNvSpPr/>
          <p:nvPr/>
        </p:nvSpPr>
        <p:spPr>
          <a:xfrm>
            <a:off x="455094" y="1842834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金融機構</a:t>
            </a:r>
            <a:endParaRPr lang="en-US" altLang="zh-TW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448878-199E-35B4-132C-6827DDDD5674}"/>
              </a:ext>
            </a:extLst>
          </p:cNvPr>
          <p:cNvSpPr/>
          <p:nvPr/>
        </p:nvSpPr>
        <p:spPr>
          <a:xfrm>
            <a:off x="1350998" y="1468496"/>
            <a:ext cx="5403486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278C3D-14A8-F0A4-FAD4-C928807DAAC1}"/>
              </a:ext>
            </a:extLst>
          </p:cNvPr>
          <p:cNvSpPr/>
          <p:nvPr/>
        </p:nvSpPr>
        <p:spPr>
          <a:xfrm>
            <a:off x="6754485" y="1468496"/>
            <a:ext cx="4982422" cy="369291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範例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128558-B882-D4C8-225C-F71D328599CB}"/>
              </a:ext>
            </a:extLst>
          </p:cNvPr>
          <p:cNvSpPr/>
          <p:nvPr/>
        </p:nvSpPr>
        <p:spPr>
          <a:xfrm>
            <a:off x="1350997" y="1842835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由銀行、證券公司等金融機構代為銷售保險商品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90%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銀行與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Bancassurance</a:t>
            </a:r>
            <a:r>
              <a:rPr lang="zh-TW" altLang="en-US" sz="10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0BBAFB-CF66-4ECC-A3E5-50CD6425788E}"/>
              </a:ext>
            </a:extLst>
          </p:cNvPr>
          <p:cNvSpPr/>
          <p:nvPr/>
        </p:nvSpPr>
        <p:spPr>
          <a:xfrm>
            <a:off x="6754485" y="1842835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三菱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UFJ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銀行理專銷售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E722EC-B227-5942-EA1C-8E5C700FC24D}"/>
              </a:ext>
            </a:extLst>
          </p:cNvPr>
          <p:cNvSpPr/>
          <p:nvPr/>
        </p:nvSpPr>
        <p:spPr>
          <a:xfrm>
            <a:off x="455094" y="1468496"/>
            <a:ext cx="895901" cy="36929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rgbClr val="B4B4B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816667-5B0E-5B6B-AD3D-EF1EDD8657FA}"/>
              </a:ext>
            </a:extLst>
          </p:cNvPr>
          <p:cNvSpPr/>
          <p:nvPr/>
        </p:nvSpPr>
        <p:spPr>
          <a:xfrm>
            <a:off x="455094" y="2704692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策略聯盟</a:t>
            </a:r>
            <a:endParaRPr lang="en-US" altLang="zh-TW" sz="14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140B51-2722-FF8F-1B2B-394CAAB55775}"/>
              </a:ext>
            </a:extLst>
          </p:cNvPr>
          <p:cNvSpPr/>
          <p:nvPr/>
        </p:nvSpPr>
        <p:spPr>
          <a:xfrm>
            <a:off x="1350997" y="2704693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與郵政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生保公司等同業協同銷售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提攜チャネル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與超過兩萬郵政據點、三萬第一生命業務合作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858D4E-19C5-B1EC-F239-E56B327AE1EC}"/>
              </a:ext>
            </a:extLst>
          </p:cNvPr>
          <p:cNvSpPr/>
          <p:nvPr/>
        </p:nvSpPr>
        <p:spPr>
          <a:xfrm>
            <a:off x="6754485" y="2704693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日系生保公司主約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附約的搭售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9A1F1C-BE6A-2FBB-C35B-0FACC1807880}"/>
              </a:ext>
            </a:extLst>
          </p:cNvPr>
          <p:cNvSpPr/>
          <p:nvPr/>
        </p:nvSpPr>
        <p:spPr>
          <a:xfrm>
            <a:off x="455092" y="4428407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直營通路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D031B8-82A9-2A25-2E1C-C44C8A9AAB9A}"/>
              </a:ext>
            </a:extLst>
          </p:cNvPr>
          <p:cNvSpPr/>
          <p:nvPr/>
        </p:nvSpPr>
        <p:spPr>
          <a:xfrm>
            <a:off x="1350995" y="4428408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包含店舗相談、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オンライン申込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網路投保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等通路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79105A-7855-4CAA-E572-7C7A18BC88F8}"/>
              </a:ext>
            </a:extLst>
          </p:cNvPr>
          <p:cNvSpPr/>
          <p:nvPr/>
        </p:nvSpPr>
        <p:spPr>
          <a:xfrm>
            <a:off x="6754483" y="4428408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客戶進入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店鋪、或於網路直接投保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32251C-A7A8-D6DB-0C0C-5544CB24AB49}"/>
              </a:ext>
            </a:extLst>
          </p:cNvPr>
          <p:cNvSpPr/>
          <p:nvPr/>
        </p:nvSpPr>
        <p:spPr>
          <a:xfrm>
            <a:off x="455092" y="5289159"/>
            <a:ext cx="895901" cy="862963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企業團險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475904-9D09-6F6B-E0A3-AEE2EF5D0746}"/>
              </a:ext>
            </a:extLst>
          </p:cNvPr>
          <p:cNvSpPr/>
          <p:nvPr/>
        </p:nvSpPr>
        <p:spPr>
          <a:xfrm>
            <a:off x="1350995" y="5289160"/>
            <a:ext cx="5403486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職域営業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(Worksite Marketing)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是日本主力通路之一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0ABC9E-FD45-3970-B63F-E8A525AD6FCA}"/>
              </a:ext>
            </a:extLst>
          </p:cNvPr>
          <p:cNvSpPr/>
          <p:nvPr/>
        </p:nvSpPr>
        <p:spPr>
          <a:xfrm>
            <a:off x="6754483" y="5289160"/>
            <a:ext cx="4982422" cy="862962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人資邀請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在企業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內部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舉辦保険説明会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4C6003-4EC0-A3B5-F710-E1DA52777D56}"/>
              </a:ext>
            </a:extLst>
          </p:cNvPr>
          <p:cNvSpPr/>
          <p:nvPr/>
        </p:nvSpPr>
        <p:spPr>
          <a:xfrm>
            <a:off x="455093" y="1468496"/>
            <a:ext cx="11281812" cy="209805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01AF70-9698-5472-9D26-E723155E9633}"/>
              </a:ext>
            </a:extLst>
          </p:cNvPr>
          <p:cNvSpPr/>
          <p:nvPr/>
        </p:nvSpPr>
        <p:spPr>
          <a:xfrm>
            <a:off x="455092" y="4433453"/>
            <a:ext cx="11281812" cy="171866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8884136-BF72-65A3-2D55-85D19D421BD7}"/>
              </a:ext>
            </a:extLst>
          </p:cNvPr>
          <p:cNvSpPr/>
          <p:nvPr/>
        </p:nvSpPr>
        <p:spPr>
          <a:xfrm>
            <a:off x="455092" y="3566549"/>
            <a:ext cx="895901" cy="862963"/>
          </a:xfrm>
          <a:prstGeom prst="rect">
            <a:avLst/>
          </a:prstGeom>
          <a:solidFill>
            <a:schemeClr val="bg1"/>
          </a:solidFill>
          <a:ln w="635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代理通路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3F82685-E49C-FFF8-B637-A91344E89E1F}"/>
              </a:ext>
            </a:extLst>
          </p:cNvPr>
          <p:cNvSpPr/>
          <p:nvPr/>
        </p:nvSpPr>
        <p:spPr>
          <a:xfrm>
            <a:off x="1350995" y="3566550"/>
            <a:ext cx="5403486" cy="862962"/>
          </a:xfrm>
          <a:prstGeom prst="rect">
            <a:avLst/>
          </a:prstGeom>
          <a:solidFill>
            <a:srgbClr val="F1FBF8"/>
          </a:solidFill>
          <a:ln w="635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如保險超市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ja-JP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保険ショップ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、車商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房仲協同銷售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200"/>
              </a:spcAft>
            </a:pP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包括法人代理店、個人代理店共計逾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6,600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間</a:t>
            </a:r>
            <a:r>
              <a:rPr lang="en-US" altLang="zh-TW" sz="16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89055A9-9586-35AC-F1C3-D6F8DE6FAA40}"/>
              </a:ext>
            </a:extLst>
          </p:cNvPr>
          <p:cNvSpPr/>
          <p:nvPr/>
        </p:nvSpPr>
        <p:spPr>
          <a:xfrm>
            <a:off x="6754483" y="3566550"/>
            <a:ext cx="4982422" cy="862962"/>
          </a:xfrm>
          <a:prstGeom prst="rect">
            <a:avLst/>
          </a:prstGeom>
          <a:solidFill>
            <a:srgbClr val="F1FBF8"/>
          </a:solidFill>
          <a:ln w="635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於站前保險超市比較方案，選定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70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7275-B6AA-06D1-FBE4-05690702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4BE817F-A6FE-E57D-0B7E-AF4C67F6AB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12D8C018-1875-8B6D-D5F4-C82D4EF3BF7E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C6453CF0-8F90-AE31-B7E4-429E92E85C88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日本代理店舖與業務人數走勢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448F1639-1DC8-7449-B5C0-F656B5EB43C4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CA5F8264-6031-0FE0-2B5A-62B72CB03EAB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不論法人或個人代理店在過去五年均呈下降趨勢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D8230D-0158-8C5F-C250-65E00CDC23DA}"/>
              </a:ext>
            </a:extLst>
          </p:cNvPr>
          <p:cNvGrpSpPr/>
          <p:nvPr/>
        </p:nvGrpSpPr>
        <p:grpSpPr>
          <a:xfrm>
            <a:off x="503592" y="1747805"/>
            <a:ext cx="11184816" cy="4042031"/>
            <a:chOff x="503592" y="1669981"/>
            <a:chExt cx="11184816" cy="4042031"/>
          </a:xfrm>
        </p:grpSpPr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C07BB28E-4148-B4C4-EAF4-B3829AEB517E}"/>
                </a:ext>
              </a:extLst>
            </p:cNvPr>
            <p:cNvGrpSpPr/>
            <p:nvPr/>
          </p:nvGrpSpPr>
          <p:grpSpPr>
            <a:xfrm>
              <a:off x="503592" y="1669981"/>
              <a:ext cx="5640907" cy="4042031"/>
              <a:chOff x="455093" y="1669981"/>
              <a:chExt cx="5640907" cy="4042031"/>
            </a:xfrm>
          </p:grpSpPr>
          <p:graphicFrame>
            <p:nvGraphicFramePr>
              <p:cNvPr id="16" name="圖表 15">
                <a:extLst>
                  <a:ext uri="{FF2B5EF4-FFF2-40B4-BE49-F238E27FC236}">
                    <a16:creationId xmlns:a16="http://schemas.microsoft.com/office/drawing/2014/main" id="{2ABAD137-9F47-9593-A369-9D89190B9F7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07792000"/>
                  </p:ext>
                </p:extLst>
              </p:nvPr>
            </p:nvGraphicFramePr>
            <p:xfrm>
              <a:off x="455093" y="1823851"/>
              <a:ext cx="5640907" cy="388816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pSp>
            <p:nvGrpSpPr>
              <p:cNvPr id="29" name="群組 28">
                <a:extLst>
                  <a:ext uri="{FF2B5EF4-FFF2-40B4-BE49-F238E27FC236}">
                    <a16:creationId xmlns:a16="http://schemas.microsoft.com/office/drawing/2014/main" id="{4E6364BF-320F-156E-28C3-FEB7BD517F5C}"/>
                  </a:ext>
                </a:extLst>
              </p:cNvPr>
              <p:cNvGrpSpPr/>
              <p:nvPr/>
            </p:nvGrpSpPr>
            <p:grpSpPr>
              <a:xfrm>
                <a:off x="670803" y="1669981"/>
                <a:ext cx="4008228" cy="307737"/>
                <a:chOff x="2482071" y="1362689"/>
                <a:chExt cx="4008228" cy="307737"/>
              </a:xfrm>
            </p:grpSpPr>
            <p:sp>
              <p:nvSpPr>
                <p:cNvPr id="25" name="Google Shape;12633;p6">
                  <a:extLst>
                    <a:ext uri="{FF2B5EF4-FFF2-40B4-BE49-F238E27FC236}">
                      <a16:creationId xmlns:a16="http://schemas.microsoft.com/office/drawing/2014/main" id="{ADB4964E-6D0A-2D8D-842F-9044BD1A6201}"/>
                    </a:ext>
                  </a:extLst>
                </p:cNvPr>
                <p:cNvSpPr txBox="1"/>
                <p:nvPr/>
              </p:nvSpPr>
              <p:spPr>
                <a:xfrm>
                  <a:off x="2663046" y="1362690"/>
                  <a:ext cx="2055603" cy="3077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33" tIns="45700" rIns="91433" bIns="45700" anchor="ctr" anchorCtr="0">
                  <a:spAutoFit/>
                </a:bodyPr>
                <a:lstStyle/>
                <a:p>
                  <a:pPr algn="just"/>
                  <a:r>
                    <a:rPr lang="zh-TW" altLang="en-US" sz="1400" b="1" dirty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法人代理店</a:t>
                  </a:r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BAF3BF6-25E3-1308-AB15-00937BD0F817}"/>
                    </a:ext>
                  </a:extLst>
                </p:cNvPr>
                <p:cNvSpPr/>
                <p:nvPr/>
              </p:nvSpPr>
              <p:spPr>
                <a:xfrm>
                  <a:off x="2482071" y="1426070"/>
                  <a:ext cx="180975" cy="180975"/>
                </a:xfrm>
                <a:prstGeom prst="rect">
                  <a:avLst/>
                </a:prstGeom>
                <a:solidFill>
                  <a:srgbClr val="B6EB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7" name="Google Shape;12633;p6">
                  <a:extLst>
                    <a:ext uri="{FF2B5EF4-FFF2-40B4-BE49-F238E27FC236}">
                      <a16:creationId xmlns:a16="http://schemas.microsoft.com/office/drawing/2014/main" id="{950C760B-A3A5-115F-B620-E36DDF6CFC94}"/>
                    </a:ext>
                  </a:extLst>
                </p:cNvPr>
                <p:cNvSpPr txBox="1"/>
                <p:nvPr/>
              </p:nvSpPr>
              <p:spPr>
                <a:xfrm>
                  <a:off x="4434696" y="1362689"/>
                  <a:ext cx="2055603" cy="3077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33" tIns="45700" rIns="91433" bIns="45700" anchor="ctr" anchorCtr="0">
                  <a:spAutoFit/>
                </a:bodyPr>
                <a:lstStyle/>
                <a:p>
                  <a:pPr algn="just"/>
                  <a:r>
                    <a:rPr lang="zh-TW" altLang="en-US" sz="1400" b="1" dirty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個人代理店</a:t>
                  </a: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5AF6E61B-DF4C-4A01-C327-B9600900F523}"/>
                    </a:ext>
                  </a:extLst>
                </p:cNvPr>
                <p:cNvSpPr/>
                <p:nvPr/>
              </p:nvSpPr>
              <p:spPr>
                <a:xfrm>
                  <a:off x="4253721" y="1426069"/>
                  <a:ext cx="180975" cy="180975"/>
                </a:xfrm>
                <a:prstGeom prst="rect">
                  <a:avLst/>
                </a:prstGeom>
                <a:solidFill>
                  <a:srgbClr val="CFCFC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F06A668-1ED9-0A1F-CF80-9D1D08AA9735}"/>
                </a:ext>
              </a:extLst>
            </p:cNvPr>
            <p:cNvGrpSpPr/>
            <p:nvPr/>
          </p:nvGrpSpPr>
          <p:grpSpPr>
            <a:xfrm>
              <a:off x="6047501" y="1669981"/>
              <a:ext cx="5640907" cy="4042031"/>
              <a:chOff x="6047501" y="1669981"/>
              <a:chExt cx="5640907" cy="4042031"/>
            </a:xfrm>
          </p:grpSpPr>
          <p:graphicFrame>
            <p:nvGraphicFramePr>
              <p:cNvPr id="37" name="圖表 36">
                <a:extLst>
                  <a:ext uri="{FF2B5EF4-FFF2-40B4-BE49-F238E27FC236}">
                    <a16:creationId xmlns:a16="http://schemas.microsoft.com/office/drawing/2014/main" id="{34EF20FD-D834-F521-F1D6-7C89847DF5A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16089209"/>
                  </p:ext>
                </p:extLst>
              </p:nvPr>
            </p:nvGraphicFramePr>
            <p:xfrm>
              <a:off x="6047501" y="1823851"/>
              <a:ext cx="5640907" cy="388816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7B558ACE-9F96-2A62-64EA-63F51DB1A761}"/>
                  </a:ext>
                </a:extLst>
              </p:cNvPr>
              <p:cNvGrpSpPr/>
              <p:nvPr/>
            </p:nvGrpSpPr>
            <p:grpSpPr>
              <a:xfrm>
                <a:off x="6263211" y="1669981"/>
                <a:ext cx="4008228" cy="307737"/>
                <a:chOff x="2482071" y="1362689"/>
                <a:chExt cx="4008228" cy="307737"/>
              </a:xfrm>
            </p:grpSpPr>
            <p:sp>
              <p:nvSpPr>
                <p:cNvPr id="39" name="Google Shape;12633;p6">
                  <a:extLst>
                    <a:ext uri="{FF2B5EF4-FFF2-40B4-BE49-F238E27FC236}">
                      <a16:creationId xmlns:a16="http://schemas.microsoft.com/office/drawing/2014/main" id="{45B9AEB4-0931-9E17-8B7A-5B831E72B708}"/>
                    </a:ext>
                  </a:extLst>
                </p:cNvPr>
                <p:cNvSpPr txBox="1"/>
                <p:nvPr/>
              </p:nvSpPr>
              <p:spPr>
                <a:xfrm>
                  <a:off x="2663046" y="1362690"/>
                  <a:ext cx="2055603" cy="3077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33" tIns="45700" rIns="91433" bIns="45700" anchor="ctr" anchorCtr="0">
                  <a:spAutoFit/>
                </a:bodyPr>
                <a:lstStyle/>
                <a:p>
                  <a:pPr algn="just"/>
                  <a:r>
                    <a:rPr lang="zh-TW" altLang="en-US" sz="1400" b="1" dirty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代理店員工數</a:t>
                  </a:r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C8C8CB8-29EF-A77F-380A-7BB88CF32759}"/>
                    </a:ext>
                  </a:extLst>
                </p:cNvPr>
                <p:cNvSpPr/>
                <p:nvPr/>
              </p:nvSpPr>
              <p:spPr>
                <a:xfrm>
                  <a:off x="2482071" y="1426070"/>
                  <a:ext cx="180975" cy="180975"/>
                </a:xfrm>
                <a:prstGeom prst="rect">
                  <a:avLst/>
                </a:prstGeom>
                <a:solidFill>
                  <a:srgbClr val="FDF8D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" name="Google Shape;12633;p6">
                  <a:extLst>
                    <a:ext uri="{FF2B5EF4-FFF2-40B4-BE49-F238E27FC236}">
                      <a16:creationId xmlns:a16="http://schemas.microsoft.com/office/drawing/2014/main" id="{F2AF81E6-7363-ABBF-7165-BE1B4BD3D6FA}"/>
                    </a:ext>
                  </a:extLst>
                </p:cNvPr>
                <p:cNvSpPr txBox="1"/>
                <p:nvPr/>
              </p:nvSpPr>
              <p:spPr>
                <a:xfrm>
                  <a:off x="4434696" y="1362689"/>
                  <a:ext cx="2055603" cy="3077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33" tIns="45700" rIns="91433" bIns="45700" anchor="ctr" anchorCtr="0">
                  <a:spAutoFit/>
                </a:bodyPr>
                <a:lstStyle/>
                <a:p>
                  <a:pPr algn="just"/>
                  <a:r>
                    <a:rPr lang="zh-TW" altLang="en-US" sz="1400" b="1" dirty="0">
                      <a:solidFill>
                        <a:srgbClr val="14141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登錄業務人數</a:t>
                  </a:r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95E7E144-B5D3-A226-4F58-B67DA075BF95}"/>
                    </a:ext>
                  </a:extLst>
                </p:cNvPr>
                <p:cNvSpPr/>
                <p:nvPr/>
              </p:nvSpPr>
              <p:spPr>
                <a:xfrm>
                  <a:off x="4253721" y="1426069"/>
                  <a:ext cx="180975" cy="180975"/>
                </a:xfrm>
                <a:prstGeom prst="rect">
                  <a:avLst/>
                </a:prstGeom>
                <a:solidFill>
                  <a:srgbClr val="D8E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09266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7658-C058-6BC0-7C1B-79D4451E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E1C52631-C01A-212B-7EE9-F3345782AF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97DCD5FD-CEBF-0011-DDB2-4D97F1D220D3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22B032DE-FF17-D066-3045-8EAD5EF4065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產品結構一覽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7B3AF428-F5D5-6177-646D-B492E43A4032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8AEDDD84-8648-EAC8-863E-7E095CF4A47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各險種已實現淨保費收入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6A19900-24B6-D20D-4DF6-A7D9EEA709AC}"/>
              </a:ext>
            </a:extLst>
          </p:cNvPr>
          <p:cNvGrpSpPr/>
          <p:nvPr/>
        </p:nvGrpSpPr>
        <p:grpSpPr>
          <a:xfrm>
            <a:off x="6746401" y="1480505"/>
            <a:ext cx="4054983" cy="2487780"/>
            <a:chOff x="6362517" y="1480505"/>
            <a:chExt cx="4054983" cy="2487780"/>
          </a:xfrm>
        </p:grpSpPr>
        <p:graphicFrame>
          <p:nvGraphicFramePr>
            <p:cNvPr id="36" name="圖表 35">
              <a:extLst>
                <a:ext uri="{FF2B5EF4-FFF2-40B4-BE49-F238E27FC236}">
                  <a16:creationId xmlns:a16="http://schemas.microsoft.com/office/drawing/2014/main" id="{0B2A1CE1-595C-AD36-34BD-4B99A531C5EC}"/>
                </a:ext>
              </a:extLst>
            </p:cNvPr>
            <p:cNvGraphicFramePr/>
            <p:nvPr/>
          </p:nvGraphicFramePr>
          <p:xfrm>
            <a:off x="7259166" y="1480505"/>
            <a:ext cx="2309820" cy="24877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6EAE1EB6-A81A-7CA2-4B6A-347DCC442C38}"/>
                </a:ext>
              </a:extLst>
            </p:cNvPr>
            <p:cNvGrpSpPr/>
            <p:nvPr/>
          </p:nvGrpSpPr>
          <p:grpSpPr>
            <a:xfrm>
              <a:off x="9391186" y="1813757"/>
              <a:ext cx="1026314" cy="770840"/>
              <a:chOff x="3103927" y="1997010"/>
              <a:chExt cx="1026314" cy="770840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0415F1F-FCD3-60F3-1BF0-A6B0AE55088A}"/>
                  </a:ext>
                </a:extLst>
              </p:cNvPr>
              <p:cNvSpPr/>
              <p:nvPr/>
            </p:nvSpPr>
            <p:spPr>
              <a:xfrm>
                <a:off x="3103927" y="1997010"/>
                <a:ext cx="1026314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Microsoft YaHei"/>
                  </a:rPr>
                  <a:t>28.4%</a:t>
                </a:r>
                <a:endPara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6A0C99B-015F-4AD6-8AD1-2413024E525A}"/>
                  </a:ext>
                </a:extLst>
              </p:cNvPr>
              <p:cNvSpPr/>
              <p:nvPr/>
            </p:nvSpPr>
            <p:spPr>
              <a:xfrm>
                <a:off x="3140222" y="2234450"/>
                <a:ext cx="953723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defRPr/>
                </a:pPr>
                <a:r>
                  <a:rPr lang="zh-TW" altLang="en-US" sz="14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重大疾病</a:t>
                </a: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092FE27-8383-9EB0-C1DA-DFFA9A6F6DE8}"/>
                </a:ext>
              </a:extLst>
            </p:cNvPr>
            <p:cNvGrpSpPr/>
            <p:nvPr/>
          </p:nvGrpSpPr>
          <p:grpSpPr>
            <a:xfrm>
              <a:off x="6500820" y="3124937"/>
              <a:ext cx="1026314" cy="770840"/>
              <a:chOff x="3103927" y="1997010"/>
              <a:chExt cx="1026314" cy="770840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BF8098A-9117-B325-69FB-F5FE28D4EC16}"/>
                  </a:ext>
                </a:extLst>
              </p:cNvPr>
              <p:cNvSpPr/>
              <p:nvPr/>
            </p:nvSpPr>
            <p:spPr>
              <a:xfrm>
                <a:off x="3103927" y="1997010"/>
                <a:ext cx="1026314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Microsoft YaHei"/>
                  </a:rPr>
                  <a:t>20.0%</a:t>
                </a:r>
                <a:endPara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3C66FF6F-4091-6BEC-63A5-2492788539CC}"/>
                  </a:ext>
                </a:extLst>
              </p:cNvPr>
              <p:cNvSpPr/>
              <p:nvPr/>
            </p:nvSpPr>
            <p:spPr>
              <a:xfrm>
                <a:off x="3140222" y="2234450"/>
                <a:ext cx="953723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defRPr/>
                </a:pPr>
                <a:r>
                  <a:rPr lang="zh-TW" altLang="en-US" sz="14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意外險</a:t>
                </a: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1F75CEAD-A4DC-55B2-1689-294CA872D8B3}"/>
                </a:ext>
              </a:extLst>
            </p:cNvPr>
            <p:cNvGrpSpPr/>
            <p:nvPr/>
          </p:nvGrpSpPr>
          <p:grpSpPr>
            <a:xfrm>
              <a:off x="6362517" y="2068357"/>
              <a:ext cx="1026314" cy="770840"/>
              <a:chOff x="3103927" y="1997010"/>
              <a:chExt cx="1026314" cy="770840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18B3BD3B-DBF2-6DD8-234B-AA31309AE56E}"/>
                  </a:ext>
                </a:extLst>
              </p:cNvPr>
              <p:cNvSpPr/>
              <p:nvPr/>
            </p:nvSpPr>
            <p:spPr>
              <a:xfrm>
                <a:off x="3103927" y="1997010"/>
                <a:ext cx="1026314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Microsoft YaHei"/>
                  </a:rPr>
                  <a:t>11.8%</a:t>
                </a:r>
                <a:endPara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BCC926E-38AD-967E-61CE-FB80A8F2DC6A}"/>
                  </a:ext>
                </a:extLst>
              </p:cNvPr>
              <p:cNvSpPr/>
              <p:nvPr/>
            </p:nvSpPr>
            <p:spPr>
              <a:xfrm>
                <a:off x="3140222" y="2234450"/>
                <a:ext cx="953723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defRPr/>
                </a:pPr>
                <a:r>
                  <a:rPr lang="zh-TW" altLang="en-US" sz="14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住院日額</a:t>
                </a:r>
              </a:p>
            </p:txBody>
          </p:sp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3042CEA-3F4D-6D86-867B-EACF1007BF3B}"/>
                </a:ext>
              </a:extLst>
            </p:cNvPr>
            <p:cNvSpPr/>
            <p:nvPr/>
          </p:nvSpPr>
          <p:spPr>
            <a:xfrm>
              <a:off x="7900919" y="2354165"/>
              <a:ext cx="1026314" cy="5334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9C48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/>
                </a:rPr>
                <a:t>1,555</a:t>
              </a:r>
              <a:endPara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9C48A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04598F0-6ADD-AD35-142B-FAD089A847E4}"/>
                </a:ext>
              </a:extLst>
            </p:cNvPr>
            <p:cNvSpPr/>
            <p:nvPr/>
          </p:nvSpPr>
          <p:spPr>
            <a:xfrm>
              <a:off x="7705239" y="2620865"/>
              <a:ext cx="1417675" cy="5334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zh-TW" altLang="en-US" sz="1100" b="1" dirty="0">
                  <a:solidFill>
                    <a:srgbClr val="73737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已實保收</a:t>
              </a:r>
              <a:r>
                <a:rPr lang="en-US" altLang="zh-TW" sz="1100" b="1" dirty="0">
                  <a:solidFill>
                    <a:srgbClr val="73737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lang="zh-TW" altLang="en-US" sz="1100" b="1" dirty="0">
                  <a:solidFill>
                    <a:srgbClr val="73737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百萬美元</a:t>
              </a:r>
              <a:r>
                <a:rPr lang="en-US" altLang="zh-TW" sz="1100" b="1" dirty="0">
                  <a:solidFill>
                    <a:srgbClr val="73737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endParaRPr lang="zh-TW" altLang="en-US" sz="1100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E5515BCC-DBC2-F077-21C1-F449E6F68EE9}"/>
                </a:ext>
              </a:extLst>
            </p:cNvPr>
            <p:cNvGrpSpPr/>
            <p:nvPr/>
          </p:nvGrpSpPr>
          <p:grpSpPr>
            <a:xfrm>
              <a:off x="9391186" y="2957917"/>
              <a:ext cx="1026314" cy="770840"/>
              <a:chOff x="3103927" y="1997010"/>
              <a:chExt cx="1026314" cy="77084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CF348FF-BADB-B955-06F9-F80B32344E0E}"/>
                  </a:ext>
                </a:extLst>
              </p:cNvPr>
              <p:cNvSpPr/>
              <p:nvPr/>
            </p:nvSpPr>
            <p:spPr>
              <a:xfrm>
                <a:off x="3103927" y="1997010"/>
                <a:ext cx="1026314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Microsoft YaHei"/>
                  </a:rPr>
                  <a:t>22.6%</a:t>
                </a:r>
                <a:endPara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288101DD-A469-F435-8B9A-2BE28829FD58}"/>
                  </a:ext>
                </a:extLst>
              </p:cNvPr>
              <p:cNvSpPr/>
              <p:nvPr/>
            </p:nvSpPr>
            <p:spPr>
              <a:xfrm>
                <a:off x="3140222" y="2234450"/>
                <a:ext cx="953723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defRPr/>
                </a:pPr>
                <a:r>
                  <a:rPr lang="zh-TW" altLang="en-US" sz="14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失能險</a:t>
                </a:r>
              </a:p>
            </p:txBody>
          </p:sp>
        </p:grp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40A8AEFF-28E9-230D-3498-2F37F9C49C62}"/>
              </a:ext>
            </a:extLst>
          </p:cNvPr>
          <p:cNvGrpSpPr/>
          <p:nvPr/>
        </p:nvGrpSpPr>
        <p:grpSpPr>
          <a:xfrm>
            <a:off x="1390616" y="1480505"/>
            <a:ext cx="3926102" cy="2828032"/>
            <a:chOff x="1390616" y="1480505"/>
            <a:chExt cx="3926102" cy="2828032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4D50B45F-2C8C-4A5A-1AAC-8B1053E492B8}"/>
                </a:ext>
              </a:extLst>
            </p:cNvPr>
            <p:cNvGrpSpPr/>
            <p:nvPr/>
          </p:nvGrpSpPr>
          <p:grpSpPr>
            <a:xfrm>
              <a:off x="1390616" y="1480505"/>
              <a:ext cx="3926102" cy="2487780"/>
              <a:chOff x="1006732" y="1480505"/>
              <a:chExt cx="3926102" cy="2487780"/>
            </a:xfrm>
          </p:grpSpPr>
          <p:graphicFrame>
            <p:nvGraphicFramePr>
              <p:cNvPr id="5" name="圖表 4">
                <a:extLst>
                  <a:ext uri="{FF2B5EF4-FFF2-40B4-BE49-F238E27FC236}">
                    <a16:creationId xmlns:a16="http://schemas.microsoft.com/office/drawing/2014/main" id="{B57E9CAB-1043-DCD3-3A86-4577107E0879}"/>
                  </a:ext>
                </a:extLst>
              </p:cNvPr>
              <p:cNvGraphicFramePr/>
              <p:nvPr/>
            </p:nvGraphicFramePr>
            <p:xfrm>
              <a:off x="1774500" y="1480505"/>
              <a:ext cx="2309820" cy="248778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C118BAAF-C4D1-9587-B761-5CE59EFF80D6}"/>
                  </a:ext>
                </a:extLst>
              </p:cNvPr>
              <p:cNvGrpSpPr/>
              <p:nvPr/>
            </p:nvGrpSpPr>
            <p:grpSpPr>
              <a:xfrm>
                <a:off x="3906520" y="2338975"/>
                <a:ext cx="1026314" cy="770840"/>
                <a:chOff x="3103927" y="1997010"/>
                <a:chExt cx="1026314" cy="770840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3B639C43-B24A-081B-A2CF-AE384427E4B0}"/>
                    </a:ext>
                  </a:extLst>
                </p:cNvPr>
                <p:cNvSpPr/>
                <p:nvPr/>
              </p:nvSpPr>
              <p:spPr>
                <a:xfrm>
                  <a:off x="3103927" y="1997010"/>
                  <a:ext cx="1026314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41414"/>
                      </a:solidFill>
                      <a:effectLst/>
                      <a:uLnTx/>
                      <a:uFillTx/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  <a:sym typeface="Microsoft YaHei"/>
                    </a:rPr>
                    <a:t>48.9%</a:t>
                  </a:r>
                  <a:endParaRPr kumimoji="0" lang="zh-TW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9DDE65A6-57DC-00BF-EC19-C800F3141A77}"/>
                    </a:ext>
                  </a:extLst>
                </p:cNvPr>
                <p:cNvSpPr/>
                <p:nvPr/>
              </p:nvSpPr>
              <p:spPr>
                <a:xfrm>
                  <a:off x="3140222" y="2234450"/>
                  <a:ext cx="953723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>
                    <a:defRPr/>
                  </a:pPr>
                  <a:r>
                    <a:rPr lang="zh-TW" altLang="en-US" sz="1400" b="1" dirty="0">
                      <a:solidFill>
                        <a:srgbClr val="737373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癌症險</a:t>
                  </a:r>
                </a:p>
              </p:txBody>
            </p:sp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23B6974C-CD91-2824-4869-5EDA7A80C934}"/>
                  </a:ext>
                </a:extLst>
              </p:cNvPr>
              <p:cNvGrpSpPr/>
              <p:nvPr/>
            </p:nvGrpSpPr>
            <p:grpSpPr>
              <a:xfrm>
                <a:off x="1006732" y="2872375"/>
                <a:ext cx="1026314" cy="770840"/>
                <a:chOff x="3103927" y="1997010"/>
                <a:chExt cx="1026314" cy="770840"/>
              </a:xfrm>
            </p:grpSpPr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2F073E9-1522-B4ED-C6F2-EF0AD6E324DD}"/>
                    </a:ext>
                  </a:extLst>
                </p:cNvPr>
                <p:cNvSpPr/>
                <p:nvPr/>
              </p:nvSpPr>
              <p:spPr>
                <a:xfrm>
                  <a:off x="3103927" y="1997010"/>
                  <a:ext cx="1026314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41414"/>
                      </a:solidFill>
                      <a:effectLst/>
                      <a:uLnTx/>
                      <a:uFillTx/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  <a:sym typeface="Microsoft YaHei"/>
                    </a:rPr>
                    <a:t>30.8%</a:t>
                  </a:r>
                  <a:endParaRPr kumimoji="0" lang="zh-TW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67CDDED1-95B6-524B-4AEF-33176D04B5DD}"/>
                    </a:ext>
                  </a:extLst>
                </p:cNvPr>
                <p:cNvSpPr/>
                <p:nvPr/>
              </p:nvSpPr>
              <p:spPr>
                <a:xfrm>
                  <a:off x="3140222" y="2234450"/>
                  <a:ext cx="953723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>
                    <a:defRPr/>
                  </a:pPr>
                  <a:r>
                    <a:rPr lang="zh-TW" altLang="en-US" sz="1400" b="1" dirty="0">
                      <a:solidFill>
                        <a:srgbClr val="737373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醫療險</a:t>
                  </a:r>
                </a:p>
              </p:txBody>
            </p: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97D56E16-6A7A-BFF2-FACE-A5BDFCB24FF8}"/>
                  </a:ext>
                </a:extLst>
              </p:cNvPr>
              <p:cNvGrpSpPr/>
              <p:nvPr/>
            </p:nvGrpSpPr>
            <p:grpSpPr>
              <a:xfrm>
                <a:off x="1049890" y="1597395"/>
                <a:ext cx="1026314" cy="770840"/>
                <a:chOff x="2924835" y="2166068"/>
                <a:chExt cx="1026314" cy="770840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B71631E-A042-2F24-79C9-DFBF3C8587CE}"/>
                    </a:ext>
                  </a:extLst>
                </p:cNvPr>
                <p:cNvSpPr/>
                <p:nvPr/>
              </p:nvSpPr>
              <p:spPr>
                <a:xfrm>
                  <a:off x="2924835" y="2166068"/>
                  <a:ext cx="1026314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41414"/>
                      </a:solidFill>
                      <a:effectLst/>
                      <a:uLnTx/>
                      <a:uFillTx/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  <a:sym typeface="Microsoft YaHei"/>
                    </a:rPr>
                    <a:t>18.4%</a:t>
                  </a:r>
                  <a:endParaRPr kumimoji="0" lang="zh-TW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1414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F0143F0C-583F-D6F3-D6B6-3B22256E0DA8}"/>
                    </a:ext>
                  </a:extLst>
                </p:cNvPr>
                <p:cNvSpPr/>
                <p:nvPr/>
              </p:nvSpPr>
              <p:spPr>
                <a:xfrm>
                  <a:off x="2961130" y="2403508"/>
                  <a:ext cx="953723" cy="5334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>
                    <a:defRPr/>
                  </a:pPr>
                  <a:r>
                    <a:rPr lang="zh-TW" altLang="en-US" sz="1400" b="1" dirty="0">
                      <a:solidFill>
                        <a:srgbClr val="737373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壽險</a:t>
                  </a:r>
                </a:p>
              </p:txBody>
            </p:sp>
          </p:grp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0E20F80-FF28-FBB8-6A8E-688DDE508093}"/>
                  </a:ext>
                </a:extLst>
              </p:cNvPr>
              <p:cNvSpPr/>
              <p:nvPr/>
            </p:nvSpPr>
            <p:spPr>
              <a:xfrm>
                <a:off x="2416253" y="2354165"/>
                <a:ext cx="1026314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C48A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Microsoft YaHei"/>
                  </a:rPr>
                  <a:t>1,716</a:t>
                </a:r>
                <a:endParaRPr kumimoji="0" lang="zh-TW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9C48A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5912A03-1C45-1294-2713-51BFE6AFE773}"/>
                  </a:ext>
                </a:extLst>
              </p:cNvPr>
              <p:cNvSpPr/>
              <p:nvPr/>
            </p:nvSpPr>
            <p:spPr>
              <a:xfrm>
                <a:off x="2220573" y="2620865"/>
                <a:ext cx="1417675" cy="5334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TW" altLang="en-US" sz="11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已實保收</a:t>
                </a:r>
                <a:r>
                  <a:rPr lang="en-US" altLang="zh-TW" sz="11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</a:t>
                </a:r>
                <a:r>
                  <a:rPr lang="zh-TW" altLang="en-US" sz="11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百萬美元</a:t>
                </a:r>
                <a:r>
                  <a:rPr lang="en-US" altLang="zh-TW" sz="1100" b="1" dirty="0">
                    <a:solidFill>
                      <a:srgbClr val="73737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  <a:endParaRPr lang="zh-TW" altLang="en-US" sz="1100" b="1" dirty="0">
                  <a:solidFill>
                    <a:srgbClr val="73737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8C684B61-8D4A-CCCB-BBE9-A8A2123FF902}"/>
                </a:ext>
              </a:extLst>
            </p:cNvPr>
            <p:cNvSpPr/>
            <p:nvPr/>
          </p:nvSpPr>
          <p:spPr>
            <a:xfrm>
              <a:off x="2569229" y="3937366"/>
              <a:ext cx="1488130" cy="371171"/>
            </a:xfrm>
            <a:prstGeom prst="rect">
              <a:avLst/>
            </a:prstGeom>
            <a:solidFill>
              <a:srgbClr val="BDE4D5">
                <a:alpha val="5803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AFLAC</a:t>
              </a:r>
              <a:r>
                <a:rPr lang="en-US" altLang="zh-TW" sz="1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zh-TW" altLang="en-US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日本</a:t>
              </a:r>
            </a:p>
          </p:txBody>
        </p:sp>
      </p:grpSp>
      <p:sp>
        <p:nvSpPr>
          <p:cNvPr id="86" name="矩形 85">
            <a:extLst>
              <a:ext uri="{FF2B5EF4-FFF2-40B4-BE49-F238E27FC236}">
                <a16:creationId xmlns:a16="http://schemas.microsoft.com/office/drawing/2014/main" id="{05186177-013A-9576-567B-20722009C7BB}"/>
              </a:ext>
            </a:extLst>
          </p:cNvPr>
          <p:cNvSpPr/>
          <p:nvPr/>
        </p:nvSpPr>
        <p:spPr>
          <a:xfrm>
            <a:off x="8053895" y="3937366"/>
            <a:ext cx="1488130" cy="371171"/>
          </a:xfrm>
          <a:prstGeom prst="rect">
            <a:avLst/>
          </a:prstGeom>
          <a:solidFill>
            <a:srgbClr val="BDE4D5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美國</a:t>
            </a:r>
          </a:p>
        </p:txBody>
      </p:sp>
      <p:graphicFrame>
        <p:nvGraphicFramePr>
          <p:cNvPr id="87" name="表格 86">
            <a:extLst>
              <a:ext uri="{FF2B5EF4-FFF2-40B4-BE49-F238E27FC236}">
                <a16:creationId xmlns:a16="http://schemas.microsoft.com/office/drawing/2014/main" id="{664D5059-7D55-38C0-2E57-88C382060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07284"/>
              </p:ext>
            </p:extLst>
          </p:nvPr>
        </p:nvGraphicFramePr>
        <p:xfrm>
          <a:off x="1284125" y="4811076"/>
          <a:ext cx="4058337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99">
                  <a:extLst>
                    <a:ext uri="{9D8B030D-6E8A-4147-A177-3AD203B41FA5}">
                      <a16:colId xmlns:a16="http://schemas.microsoft.com/office/drawing/2014/main" val="2699386188"/>
                    </a:ext>
                  </a:extLst>
                </a:gridCol>
                <a:gridCol w="1029246">
                  <a:extLst>
                    <a:ext uri="{9D8B030D-6E8A-4147-A177-3AD203B41FA5}">
                      <a16:colId xmlns:a16="http://schemas.microsoft.com/office/drawing/2014/main" val="1368247990"/>
                    </a:ext>
                  </a:extLst>
                </a:gridCol>
                <a:gridCol w="1029246">
                  <a:extLst>
                    <a:ext uri="{9D8B030D-6E8A-4147-A177-3AD203B41FA5}">
                      <a16:colId xmlns:a16="http://schemas.microsoft.com/office/drawing/2014/main" val="1095069821"/>
                    </a:ext>
                  </a:extLst>
                </a:gridCol>
                <a:gridCol w="1029246">
                  <a:extLst>
                    <a:ext uri="{9D8B030D-6E8A-4147-A177-3AD203B41FA5}">
                      <a16:colId xmlns:a16="http://schemas.microsoft.com/office/drawing/2014/main" val="3092282598"/>
                    </a:ext>
                  </a:extLst>
                </a:gridCol>
              </a:tblGrid>
              <a:tr h="252437">
                <a:tc>
                  <a:txBody>
                    <a:bodyPr/>
                    <a:lstStyle/>
                    <a:p>
                      <a:pPr algn="l"/>
                      <a:endParaRPr lang="zh-TW" altLang="en-US" sz="1400" b="1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醫療險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壽險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癌症險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53340"/>
                  </a:ext>
                </a:extLst>
              </a:tr>
              <a:tr h="56946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加權平均負債期間</a:t>
                      </a:r>
                      <a:r>
                        <a:rPr lang="en-US" altLang="zh-TW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23.2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16.2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12.6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552901"/>
                  </a:ext>
                </a:extLst>
              </a:tr>
            </a:tbl>
          </a:graphicData>
        </a:graphic>
      </p:graphicFrame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6A4358ED-CDA2-C8D4-F7D1-9C3025D5F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77459"/>
              </p:ext>
            </p:extLst>
          </p:nvPr>
        </p:nvGraphicFramePr>
        <p:xfrm>
          <a:off x="6768791" y="4811076"/>
          <a:ext cx="4058337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293">
                  <a:extLst>
                    <a:ext uri="{9D8B030D-6E8A-4147-A177-3AD203B41FA5}">
                      <a16:colId xmlns:a16="http://schemas.microsoft.com/office/drawing/2014/main" val="2699386188"/>
                    </a:ext>
                  </a:extLst>
                </a:gridCol>
                <a:gridCol w="782011">
                  <a:extLst>
                    <a:ext uri="{9D8B030D-6E8A-4147-A177-3AD203B41FA5}">
                      <a16:colId xmlns:a16="http://schemas.microsoft.com/office/drawing/2014/main" val="1368247990"/>
                    </a:ext>
                  </a:extLst>
                </a:gridCol>
                <a:gridCol w="782011">
                  <a:extLst>
                    <a:ext uri="{9D8B030D-6E8A-4147-A177-3AD203B41FA5}">
                      <a16:colId xmlns:a16="http://schemas.microsoft.com/office/drawing/2014/main" val="1095069821"/>
                    </a:ext>
                  </a:extLst>
                </a:gridCol>
                <a:gridCol w="782011">
                  <a:extLst>
                    <a:ext uri="{9D8B030D-6E8A-4147-A177-3AD203B41FA5}">
                      <a16:colId xmlns:a16="http://schemas.microsoft.com/office/drawing/2014/main" val="3092282598"/>
                    </a:ext>
                  </a:extLst>
                </a:gridCol>
                <a:gridCol w="782011">
                  <a:extLst>
                    <a:ext uri="{9D8B030D-6E8A-4147-A177-3AD203B41FA5}">
                      <a16:colId xmlns:a16="http://schemas.microsoft.com/office/drawing/2014/main" val="657861736"/>
                    </a:ext>
                  </a:extLst>
                </a:gridCol>
              </a:tblGrid>
              <a:tr h="252437">
                <a:tc>
                  <a:txBody>
                    <a:bodyPr/>
                    <a:lstStyle/>
                    <a:p>
                      <a:pPr algn="l"/>
                      <a:endParaRPr lang="zh-TW" altLang="en-US" sz="1400" b="1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住院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意外險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失能險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53340"/>
                  </a:ext>
                </a:extLst>
              </a:tr>
              <a:tr h="56946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加權平均負債期間</a:t>
                      </a:r>
                      <a:r>
                        <a:rPr lang="en-US" altLang="zh-TW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1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11.0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9.0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7.7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rgbClr val="141414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5.6</a:t>
                      </a:r>
                      <a:endParaRPr lang="zh-TW" altLang="en-US" sz="2000" b="1" kern="1200" dirty="0">
                        <a:solidFill>
                          <a:srgbClr val="141414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552901"/>
                  </a:ext>
                </a:extLst>
              </a:tr>
            </a:tbl>
          </a:graphicData>
        </a:graphic>
      </p:graphicFrame>
      <p:sp>
        <p:nvSpPr>
          <p:cNvPr id="16" name="Google Shape;12633;p6">
            <a:extLst>
              <a:ext uri="{FF2B5EF4-FFF2-40B4-BE49-F238E27FC236}">
                <a16:creationId xmlns:a16="http://schemas.microsoft.com/office/drawing/2014/main" id="{F3F041A9-792C-FD28-00C9-ECF649C1E6CE}"/>
              </a:ext>
            </a:extLst>
          </p:cNvPr>
          <p:cNvSpPr txBox="1"/>
          <p:nvPr/>
        </p:nvSpPr>
        <p:spPr>
          <a:xfrm>
            <a:off x="0" y="6454711"/>
            <a:ext cx="1099471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r>
              <a:rPr lang="en-US" altLang="zh-TW" sz="1400" i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reference: Aflac, Form 10‑Q for the quarter ended March 31, 2025</a:t>
            </a:r>
            <a:r>
              <a:rPr lang="zh-TW" altLang="en-US" sz="1400" i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400" i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(SEC</a:t>
            </a:r>
            <a:r>
              <a:rPr lang="zh-TW" altLang="en-US" sz="1400" i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400" i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EDGAR)</a:t>
            </a:r>
            <a:endParaRPr lang="zh-TW" altLang="en-US" sz="1400" i="1" dirty="0">
              <a:solidFill>
                <a:srgbClr val="7373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760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F45D-912B-2323-6458-A5E79F66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4E5FE68F-B16E-81CD-AFD3-CADD3EFE79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BDF5172A-C08A-FFEE-003C-D9AF5BB9F2B8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A17716C0-3EF7-7106-0DF7-96E67A08DFBD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對日本保險市場的觀察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26969F59-6086-5ED9-185A-427072C68D17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F765561A-D2D3-BA6D-339A-3D14749203D3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因產品的同質化與需求的兩極化開始推出新商品</a:t>
            </a:r>
          </a:p>
        </p:txBody>
      </p:sp>
      <p:sp>
        <p:nvSpPr>
          <p:cNvPr id="12" name="Google Shape;12633;p6">
            <a:extLst>
              <a:ext uri="{FF2B5EF4-FFF2-40B4-BE49-F238E27FC236}">
                <a16:creationId xmlns:a16="http://schemas.microsoft.com/office/drawing/2014/main" id="{D64B87E4-9FAC-369C-F908-6766BA5B9415}"/>
              </a:ext>
            </a:extLst>
          </p:cNvPr>
          <p:cNvSpPr txBox="1"/>
          <p:nvPr/>
        </p:nvSpPr>
        <p:spPr>
          <a:xfrm>
            <a:off x="1431034" y="1704646"/>
            <a:ext cx="519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醫療保險逐漸同質化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19E8699A-A3E5-47F3-CB51-7FF48C44325E}"/>
              </a:ext>
            </a:extLst>
          </p:cNvPr>
          <p:cNvSpPr/>
          <p:nvPr/>
        </p:nvSpPr>
        <p:spPr>
          <a:xfrm>
            <a:off x="922867" y="1728871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Google Shape;12633;p6">
            <a:extLst>
              <a:ext uri="{FF2B5EF4-FFF2-40B4-BE49-F238E27FC236}">
                <a16:creationId xmlns:a16="http://schemas.microsoft.com/office/drawing/2014/main" id="{4800CE8D-3FD1-CDA6-3D1A-A7A2E7803AE3}"/>
              </a:ext>
            </a:extLst>
          </p:cNvPr>
          <p:cNvSpPr txBox="1"/>
          <p:nvPr/>
        </p:nvSpPr>
        <p:spPr>
          <a:xfrm>
            <a:off x="1431034" y="2285938"/>
            <a:ext cx="73510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市場衰退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新契約成長由</a:t>
            </a:r>
            <a:r>
              <a:rPr lang="zh-TW" altLang="en-US" sz="1000" b="1" dirty="0">
                <a:solidFill>
                  <a:srgbClr val="141414"/>
                </a:solidFill>
                <a:latin typeface="Microsoft YaHei"/>
                <a:ea typeface="Microsoft YaHei"/>
                <a:cs typeface="+mj-cs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5%</a:t>
            </a:r>
            <a:r>
              <a:rPr lang="en-US" altLang="zh-TW" sz="1000" b="1" dirty="0">
                <a:solidFill>
                  <a:srgbClr val="141414"/>
                </a:solidFill>
                <a:latin typeface="Microsoft YaHei"/>
                <a:ea typeface="Microsoft YaHei"/>
                <a:cs typeface="+mj-cs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下降至</a:t>
            </a:r>
            <a:r>
              <a:rPr lang="zh-TW" altLang="en-US" sz="1000" b="1" dirty="0">
                <a:solidFill>
                  <a:srgbClr val="141414"/>
                </a:solidFill>
                <a:latin typeface="Microsoft YaHei"/>
                <a:ea typeface="Microsoft YaHei"/>
                <a:cs typeface="+mj-cs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-1%)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開始思考新產品與商業模式</a:t>
            </a:r>
          </a:p>
        </p:txBody>
      </p:sp>
      <p:sp>
        <p:nvSpPr>
          <p:cNvPr id="18" name="Google Shape;12633;p6">
            <a:extLst>
              <a:ext uri="{FF2B5EF4-FFF2-40B4-BE49-F238E27FC236}">
                <a16:creationId xmlns:a16="http://schemas.microsoft.com/office/drawing/2014/main" id="{B935A82A-41B6-6D54-AA77-CAAF0C727CC0}"/>
              </a:ext>
            </a:extLst>
          </p:cNvPr>
          <p:cNvSpPr txBox="1"/>
          <p:nvPr/>
        </p:nvSpPr>
        <p:spPr>
          <a:xfrm>
            <a:off x="1431034" y="2980350"/>
            <a:ext cx="519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客戶需求轉向兩極化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FA985A6-A9FA-6D16-3018-6800A447E866}"/>
              </a:ext>
            </a:extLst>
          </p:cNvPr>
          <p:cNvSpPr/>
          <p:nvPr/>
        </p:nvSpPr>
        <p:spPr>
          <a:xfrm>
            <a:off x="922867" y="3004575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Google Shape;12633;p6">
            <a:extLst>
              <a:ext uri="{FF2B5EF4-FFF2-40B4-BE49-F238E27FC236}">
                <a16:creationId xmlns:a16="http://schemas.microsoft.com/office/drawing/2014/main" id="{E6795144-4BB1-2068-09CB-35A04256D484}"/>
              </a:ext>
            </a:extLst>
          </p:cNvPr>
          <p:cNvSpPr txBox="1"/>
          <p:nvPr/>
        </p:nvSpPr>
        <p:spPr>
          <a:xfrm>
            <a:off x="1431034" y="3561642"/>
            <a:ext cx="801776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重視性價比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▲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與保單附加價值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▲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3%)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的客戶呈上升趨勢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</a:t>
            </a:r>
            <a:r>
              <a:rPr lang="ja-JP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安心パレット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Google Shape;12633;p6">
            <a:extLst>
              <a:ext uri="{FF2B5EF4-FFF2-40B4-BE49-F238E27FC236}">
                <a16:creationId xmlns:a16="http://schemas.microsoft.com/office/drawing/2014/main" id="{86253432-A579-F7B7-B224-F5D94CA602C5}"/>
              </a:ext>
            </a:extLst>
          </p:cNvPr>
          <p:cNvSpPr txBox="1"/>
          <p:nvPr/>
        </p:nvSpPr>
        <p:spPr>
          <a:xfrm>
            <a:off x="1431034" y="4256054"/>
            <a:ext cx="107609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追求服務整合型產品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0D10AC6-85AF-3E16-5FDA-EB21D59B05E5}"/>
              </a:ext>
            </a:extLst>
          </p:cNvPr>
          <p:cNvSpPr/>
          <p:nvPr/>
        </p:nvSpPr>
        <p:spPr>
          <a:xfrm>
            <a:off x="922867" y="4280279"/>
            <a:ext cx="413173" cy="413173"/>
          </a:xfrm>
          <a:prstGeom prst="ellipse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TW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TW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Google Shape;12633;p6">
            <a:extLst>
              <a:ext uri="{FF2B5EF4-FFF2-40B4-BE49-F238E27FC236}">
                <a16:creationId xmlns:a16="http://schemas.microsoft.com/office/drawing/2014/main" id="{0B8AD1F2-D136-54F3-4106-38936E91E73C}"/>
              </a:ext>
            </a:extLst>
          </p:cNvPr>
          <p:cNvSpPr txBox="1"/>
          <p:nvPr/>
        </p:nvSpPr>
        <p:spPr>
          <a:xfrm>
            <a:off x="1431034" y="4837346"/>
            <a:ext cx="801776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</a:t>
            </a:r>
            <a:r>
              <a:rPr lang="ja-JP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ミライト</a:t>
            </a: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(Miraito)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整合癌症諮詢、檢測、治療到術後支援等節點的全面服務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625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7501-D8C9-BE7C-1064-2041050B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CEC80150-69F9-8CA1-E8E5-3843DBF561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4E489510-8A40-55DF-5EDD-CADD4A576A71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0BC67C76-ECD2-0433-9900-6FBFEA2709B9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ja-JP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安心パレット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|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從</a:t>
            </a:r>
            <a:r>
              <a:rPr lang="zh-TW" altLang="en-US" sz="2800" b="1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一紙附約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開始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517D7910-2156-B94A-8007-94A9C8FD9F9F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62DF5CF8-EE56-AD50-6863-6876997BA286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因應時代變遷，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推出超彈性的</a:t>
            </a:r>
            <a:r>
              <a:rPr lang="zh-TW" altLang="en-US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創新醫療險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077681-6984-7DEA-E2D0-5D3535BAF350}"/>
              </a:ext>
            </a:extLst>
          </p:cNvPr>
          <p:cNvSpPr/>
          <p:nvPr/>
        </p:nvSpPr>
        <p:spPr>
          <a:xfrm>
            <a:off x="1122743" y="1692861"/>
            <a:ext cx="4619758" cy="481971"/>
          </a:xfrm>
          <a:prstGeom prst="rect">
            <a:avLst/>
          </a:prstGeom>
          <a:solidFill>
            <a:srgbClr val="BDE4D5">
              <a:alpha val="36078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終身險帶來「保障與保費一輩子不變」的安心感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BDFAD5-CEC0-A31C-6A38-32EA7A5FE6BA}"/>
              </a:ext>
            </a:extLst>
          </p:cNvPr>
          <p:cNvSpPr/>
          <p:nvPr/>
        </p:nvSpPr>
        <p:spPr>
          <a:xfrm>
            <a:off x="1122742" y="1331913"/>
            <a:ext cx="1487217" cy="360948"/>
          </a:xfrm>
          <a:prstGeom prst="rect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課題一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AACF1F-7DBB-5FB2-65BC-7086CEB70732}"/>
              </a:ext>
            </a:extLst>
          </p:cNvPr>
          <p:cNvSpPr/>
          <p:nvPr/>
        </p:nvSpPr>
        <p:spPr>
          <a:xfrm>
            <a:off x="6443825" y="1331913"/>
            <a:ext cx="1487217" cy="3609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延伸問題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67CEBD-C65A-8D4C-344C-C2F15CAA36A8}"/>
              </a:ext>
            </a:extLst>
          </p:cNvPr>
          <p:cNvSpPr/>
          <p:nvPr/>
        </p:nvSpPr>
        <p:spPr>
          <a:xfrm>
            <a:off x="6443825" y="1692861"/>
            <a:ext cx="4619759" cy="481971"/>
          </a:xfrm>
          <a:prstGeom prst="rect">
            <a:avLst/>
          </a:prstGeom>
          <a:solidFill>
            <a:srgbClr val="737373">
              <a:alpha val="18039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即使自身需求、醫療環境改變仍</a:t>
            </a:r>
            <a:r>
              <a:rPr lang="zh-TW" altLang="en-US" sz="1600" b="1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延遲檢視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保單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443F9F-65E8-7ABF-2D6A-F225466EA7C4}"/>
              </a:ext>
            </a:extLst>
          </p:cNvPr>
          <p:cNvSpPr/>
          <p:nvPr/>
        </p:nvSpPr>
        <p:spPr>
          <a:xfrm>
            <a:off x="1128418" y="2703682"/>
            <a:ext cx="4619758" cy="481971"/>
          </a:xfrm>
          <a:prstGeom prst="rect">
            <a:avLst/>
          </a:prstGeom>
          <a:solidFill>
            <a:srgbClr val="BDE4D5">
              <a:alpha val="36078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多數公司不易提供客戶「</a:t>
            </a:r>
            <a:r>
              <a:rPr lang="zh-TW" altLang="en-US" sz="1600" b="1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剛好需要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」的保險商品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2396EC-35CB-7589-B597-4FBB2CCD4A40}"/>
              </a:ext>
            </a:extLst>
          </p:cNvPr>
          <p:cNvSpPr/>
          <p:nvPr/>
        </p:nvSpPr>
        <p:spPr>
          <a:xfrm>
            <a:off x="1122742" y="2342734"/>
            <a:ext cx="1487217" cy="360948"/>
          </a:xfrm>
          <a:prstGeom prst="rect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課題二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C2BCD7-B2B9-27C6-B035-836537EB2C49}"/>
              </a:ext>
            </a:extLst>
          </p:cNvPr>
          <p:cNvSpPr/>
          <p:nvPr/>
        </p:nvSpPr>
        <p:spPr>
          <a:xfrm>
            <a:off x="6443825" y="2342734"/>
            <a:ext cx="1487217" cy="3609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延伸問題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E8A9A6-14D9-0505-E6C3-A7969BC66322}"/>
              </a:ext>
            </a:extLst>
          </p:cNvPr>
          <p:cNvSpPr/>
          <p:nvPr/>
        </p:nvSpPr>
        <p:spPr>
          <a:xfrm>
            <a:off x="6443825" y="2703682"/>
            <a:ext cx="4619758" cy="481971"/>
          </a:xfrm>
          <a:prstGeom prst="rect">
            <a:avLst/>
          </a:prstGeom>
          <a:solidFill>
            <a:srgbClr val="737373">
              <a:alpha val="18039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商品綑綁各式</a:t>
            </a:r>
            <a:r>
              <a:rPr lang="zh-TW" altLang="en-US" sz="1000" b="1" dirty="0">
                <a:solidFill>
                  <a:srgbClr val="141414"/>
                </a:solidFill>
                <a:latin typeface="Microsoft YaHei"/>
                <a:ea typeface="Microsoft YaHei"/>
                <a:cs typeface="+mj-cs"/>
              </a:rPr>
              <a:t> 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Benefits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，缺乏「最適的」選擇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F96C4F4-6B02-AB30-C04F-FF98A0646D0A}"/>
              </a:ext>
            </a:extLst>
          </p:cNvPr>
          <p:cNvCxnSpPr>
            <a:cxnSpLocks/>
          </p:cNvCxnSpPr>
          <p:nvPr/>
        </p:nvCxnSpPr>
        <p:spPr>
          <a:xfrm>
            <a:off x="1122742" y="3330116"/>
            <a:ext cx="9946517" cy="0"/>
          </a:xfrm>
          <a:prstGeom prst="straightConnector1">
            <a:avLst/>
          </a:prstGeom>
          <a:ln w="12700">
            <a:solidFill>
              <a:srgbClr val="737373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A026CE78-5F43-1F21-68A9-9834116490E3}"/>
              </a:ext>
            </a:extLst>
          </p:cNvPr>
          <p:cNvSpPr/>
          <p:nvPr/>
        </p:nvSpPr>
        <p:spPr>
          <a:xfrm>
            <a:off x="1122742" y="3474578"/>
            <a:ext cx="4625434" cy="360948"/>
          </a:xfrm>
          <a:prstGeom prst="rect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既有商品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A3698A-4207-CBC3-9BEC-44A84AAB607B}"/>
              </a:ext>
            </a:extLst>
          </p:cNvPr>
          <p:cNvSpPr/>
          <p:nvPr/>
        </p:nvSpPr>
        <p:spPr>
          <a:xfrm>
            <a:off x="6443825" y="3474578"/>
            <a:ext cx="4625434" cy="3609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安心パレット</a:t>
            </a:r>
            <a:endParaRPr lang="zh-TW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5F2F1151-2AC7-2F6B-6C61-B260EFD00F38}"/>
              </a:ext>
            </a:extLst>
          </p:cNvPr>
          <p:cNvGrpSpPr/>
          <p:nvPr/>
        </p:nvGrpSpPr>
        <p:grpSpPr>
          <a:xfrm>
            <a:off x="6443825" y="3979987"/>
            <a:ext cx="4625434" cy="1602094"/>
            <a:chOff x="6443824" y="3921630"/>
            <a:chExt cx="4625434" cy="1602094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6A3F578-DB8F-5546-C7AC-50252DDB1B73}"/>
                </a:ext>
              </a:extLst>
            </p:cNvPr>
            <p:cNvSpPr/>
            <p:nvPr/>
          </p:nvSpPr>
          <p:spPr>
            <a:xfrm>
              <a:off x="6443824" y="5041753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19050" cap="flat" cmpd="sng" algn="ctr">
              <a:solidFill>
                <a:srgbClr val="14141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5FDE420-6F9E-5E6A-A4D2-2CDEE512EBC2}"/>
                </a:ext>
              </a:extLst>
            </p:cNvPr>
            <p:cNvSpPr/>
            <p:nvPr/>
          </p:nvSpPr>
          <p:spPr>
            <a:xfrm>
              <a:off x="6443824" y="3921630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19050" cap="flat" cmpd="sng" algn="ctr">
              <a:solidFill>
                <a:srgbClr val="14141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B995803-7247-65D3-E93D-43AA2E34F8DB}"/>
                </a:ext>
              </a:extLst>
            </p:cNvPr>
            <p:cNvSpPr/>
            <p:nvPr/>
          </p:nvSpPr>
          <p:spPr>
            <a:xfrm>
              <a:off x="8012932" y="3921630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B4B4B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BADBDF6-8093-1469-2D62-CD5938D56D1A}"/>
                </a:ext>
              </a:extLst>
            </p:cNvPr>
            <p:cNvSpPr/>
            <p:nvPr/>
          </p:nvSpPr>
          <p:spPr>
            <a:xfrm>
              <a:off x="9582041" y="3921630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B4B4B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C6DADEC-43DD-9AD6-67A1-ABF20F87A9CD}"/>
                </a:ext>
              </a:extLst>
            </p:cNvPr>
            <p:cNvSpPr/>
            <p:nvPr/>
          </p:nvSpPr>
          <p:spPr>
            <a:xfrm>
              <a:off x="6443824" y="4483196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B4B4B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EFB7E0F-0E5B-E2A3-F47A-73C6D469F85B}"/>
                </a:ext>
              </a:extLst>
            </p:cNvPr>
            <p:cNvSpPr/>
            <p:nvPr/>
          </p:nvSpPr>
          <p:spPr>
            <a:xfrm>
              <a:off x="8012932" y="4483196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19050" cap="flat" cmpd="sng" algn="ctr">
              <a:solidFill>
                <a:srgbClr val="14141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CF1FD35-B4DB-3155-A0BB-6B1272A3415F}"/>
                </a:ext>
              </a:extLst>
            </p:cNvPr>
            <p:cNvSpPr/>
            <p:nvPr/>
          </p:nvSpPr>
          <p:spPr>
            <a:xfrm>
              <a:off x="9582041" y="4483196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19050" cap="flat" cmpd="sng" algn="ctr">
              <a:solidFill>
                <a:srgbClr val="14141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DD1CFED-678A-431C-B538-2E6D2E4523D3}"/>
                </a:ext>
              </a:extLst>
            </p:cNvPr>
            <p:cNvSpPr/>
            <p:nvPr/>
          </p:nvSpPr>
          <p:spPr>
            <a:xfrm>
              <a:off x="8012932" y="5041753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B4B4B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6871E9D-453B-B58B-AF30-43180C9B46FF}"/>
                </a:ext>
              </a:extLst>
            </p:cNvPr>
            <p:cNvSpPr/>
            <p:nvPr/>
          </p:nvSpPr>
          <p:spPr>
            <a:xfrm>
              <a:off x="9582041" y="5041753"/>
              <a:ext cx="1487217" cy="481971"/>
            </a:xfrm>
            <a:prstGeom prst="rect">
              <a:avLst/>
            </a:prstGeom>
            <a:solidFill>
              <a:srgbClr val="737373">
                <a:alpha val="18039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B4B4B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附約</a:t>
              </a:r>
              <a:endParaRPr lang="en-US" altLang="zh-TW" sz="1600" kern="0" dirty="0">
                <a:solidFill>
                  <a:srgbClr val="B4B4B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039826F2-9DFF-88A4-9E5B-562CE4F6A6F6}"/>
              </a:ext>
            </a:extLst>
          </p:cNvPr>
          <p:cNvCxnSpPr>
            <a:cxnSpLocks/>
          </p:cNvCxnSpPr>
          <p:nvPr/>
        </p:nvCxnSpPr>
        <p:spPr>
          <a:xfrm>
            <a:off x="6096000" y="3979987"/>
            <a:ext cx="0" cy="1602094"/>
          </a:xfrm>
          <a:prstGeom prst="straightConnector1">
            <a:avLst/>
          </a:prstGeom>
          <a:ln w="12700">
            <a:solidFill>
              <a:srgbClr val="737373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23F76CEC-066C-274A-11AA-2BC3997D91F6}"/>
              </a:ext>
            </a:extLst>
          </p:cNvPr>
          <p:cNvGrpSpPr/>
          <p:nvPr/>
        </p:nvGrpSpPr>
        <p:grpSpPr>
          <a:xfrm>
            <a:off x="1122742" y="3979987"/>
            <a:ext cx="4625434" cy="1602094"/>
            <a:chOff x="1215373" y="3921630"/>
            <a:chExt cx="4625434" cy="160209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281BCBF-4B26-96DC-C596-7CBEF8D39F12}"/>
                </a:ext>
              </a:extLst>
            </p:cNvPr>
            <p:cNvSpPr/>
            <p:nvPr/>
          </p:nvSpPr>
          <p:spPr>
            <a:xfrm>
              <a:off x="1215373" y="5041754"/>
              <a:ext cx="4625434" cy="481970"/>
            </a:xfrm>
            <a:prstGeom prst="rect">
              <a:avLst/>
            </a:prstGeom>
            <a:solidFill>
              <a:srgbClr val="15BD8E">
                <a:alpha val="3411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主約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8B1B3AA-DC46-38C6-42D4-30CE906C46FA}"/>
                </a:ext>
              </a:extLst>
            </p:cNvPr>
            <p:cNvSpPr/>
            <p:nvPr/>
          </p:nvSpPr>
          <p:spPr>
            <a:xfrm>
              <a:off x="1215373" y="3921630"/>
              <a:ext cx="1487218" cy="481970"/>
            </a:xfrm>
            <a:prstGeom prst="rect">
              <a:avLst/>
            </a:prstGeom>
            <a:solidFill>
              <a:srgbClr val="E7F5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附約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A5D60-8AE8-BD78-BCC3-1E13D8BD7B76}"/>
                </a:ext>
              </a:extLst>
            </p:cNvPr>
            <p:cNvSpPr/>
            <p:nvPr/>
          </p:nvSpPr>
          <p:spPr>
            <a:xfrm>
              <a:off x="2784481" y="3921630"/>
              <a:ext cx="1487218" cy="481970"/>
            </a:xfrm>
            <a:prstGeom prst="rect">
              <a:avLst/>
            </a:prstGeom>
            <a:solidFill>
              <a:srgbClr val="E7F5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附約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2533A57-E4FB-CFF4-3C31-07EFDB765535}"/>
                </a:ext>
              </a:extLst>
            </p:cNvPr>
            <p:cNvSpPr/>
            <p:nvPr/>
          </p:nvSpPr>
          <p:spPr>
            <a:xfrm>
              <a:off x="4353589" y="3921630"/>
              <a:ext cx="1487218" cy="481970"/>
            </a:xfrm>
            <a:prstGeom prst="rect">
              <a:avLst/>
            </a:prstGeom>
            <a:solidFill>
              <a:srgbClr val="E7F5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附約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E90E308-5BE8-EFFC-8888-57D7A7FBF95D}"/>
                </a:ext>
              </a:extLst>
            </p:cNvPr>
            <p:cNvSpPr/>
            <p:nvPr/>
          </p:nvSpPr>
          <p:spPr>
            <a:xfrm>
              <a:off x="1215373" y="4483197"/>
              <a:ext cx="1487216" cy="4819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2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+</a:t>
              </a:r>
              <a:endParaRPr lang="zh-TW" altLang="en-US" sz="2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FDC48E5-14BF-51DD-EA29-48162CE14ED0}"/>
                </a:ext>
              </a:extLst>
            </p:cNvPr>
            <p:cNvSpPr/>
            <p:nvPr/>
          </p:nvSpPr>
          <p:spPr>
            <a:xfrm>
              <a:off x="2784483" y="4483197"/>
              <a:ext cx="1487216" cy="4819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2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+</a:t>
              </a:r>
              <a:endParaRPr lang="zh-TW" altLang="en-US" sz="2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7C9601E-277A-FCA7-BC18-DB91B5229093}"/>
                </a:ext>
              </a:extLst>
            </p:cNvPr>
            <p:cNvSpPr/>
            <p:nvPr/>
          </p:nvSpPr>
          <p:spPr>
            <a:xfrm>
              <a:off x="4353591" y="4483197"/>
              <a:ext cx="1487216" cy="4819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2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+</a:t>
              </a:r>
              <a:endParaRPr lang="zh-TW" altLang="en-US" sz="2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D9B69E4B-1DA0-E0C9-EE21-BFECEA41E196}"/>
              </a:ext>
            </a:extLst>
          </p:cNvPr>
          <p:cNvSpPr/>
          <p:nvPr/>
        </p:nvSpPr>
        <p:spPr>
          <a:xfrm>
            <a:off x="1125581" y="5867688"/>
            <a:ext cx="9940835" cy="356270"/>
          </a:xfrm>
          <a:prstGeom prst="rect">
            <a:avLst/>
          </a:prstGeom>
          <a:noFill/>
          <a:ln w="12700"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效益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：新模組提供極致彈性、中高齡者保費負擔有望降低、客戶可依需求和環境隨時強化自身保障</a:t>
            </a:r>
          </a:p>
        </p:txBody>
      </p:sp>
    </p:spTree>
    <p:extLst>
      <p:ext uri="{BB962C8B-B14F-4D97-AF65-F5344CB8AC3E}">
        <p14:creationId xmlns:p14="http://schemas.microsoft.com/office/powerpoint/2010/main" val="657806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4347-DB69-FEAD-B3F9-9438C645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50B2E059-3A1C-F62D-9205-C27550911C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02C7E9C7-B41A-0D87-6A8B-E28E9A61BCDA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EFE5B13A-FF2C-0219-636C-9011E88908E6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ja-JP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ミライト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|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診斷到術後全覆蓋的</a:t>
            </a:r>
            <a:r>
              <a:rPr lang="zh-TW" altLang="en-US" sz="2800" b="1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服務整合型癌症險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529BAF17-359D-6612-8AE6-D2957168C316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6F639D5E-3FA3-29EF-0235-41DAF6EDEA39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</a:t>
            </a:r>
            <a:r>
              <a:rPr lang="ja-JP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安心パレット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TW" altLang="en-US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彈性保障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，涵蓋保險金給付、術後諮詢與關懷的</a:t>
            </a:r>
            <a:r>
              <a:rPr lang="zh-TW" altLang="en-US" b="1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客製化保險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D1AE7E-B56D-9101-9088-E2F50B05712A}"/>
              </a:ext>
            </a:extLst>
          </p:cNvPr>
          <p:cNvSpPr/>
          <p:nvPr/>
        </p:nvSpPr>
        <p:spPr>
          <a:xfrm>
            <a:off x="1122742" y="3805598"/>
            <a:ext cx="4625434" cy="360948"/>
          </a:xfrm>
          <a:prstGeom prst="rect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既有商品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98FB8B-5E2E-49AB-EB28-3A7BABFCE32D}"/>
              </a:ext>
            </a:extLst>
          </p:cNvPr>
          <p:cNvSpPr/>
          <p:nvPr/>
        </p:nvSpPr>
        <p:spPr>
          <a:xfrm>
            <a:off x="6443825" y="3805598"/>
            <a:ext cx="4625434" cy="360948"/>
          </a:xfrm>
          <a:prstGeom prst="rect">
            <a:avLst/>
          </a:prstGeom>
          <a:solidFill>
            <a:srgbClr val="15B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ミライト</a:t>
            </a:r>
            <a:r>
              <a:rPr lang="en-US" altLang="zh-TW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(Miraito)</a:t>
            </a:r>
            <a:endParaRPr lang="zh-TW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45814A1-29F7-538D-8AD2-499FA72FA0F1}"/>
              </a:ext>
            </a:extLst>
          </p:cNvPr>
          <p:cNvCxnSpPr>
            <a:cxnSpLocks/>
          </p:cNvCxnSpPr>
          <p:nvPr/>
        </p:nvCxnSpPr>
        <p:spPr>
          <a:xfrm>
            <a:off x="6096000" y="4311007"/>
            <a:ext cx="1" cy="1108401"/>
          </a:xfrm>
          <a:prstGeom prst="straightConnector1">
            <a:avLst/>
          </a:prstGeom>
          <a:ln w="12700">
            <a:solidFill>
              <a:srgbClr val="737373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4A7395D3-1E2C-B832-8A57-81ED0B0F35AC}"/>
              </a:ext>
            </a:extLst>
          </p:cNvPr>
          <p:cNvSpPr/>
          <p:nvPr/>
        </p:nvSpPr>
        <p:spPr>
          <a:xfrm>
            <a:off x="1122742" y="4311007"/>
            <a:ext cx="1487218" cy="481970"/>
          </a:xfrm>
          <a:prstGeom prst="rect">
            <a:avLst/>
          </a:prstGeom>
          <a:solidFill>
            <a:srgbClr val="E7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診斷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AF15F88-9B1B-2064-50B5-30D9E57D90CF}"/>
              </a:ext>
            </a:extLst>
          </p:cNvPr>
          <p:cNvSpPr/>
          <p:nvPr/>
        </p:nvSpPr>
        <p:spPr>
          <a:xfrm>
            <a:off x="2691850" y="4311007"/>
            <a:ext cx="1487218" cy="481970"/>
          </a:xfrm>
          <a:prstGeom prst="rect">
            <a:avLst/>
          </a:prstGeom>
          <a:solidFill>
            <a:srgbClr val="AFE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F30DDB7-D7CB-647E-D304-721F505DD832}"/>
              </a:ext>
            </a:extLst>
          </p:cNvPr>
          <p:cNvSpPr/>
          <p:nvPr/>
        </p:nvSpPr>
        <p:spPr>
          <a:xfrm>
            <a:off x="4260958" y="4311007"/>
            <a:ext cx="1487218" cy="481970"/>
          </a:xfrm>
          <a:prstGeom prst="rect">
            <a:avLst/>
          </a:prstGeom>
          <a:solidFill>
            <a:srgbClr val="E7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術後生活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B90F9D-6ABE-4115-C164-10F029C45D02}"/>
              </a:ext>
            </a:extLst>
          </p:cNvPr>
          <p:cNvSpPr/>
          <p:nvPr/>
        </p:nvSpPr>
        <p:spPr>
          <a:xfrm>
            <a:off x="1122743" y="4937438"/>
            <a:ext cx="4625434" cy="481970"/>
          </a:xfrm>
          <a:prstGeom prst="rect">
            <a:avLst/>
          </a:prstGeom>
          <a:noFill/>
          <a:ln w="12700"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多數僅治療期間給付、缺乏加值服務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7D0704F-5351-DD9F-4F79-7A62E1232EE5}"/>
              </a:ext>
            </a:extLst>
          </p:cNvPr>
          <p:cNvSpPr/>
          <p:nvPr/>
        </p:nvSpPr>
        <p:spPr>
          <a:xfrm>
            <a:off x="6443825" y="4311007"/>
            <a:ext cx="1487218" cy="481970"/>
          </a:xfrm>
          <a:prstGeom prst="rect">
            <a:avLst/>
          </a:prstGeom>
          <a:solidFill>
            <a:srgbClr val="AFE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診斷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4531720-557D-1FF4-8C2D-8B751B8D1E02}"/>
              </a:ext>
            </a:extLst>
          </p:cNvPr>
          <p:cNvSpPr/>
          <p:nvPr/>
        </p:nvSpPr>
        <p:spPr>
          <a:xfrm>
            <a:off x="8012933" y="4311007"/>
            <a:ext cx="1487218" cy="481970"/>
          </a:xfrm>
          <a:prstGeom prst="rect">
            <a:avLst/>
          </a:prstGeom>
          <a:solidFill>
            <a:srgbClr val="AFE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治療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0FF8501-CBB9-7BCC-1FFD-E2994E0B9E72}"/>
              </a:ext>
            </a:extLst>
          </p:cNvPr>
          <p:cNvSpPr/>
          <p:nvPr/>
        </p:nvSpPr>
        <p:spPr>
          <a:xfrm>
            <a:off x="9582041" y="4311007"/>
            <a:ext cx="1487218" cy="481970"/>
          </a:xfrm>
          <a:prstGeom prst="rect">
            <a:avLst/>
          </a:prstGeom>
          <a:solidFill>
            <a:srgbClr val="AFE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術後生活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0D8C1ED-14D4-CE6F-99F3-8667421DA74F}"/>
              </a:ext>
            </a:extLst>
          </p:cNvPr>
          <p:cNvSpPr/>
          <p:nvPr/>
        </p:nvSpPr>
        <p:spPr>
          <a:xfrm>
            <a:off x="6443825" y="4937438"/>
            <a:ext cx="4625434" cy="481970"/>
          </a:xfrm>
          <a:prstGeom prst="rect">
            <a:avLst/>
          </a:prstGeom>
          <a:noFill/>
          <a:ln w="12700"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涵蓋術前診斷、術後生活重建等</a:t>
            </a: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完整服務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CBAB04-8851-3CDE-E964-FD478DC2E6D1}"/>
              </a:ext>
            </a:extLst>
          </p:cNvPr>
          <p:cNvSpPr/>
          <p:nvPr/>
        </p:nvSpPr>
        <p:spPr>
          <a:xfrm>
            <a:off x="1122742" y="1927116"/>
            <a:ext cx="9946509" cy="481971"/>
          </a:xfrm>
          <a:prstGeom prst="rect">
            <a:avLst/>
          </a:prstGeom>
          <a:solidFill>
            <a:srgbClr val="B4B4B4">
              <a:alpha val="34118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因日本健保財務壓力增加，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非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)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醫療成本轉移至個人，消費者對補充型醫療險的需求提升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CDDD282-6E56-3866-E768-2C28A32E9B90}"/>
              </a:ext>
            </a:extLst>
          </p:cNvPr>
          <p:cNvSpPr/>
          <p:nvPr/>
        </p:nvSpPr>
        <p:spPr>
          <a:xfrm>
            <a:off x="1122742" y="1566168"/>
            <a:ext cx="1487217" cy="3609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背景一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13D524F-1E5F-D831-1D41-E42B477F71FF}"/>
              </a:ext>
            </a:extLst>
          </p:cNvPr>
          <p:cNvSpPr/>
          <p:nvPr/>
        </p:nvSpPr>
        <p:spPr>
          <a:xfrm>
            <a:off x="1122742" y="2886662"/>
            <a:ext cx="9946509" cy="481971"/>
          </a:xfrm>
          <a:prstGeom prst="rect">
            <a:avLst/>
          </a:prstGeom>
          <a:solidFill>
            <a:srgbClr val="B4B4B4">
              <a:alpha val="34118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第三分野保險的利潤穩定且強勁，使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AFLAC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Japan</a:t>
            </a:r>
            <a:r>
              <a:rPr lang="zh-TW" altLang="en-US" sz="10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有意維持其在該領域當中的領導地位</a:t>
            </a:r>
            <a:endParaRPr lang="en-US" altLang="zh-TW" sz="1600" kern="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E2819B8-3FAE-46BF-6119-2F56AF20B06E}"/>
              </a:ext>
            </a:extLst>
          </p:cNvPr>
          <p:cNvSpPr/>
          <p:nvPr/>
        </p:nvSpPr>
        <p:spPr>
          <a:xfrm>
            <a:off x="1122742" y="2525714"/>
            <a:ext cx="1487217" cy="3609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背景二</a:t>
            </a: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42FF1292-8461-F15F-1D48-FB92562543ED}"/>
              </a:ext>
            </a:extLst>
          </p:cNvPr>
          <p:cNvCxnSpPr>
            <a:cxnSpLocks/>
          </p:cNvCxnSpPr>
          <p:nvPr/>
        </p:nvCxnSpPr>
        <p:spPr>
          <a:xfrm>
            <a:off x="1122742" y="3587116"/>
            <a:ext cx="9946509" cy="0"/>
          </a:xfrm>
          <a:prstGeom prst="straightConnector1">
            <a:avLst/>
          </a:prstGeom>
          <a:ln w="12700">
            <a:solidFill>
              <a:srgbClr val="737373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20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A927-274A-F61E-A525-7A1C5E28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2EBF42B5-134E-59C1-0BB3-853E983CA5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6FC3B12E-CF07-AE71-361D-1B7D9D314050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1AF78F7F-CF2E-EFB2-18D1-3DE5C0EF1939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數位轉型歷程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B8530F80-B825-935D-8001-2EB85426FD62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3AD0ABC4-22EB-C2AA-470A-4554C0DF62C0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服務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技術完整，並開始向外整合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62B6901-2442-239E-FBE9-15B73ABC1030}"/>
              </a:ext>
            </a:extLst>
          </p:cNvPr>
          <p:cNvCxnSpPr>
            <a:cxnSpLocks/>
            <a:stCxn id="4" idx="4"/>
            <a:endCxn id="33" idx="0"/>
          </p:cNvCxnSpPr>
          <p:nvPr/>
        </p:nvCxnSpPr>
        <p:spPr>
          <a:xfrm>
            <a:off x="1259289" y="1906278"/>
            <a:ext cx="0" cy="3723307"/>
          </a:xfrm>
          <a:prstGeom prst="line">
            <a:avLst/>
          </a:prstGeom>
          <a:ln w="6350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5D7FF1DE-1836-DEFE-265B-FF1AB950C6B5}"/>
              </a:ext>
            </a:extLst>
          </p:cNvPr>
          <p:cNvSpPr/>
          <p:nvPr/>
        </p:nvSpPr>
        <p:spPr>
          <a:xfrm>
            <a:off x="1171085" y="1729870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4B56FF4-6CF8-1DC1-AF5C-CC9CE8B9A7F5}"/>
              </a:ext>
            </a:extLst>
          </p:cNvPr>
          <p:cNvSpPr/>
          <p:nvPr/>
        </p:nvSpPr>
        <p:spPr>
          <a:xfrm>
            <a:off x="1171085" y="2509813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B38D3BF-E5C9-8FE4-4409-7AE6CF3C353A}"/>
              </a:ext>
            </a:extLst>
          </p:cNvPr>
          <p:cNvSpPr/>
          <p:nvPr/>
        </p:nvSpPr>
        <p:spPr>
          <a:xfrm>
            <a:off x="1171085" y="3289756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CBD1D6C-8DE2-E41D-C874-3AE90EE3F71C}"/>
              </a:ext>
            </a:extLst>
          </p:cNvPr>
          <p:cNvSpPr/>
          <p:nvPr/>
        </p:nvSpPr>
        <p:spPr>
          <a:xfrm>
            <a:off x="1171085" y="4069699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568B88AB-9221-ABB6-BFE4-56DC1473B051}"/>
              </a:ext>
            </a:extLst>
          </p:cNvPr>
          <p:cNvSpPr/>
          <p:nvPr/>
        </p:nvSpPr>
        <p:spPr>
          <a:xfrm>
            <a:off x="1171085" y="4849642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EF19B8A2-D98F-013D-FB79-103B54CD85F4}"/>
              </a:ext>
            </a:extLst>
          </p:cNvPr>
          <p:cNvSpPr/>
          <p:nvPr/>
        </p:nvSpPr>
        <p:spPr>
          <a:xfrm>
            <a:off x="1171085" y="5629585"/>
            <a:ext cx="176408" cy="176408"/>
          </a:xfrm>
          <a:prstGeom prst="ellipse">
            <a:avLst/>
          </a:prstGeom>
          <a:solidFill>
            <a:srgbClr val="15BD8E"/>
          </a:solidFill>
          <a:ln>
            <a:solidFill>
              <a:srgbClr val="15BD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B44F92-E75E-5E51-1275-ED04C2519D70}"/>
              </a:ext>
            </a:extLst>
          </p:cNvPr>
          <p:cNvSpPr/>
          <p:nvPr/>
        </p:nvSpPr>
        <p:spPr>
          <a:xfrm>
            <a:off x="1467613" y="5415297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29B99C-489C-3BF3-28D5-0D2760C6F681}"/>
              </a:ext>
            </a:extLst>
          </p:cNvPr>
          <p:cNvSpPr/>
          <p:nvPr/>
        </p:nvSpPr>
        <p:spPr>
          <a:xfrm>
            <a:off x="1467613" y="1518720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2016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2D8B71-D1C5-0691-0224-5DA8D8F8CE34}"/>
              </a:ext>
            </a:extLst>
          </p:cNvPr>
          <p:cNvSpPr/>
          <p:nvPr/>
        </p:nvSpPr>
        <p:spPr>
          <a:xfrm>
            <a:off x="1467613" y="2298035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2017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51CFB8-37E5-8185-AC02-F05639CACCFE}"/>
              </a:ext>
            </a:extLst>
          </p:cNvPr>
          <p:cNvSpPr/>
          <p:nvPr/>
        </p:nvSpPr>
        <p:spPr>
          <a:xfrm>
            <a:off x="1467613" y="3077350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2022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CB993FE-9D9F-4F1B-CA1B-115241AC7C81}"/>
              </a:ext>
            </a:extLst>
          </p:cNvPr>
          <p:cNvSpPr/>
          <p:nvPr/>
        </p:nvSpPr>
        <p:spPr>
          <a:xfrm>
            <a:off x="1467613" y="3856665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2023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30A415D-5EC6-6129-B026-38A9FCDED8DD}"/>
              </a:ext>
            </a:extLst>
          </p:cNvPr>
          <p:cNvSpPr/>
          <p:nvPr/>
        </p:nvSpPr>
        <p:spPr>
          <a:xfrm>
            <a:off x="1467613" y="4635980"/>
            <a:ext cx="1085805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endParaRPr lang="zh-TW" altLang="en-US" sz="2800" b="1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C5276A-0498-A4E3-9D37-F19A8D6031D2}"/>
              </a:ext>
            </a:extLst>
          </p:cNvPr>
          <p:cNvSpPr/>
          <p:nvPr/>
        </p:nvSpPr>
        <p:spPr>
          <a:xfrm>
            <a:off x="2786332" y="1551374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TW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SmartClaim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</a:t>
            </a:r>
            <a:r>
              <a:rPr lang="en-US" altLang="zh-TW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問答、產出應附文件，若符合資格則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One-Day Pay</a:t>
            </a:r>
            <a:endParaRPr lang="zh-TW" altLang="en-US" sz="1600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FDD07DB-43CE-B982-E04C-74B668C41DFC}"/>
              </a:ext>
            </a:extLst>
          </p:cNvPr>
          <p:cNvSpPr/>
          <p:nvPr/>
        </p:nvSpPr>
        <p:spPr>
          <a:xfrm>
            <a:off x="2786332" y="3891203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導入</a:t>
            </a:r>
            <a:r>
              <a:rPr lang="zh-TW" altLang="en-US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機器學習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加速理賠流程、並提升審核準確率與一致性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2059C21-EA95-6F12-289D-1FFC3C2D9DC1}"/>
              </a:ext>
            </a:extLst>
          </p:cNvPr>
          <p:cNvSpPr/>
          <p:nvPr/>
        </p:nvSpPr>
        <p:spPr>
          <a:xfrm>
            <a:off x="2786332" y="2331317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TW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逐步提供保單管理、理賠提交、進度查詢以及業務聯繫等服務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CE12136-0D74-41EF-F83B-1F98D9E163E1}"/>
              </a:ext>
            </a:extLst>
          </p:cNvPr>
          <p:cNvSpPr/>
          <p:nvPr/>
        </p:nvSpPr>
        <p:spPr>
          <a:xfrm>
            <a:off x="2786332" y="4671146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NAYYA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(InsurTech)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SKYGEN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(HealthTech)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5"/>
              </a:rPr>
              <a:t>empathy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(GriefTech)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B9D5C78-F96D-3A23-FDF6-5517795FECAC}"/>
              </a:ext>
            </a:extLst>
          </p:cNvPr>
          <p:cNvSpPr/>
          <p:nvPr/>
        </p:nvSpPr>
        <p:spPr>
          <a:xfrm>
            <a:off x="2786332" y="3111260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TW" altLang="en-US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資料上雲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AWS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，並透過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 / Webex</a:t>
            </a:r>
            <a:r>
              <a:rPr lang="en-US" altLang="zh-TW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完善</a:t>
            </a:r>
            <a:r>
              <a:rPr lang="zh-TW" altLang="en-US" sz="16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遠距投保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服務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50CA2BD-8190-E0F5-6464-2707EBD733AA}"/>
              </a:ext>
            </a:extLst>
          </p:cNvPr>
          <p:cNvSpPr/>
          <p:nvPr/>
        </p:nvSpPr>
        <p:spPr>
          <a:xfrm>
            <a:off x="2786332" y="5451089"/>
            <a:ext cx="8782046" cy="5334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6"/>
              </a:rPr>
              <a:t>Workday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雲端企業管理平台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SalesForce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展開三方合作</a:t>
            </a:r>
          </a:p>
        </p:txBody>
      </p:sp>
    </p:spTree>
    <p:extLst>
      <p:ext uri="{BB962C8B-B14F-4D97-AF65-F5344CB8AC3E}">
        <p14:creationId xmlns:p14="http://schemas.microsoft.com/office/powerpoint/2010/main" val="341628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4EA5-DF48-253F-1E7C-58A37DAB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D526FEB6-BD2B-3F3D-3856-8B190E5B01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370DFB4A-F491-2432-09A8-C445A379C1AB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705342DF-A519-D12D-671F-96255DD70E34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NAYYA, SKYGEN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&amp;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empathy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F862EB95-800F-812E-3BBA-C8EC78852E4C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717298ED-97FF-498D-2C5E-F17B96D00CF8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在補充性醫療保險與壽險兩大主軸上不斷加強服務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92E897-3AAB-4F96-32A9-ADBB6F550054}"/>
              </a:ext>
            </a:extLst>
          </p:cNvPr>
          <p:cNvSpPr/>
          <p:nvPr/>
        </p:nvSpPr>
        <p:spPr>
          <a:xfrm>
            <a:off x="455094" y="1842834"/>
            <a:ext cx="895901" cy="63294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2969BC-F599-FAC3-5C0C-5B1E0D1C354D}"/>
              </a:ext>
            </a:extLst>
          </p:cNvPr>
          <p:cNvSpPr/>
          <p:nvPr/>
        </p:nvSpPr>
        <p:spPr>
          <a:xfrm>
            <a:off x="1350997" y="1842835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InsurTech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7ECA3F-0701-13E3-32DB-DC8809C423F8}"/>
              </a:ext>
            </a:extLst>
          </p:cNvPr>
          <p:cNvSpPr/>
          <p:nvPr/>
        </p:nvSpPr>
        <p:spPr>
          <a:xfrm>
            <a:off x="8274938" y="1842835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GriefTech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F98EBB-A437-D3EF-4845-5196AC611830}"/>
              </a:ext>
            </a:extLst>
          </p:cNvPr>
          <p:cNvSpPr/>
          <p:nvPr/>
        </p:nvSpPr>
        <p:spPr>
          <a:xfrm>
            <a:off x="4812968" y="1842835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HealthTech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270CD77-4D42-38ED-77F8-B3CA9AB217ED}"/>
              </a:ext>
            </a:extLst>
          </p:cNvPr>
          <p:cNvSpPr/>
          <p:nvPr/>
        </p:nvSpPr>
        <p:spPr>
          <a:xfrm>
            <a:off x="455093" y="2475781"/>
            <a:ext cx="895901" cy="632947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F27B7F-7CA4-A69C-EAC4-F282332BCE30}"/>
              </a:ext>
            </a:extLst>
          </p:cNvPr>
          <p:cNvSpPr/>
          <p:nvPr/>
        </p:nvSpPr>
        <p:spPr>
          <a:xfrm>
            <a:off x="1350996" y="2475782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en-US" altLang="zh-TW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保險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福利推薦平台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D7EAEA-7488-D628-CEB5-1B453BCCF464}"/>
              </a:ext>
            </a:extLst>
          </p:cNvPr>
          <p:cNvSpPr/>
          <p:nvPr/>
        </p:nvSpPr>
        <p:spPr>
          <a:xfrm>
            <a:off x="8274937" y="2475782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結合科技的喪葬關懷平台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909E2B-B63F-0DC8-E072-510D46DA57E0}"/>
              </a:ext>
            </a:extLst>
          </p:cNvPr>
          <p:cNvSpPr/>
          <p:nvPr/>
        </p:nvSpPr>
        <p:spPr>
          <a:xfrm>
            <a:off x="4812967" y="2475782"/>
            <a:ext cx="3461969" cy="632946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專注於牙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眼科福利的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SaaS</a:t>
            </a:r>
            <a:r>
              <a:rPr lang="en-US" altLang="zh-TW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E244338-9106-1975-79FE-BD9CF6DD3F07}"/>
              </a:ext>
            </a:extLst>
          </p:cNvPr>
          <p:cNvSpPr/>
          <p:nvPr/>
        </p:nvSpPr>
        <p:spPr>
          <a:xfrm>
            <a:off x="455091" y="3112527"/>
            <a:ext cx="895901" cy="1867192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12F2B74-0910-29ED-7B98-EF8BE07E1BCA}"/>
              </a:ext>
            </a:extLst>
          </p:cNvPr>
          <p:cNvSpPr/>
          <p:nvPr/>
        </p:nvSpPr>
        <p:spPr>
          <a:xfrm>
            <a:off x="1350994" y="3112527"/>
            <a:ext cx="3461969" cy="1867189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個人化保險建議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整合員工財務、健康與理賠資料協助決策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Benefits Agent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串接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Slack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與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提升平台使用率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DC5569E-C26D-2916-17C7-F0D59BE5B7A5}"/>
              </a:ext>
            </a:extLst>
          </p:cNvPr>
          <p:cNvSpPr/>
          <p:nvPr/>
        </p:nvSpPr>
        <p:spPr>
          <a:xfrm>
            <a:off x="8274935" y="3112527"/>
            <a:ext cx="3461969" cy="1867189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LifeVault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法律文件生成與管理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Loss Support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喪禮規劃與協助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Leave Support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員工暫離崗位的協助與關懷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1D62933-4A75-592F-A22C-08EC7C49C954}"/>
              </a:ext>
            </a:extLst>
          </p:cNvPr>
          <p:cNvSpPr/>
          <p:nvPr/>
        </p:nvSpPr>
        <p:spPr>
          <a:xfrm>
            <a:off x="4812965" y="3112527"/>
            <a:ext cx="3461969" cy="1867189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TPA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協助保險公司理賠、資格審核的第三方管理服務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Marketplace Connectivity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串接醫師、保險公司與客戶</a:t>
            </a:r>
          </a:p>
        </p:txBody>
      </p:sp>
      <p:pic>
        <p:nvPicPr>
          <p:cNvPr id="1026" name="Picture 2" descr="Nayya Acquires Northstar | citybiz">
            <a:extLst>
              <a:ext uri="{FF2B5EF4-FFF2-40B4-BE49-F238E27FC236}">
                <a16:creationId xmlns:a16="http://schemas.microsoft.com/office/drawing/2014/main" id="{0907D0C6-861B-E578-34D8-15D11C1B5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770" y="1232530"/>
            <a:ext cx="1110416" cy="5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 | SKYGEN">
            <a:extLst>
              <a:ext uri="{FF2B5EF4-FFF2-40B4-BE49-F238E27FC236}">
                <a16:creationId xmlns:a16="http://schemas.microsoft.com/office/drawing/2014/main" id="{6C8A7F38-D6A1-4ED7-80AC-DF6627FD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740" y="1412309"/>
            <a:ext cx="1110417" cy="22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actical Resources for Coping With Loss | Empathy">
            <a:extLst>
              <a:ext uri="{FF2B5EF4-FFF2-40B4-BE49-F238E27FC236}">
                <a16:creationId xmlns:a16="http://schemas.microsoft.com/office/drawing/2014/main" id="{8F53AA6A-126A-4245-9016-45C97E1C9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7" t="29920" r="22559" b="29100"/>
          <a:stretch/>
        </p:blipFill>
        <p:spPr bwMode="auto">
          <a:xfrm>
            <a:off x="9450711" y="1304820"/>
            <a:ext cx="1110416" cy="4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1726C606-8D80-C97D-8ACE-21540EA8E26F}"/>
              </a:ext>
            </a:extLst>
          </p:cNvPr>
          <p:cNvSpPr/>
          <p:nvPr/>
        </p:nvSpPr>
        <p:spPr>
          <a:xfrm>
            <a:off x="455091" y="4979715"/>
            <a:ext cx="895901" cy="1283061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</a:p>
          <a:p>
            <a:pPr algn="ctr"/>
            <a:r>
              <a:rPr lang="zh-TW" altLang="en-US" sz="14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ACC4AF1-1991-CB58-D99B-F98EFFA58027}"/>
              </a:ext>
            </a:extLst>
          </p:cNvPr>
          <p:cNvSpPr/>
          <p:nvPr/>
        </p:nvSpPr>
        <p:spPr>
          <a:xfrm>
            <a:off x="1350994" y="4979716"/>
            <a:ext cx="3461969" cy="128306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為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的理賠自動化提供技術支援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如主動提醒、文件確認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2F5D63D-A471-1E1E-934F-8761B10BC30B}"/>
              </a:ext>
            </a:extLst>
          </p:cNvPr>
          <p:cNvSpPr/>
          <p:nvPr/>
        </p:nvSpPr>
        <p:spPr>
          <a:xfrm>
            <a:off x="8274935" y="4979716"/>
            <a:ext cx="3461969" cy="128306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除壽險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失能險提供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empathy</a:t>
            </a:r>
            <a:r>
              <a:rPr lang="en-US" altLang="zh-TW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的服務外亦投資該公司</a:t>
            </a:r>
            <a:endParaRPr lang="en-US" altLang="zh-TW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5F1C551-9DB3-5E0B-916E-06D2F991D0C7}"/>
              </a:ext>
            </a:extLst>
          </p:cNvPr>
          <p:cNvSpPr/>
          <p:nvPr/>
        </p:nvSpPr>
        <p:spPr>
          <a:xfrm>
            <a:off x="4812965" y="4979716"/>
            <a:ext cx="3461969" cy="1283060"/>
          </a:xfrm>
          <a:prstGeom prst="rect">
            <a:avLst/>
          </a:prstGeom>
          <a:solidFill>
            <a:srgbClr val="15BD8E">
              <a:alpha val="5882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Dental Hub</a:t>
            </a:r>
            <a:r>
              <a:rPr lang="zh-TW" altLang="en-US" sz="1000" dirty="0">
                <a:solidFill>
                  <a:srgbClr val="15BD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串接醫療生態系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(Providers, Payers, Patients)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259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B6BD-AEE1-5241-D0DA-0A0A63BB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8062D4F-C437-148A-0444-D131238B0B11}"/>
              </a:ext>
            </a:extLst>
          </p:cNvPr>
          <p:cNvSpPr/>
          <p:nvPr/>
        </p:nvSpPr>
        <p:spPr>
          <a:xfrm>
            <a:off x="1437961" y="4788185"/>
            <a:ext cx="4629461" cy="808517"/>
          </a:xfrm>
          <a:prstGeom prst="rect">
            <a:avLst/>
          </a:prstGeom>
          <a:solidFill>
            <a:srgbClr val="E7F5F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業務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通路、產品、核保、理賠、服務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21475C-5292-F171-7CE2-B0E38481EDBA}"/>
              </a:ext>
            </a:extLst>
          </p:cNvPr>
          <p:cNvSpPr/>
          <p:nvPr/>
        </p:nvSpPr>
        <p:spPr>
          <a:xfrm>
            <a:off x="1437961" y="4788184"/>
            <a:ext cx="4629462" cy="8085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7C566C-6AE7-4EEA-C296-A698762E134A}"/>
              </a:ext>
            </a:extLst>
          </p:cNvPr>
          <p:cNvGrpSpPr/>
          <p:nvPr/>
        </p:nvGrpSpPr>
        <p:grpSpPr>
          <a:xfrm>
            <a:off x="1437961" y="1566168"/>
            <a:ext cx="9316072" cy="1232965"/>
            <a:chOff x="1437964" y="4396310"/>
            <a:chExt cx="9316072" cy="1232965"/>
          </a:xfrm>
          <a:effectLst/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A8D3C69-1C2C-B240-D5BE-5B2B035E5F0C}"/>
                </a:ext>
              </a:extLst>
            </p:cNvPr>
            <p:cNvSpPr/>
            <p:nvPr/>
          </p:nvSpPr>
          <p:spPr>
            <a:xfrm>
              <a:off x="1437964" y="4396310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國家層級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29D48CC-4E49-404E-9812-DF81B69A3AE7}"/>
                </a:ext>
              </a:extLst>
            </p:cNvPr>
            <p:cNvSpPr/>
            <p:nvPr/>
          </p:nvSpPr>
          <p:spPr>
            <a:xfrm>
              <a:off x="1437964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保險滲透率 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x 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密度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3D0DB9-36DB-BBCC-3AC3-3B3294CFCB0D}"/>
                </a:ext>
              </a:extLst>
            </p:cNvPr>
            <p:cNvSpPr/>
            <p:nvPr/>
          </p:nvSpPr>
          <p:spPr>
            <a:xfrm>
              <a:off x="4563677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公保、社保制度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ED70A6F-B149-762A-D59B-D651B263DBB6}"/>
                </a:ext>
              </a:extLst>
            </p:cNvPr>
            <p:cNvSpPr/>
            <p:nvPr/>
          </p:nvSpPr>
          <p:spPr>
            <a:xfrm>
              <a:off x="7689389" y="4820758"/>
              <a:ext cx="3064647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秩序、創新監理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9D22CE6-F970-C6CF-8671-CEFCF49C5ED4}"/>
              </a:ext>
            </a:extLst>
          </p:cNvPr>
          <p:cNvGrpSpPr/>
          <p:nvPr/>
        </p:nvGrpSpPr>
        <p:grpSpPr>
          <a:xfrm>
            <a:off x="1437961" y="2964953"/>
            <a:ext cx="9316073" cy="1232965"/>
            <a:chOff x="1437961" y="2964953"/>
            <a:chExt cx="9316073" cy="1232965"/>
          </a:xfrm>
          <a:effectLst/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AB51EF-44C5-FB29-FF26-C50FA3D762FE}"/>
                </a:ext>
              </a:extLst>
            </p:cNvPr>
            <p:cNvSpPr/>
            <p:nvPr/>
          </p:nvSpPr>
          <p:spPr>
            <a:xfrm>
              <a:off x="1437961" y="2964953"/>
              <a:ext cx="9316072" cy="360948"/>
            </a:xfrm>
            <a:prstGeom prst="rect">
              <a:avLst/>
            </a:prstGeom>
            <a:solidFill>
              <a:srgbClr val="15BD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TW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產業層級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42AE4F1-33A9-A223-85C8-F8A3F5778C5D}"/>
                </a:ext>
              </a:extLst>
            </p:cNvPr>
            <p:cNvSpPr/>
            <p:nvPr/>
          </p:nvSpPr>
          <p:spPr>
            <a:xfrm>
              <a:off x="1437961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公會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壽險、產險</a:t>
              </a:r>
              <a:r>
                <a:rPr lang="en-US" altLang="zh-TW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524E5B1-63D0-EE25-75FC-45151F73809D}"/>
                </a:ext>
              </a:extLst>
            </p:cNvPr>
            <p:cNvSpPr/>
            <p:nvPr/>
          </p:nvSpPr>
          <p:spPr>
            <a:xfrm>
              <a:off x="6124573" y="3389401"/>
              <a:ext cx="4629461" cy="808517"/>
            </a:xfrm>
            <a:prstGeom prst="rect">
              <a:avLst/>
            </a:prstGeom>
            <a:solidFill>
              <a:srgbClr val="E7F5F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市佔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(</a:t>
              </a:r>
              <a:r>
                <a:rPr lang="zh-TW" altLang="en-US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本土</a:t>
              </a:r>
              <a:r>
                <a:rPr lang="zh-TW" altLang="en-US" sz="1600" kern="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、外商</a:t>
              </a:r>
              <a:r>
                <a:rPr lang="en-US" altLang="zh-TW" sz="1600" kern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)</a:t>
              </a:r>
              <a:endPara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C4E8122-75A7-B0DD-2F20-753C3BC64F59}"/>
              </a:ext>
            </a:extLst>
          </p:cNvPr>
          <p:cNvSpPr/>
          <p:nvPr/>
        </p:nvSpPr>
        <p:spPr>
          <a:xfrm>
            <a:off x="1437961" y="1566168"/>
            <a:ext cx="9316073" cy="26317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F46FEB7C-D88B-877F-B96A-C8E8DD839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46F1A9FC-AFAD-D29F-6ED5-929C8668F98D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B72E8BD8-BCE4-5A28-07A8-0D4E39EE7A47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保險公司研究架構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CE36C392-9A03-996E-7F8F-9D6046F7BF7A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9AEFD58B-6AB3-83AE-8211-D3C686DB7722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可分為國家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產業</a:t>
            </a:r>
            <a:r>
              <a:rPr lang="zh-TW" altLang="en-US" sz="1400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公司三層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CC795A-E4C5-531F-C9CC-02B76B13945F}"/>
              </a:ext>
            </a:extLst>
          </p:cNvPr>
          <p:cNvSpPr/>
          <p:nvPr/>
        </p:nvSpPr>
        <p:spPr>
          <a:xfrm>
            <a:off x="1437962" y="4363737"/>
            <a:ext cx="9316072" cy="360948"/>
          </a:xfrm>
          <a:prstGeom prst="rect">
            <a:avLst/>
          </a:prstGeom>
          <a:solidFill>
            <a:srgbClr val="15BD8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公司層級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A591D0-7504-F794-0B02-548CDF894F23}"/>
              </a:ext>
            </a:extLst>
          </p:cNvPr>
          <p:cNvSpPr/>
          <p:nvPr/>
        </p:nvSpPr>
        <p:spPr>
          <a:xfrm>
            <a:off x="6124573" y="4788185"/>
            <a:ext cx="4629461" cy="808517"/>
          </a:xfrm>
          <a:prstGeom prst="rect">
            <a:avLst/>
          </a:prstGeom>
          <a:solidFill>
            <a:srgbClr val="E7F5F0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財務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三表、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TA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EPS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ROA</a:t>
            </a:r>
            <a:r>
              <a:rPr lang="zh-TW" altLang="en-US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lang="en-US" altLang="zh-TW" sz="1600" kern="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ROE)</a:t>
            </a:r>
          </a:p>
        </p:txBody>
      </p:sp>
    </p:spTree>
    <p:extLst>
      <p:ext uri="{BB962C8B-B14F-4D97-AF65-F5344CB8AC3E}">
        <p14:creationId xmlns:p14="http://schemas.microsoft.com/office/powerpoint/2010/main" val="362882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26FE-C408-2979-2A27-62CDF96D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B41FCAFB-4886-5391-AC7A-FDCEDDCD3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1862981"/>
              </p:ext>
            </p:extLst>
          </p:nvPr>
        </p:nvGraphicFramePr>
        <p:xfrm>
          <a:off x="742951" y="1558442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7FD5A44-D8AE-90D4-6F5F-9997F75942D0}"/>
              </a:ext>
            </a:extLst>
          </p:cNvPr>
          <p:cNvSpPr/>
          <p:nvPr/>
        </p:nvSpPr>
        <p:spPr>
          <a:xfrm>
            <a:off x="742950" y="1233506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保費收入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28" name="圖表 27">
            <a:extLst>
              <a:ext uri="{FF2B5EF4-FFF2-40B4-BE49-F238E27FC236}">
                <a16:creationId xmlns:a16="http://schemas.microsoft.com/office/drawing/2014/main" id="{9096F8DD-03ED-9980-B8E9-443DF7597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7130881"/>
              </p:ext>
            </p:extLst>
          </p:nvPr>
        </p:nvGraphicFramePr>
        <p:xfrm>
          <a:off x="742951" y="4024055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90B7BE3F-3D1B-6664-689B-84872EEEBC67}"/>
              </a:ext>
            </a:extLst>
          </p:cNvPr>
          <p:cNvSpPr/>
          <p:nvPr/>
        </p:nvSpPr>
        <p:spPr>
          <a:xfrm>
            <a:off x="742950" y="3699119"/>
            <a:ext cx="5162551" cy="324936"/>
          </a:xfrm>
          <a:prstGeom prst="rect">
            <a:avLst/>
          </a:prstGeom>
          <a:solidFill>
            <a:srgbClr val="737373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整體市場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保費收入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29F781A-00E9-D3FC-7C71-7AF2B2B769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951581BB-8890-ABB2-3ADD-950A75FD1CDC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B2D4BC2B-DD77-CBF5-A296-5ADABD1F73CB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收入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/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支出走勢與整體對比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E728F9D9-9E22-594B-2238-3BB332FAC2DA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CC813E15-952C-CF10-B02B-2E47F784817F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取自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統合報告書與日本人壽協會年度趨勢報告</a:t>
            </a:r>
          </a:p>
        </p:txBody>
      </p:sp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id="{9ADECD63-5191-DEF1-AA78-DD177D5DE5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861100"/>
              </p:ext>
            </p:extLst>
          </p:nvPr>
        </p:nvGraphicFramePr>
        <p:xfrm>
          <a:off x="6286499" y="1558442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6C1C3BDB-D747-A699-F2CF-66D7483059D8}"/>
              </a:ext>
            </a:extLst>
          </p:cNvPr>
          <p:cNvSpPr/>
          <p:nvPr/>
        </p:nvSpPr>
        <p:spPr>
          <a:xfrm>
            <a:off x="6286499" y="1233506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理賠及年金支付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5" name="圖表 34">
            <a:extLst>
              <a:ext uri="{FF2B5EF4-FFF2-40B4-BE49-F238E27FC236}">
                <a16:creationId xmlns:a16="http://schemas.microsoft.com/office/drawing/2014/main" id="{74607B96-0DDB-C157-60B8-B25B79EA7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365936"/>
              </p:ext>
            </p:extLst>
          </p:nvPr>
        </p:nvGraphicFramePr>
        <p:xfrm>
          <a:off x="6286499" y="4024055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F0E119FD-9A3D-7CF8-496C-6F6E06B2F408}"/>
              </a:ext>
            </a:extLst>
          </p:cNvPr>
          <p:cNvSpPr/>
          <p:nvPr/>
        </p:nvSpPr>
        <p:spPr>
          <a:xfrm>
            <a:off x="6286498" y="3699119"/>
            <a:ext cx="5162551" cy="324936"/>
          </a:xfrm>
          <a:prstGeom prst="rect">
            <a:avLst/>
          </a:prstGeom>
          <a:solidFill>
            <a:srgbClr val="737373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整體市場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理賠及年金支付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74BF42A5-243C-D79E-56BF-09594414DFFB}"/>
              </a:ext>
            </a:extLst>
          </p:cNvPr>
          <p:cNvCxnSpPr>
            <a:cxnSpLocks/>
          </p:cNvCxnSpPr>
          <p:nvPr/>
        </p:nvCxnSpPr>
        <p:spPr>
          <a:xfrm>
            <a:off x="6096000" y="1233506"/>
            <a:ext cx="0" cy="5032840"/>
          </a:xfrm>
          <a:prstGeom prst="line">
            <a:avLst/>
          </a:prstGeom>
          <a:ln w="6350">
            <a:solidFill>
              <a:srgbClr val="B4B4B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C906C2DA-D65A-7C02-FD3C-C5A248824696}"/>
              </a:ext>
            </a:extLst>
          </p:cNvPr>
          <p:cNvGrpSpPr/>
          <p:nvPr/>
        </p:nvGrpSpPr>
        <p:grpSpPr>
          <a:xfrm>
            <a:off x="603250" y="6164732"/>
            <a:ext cx="5410994" cy="307736"/>
            <a:chOff x="603250" y="6164732"/>
            <a:chExt cx="5410994" cy="307736"/>
          </a:xfrm>
        </p:grpSpPr>
        <p:sp>
          <p:nvSpPr>
            <p:cNvPr id="39" name="Google Shape;12633;p6">
              <a:extLst>
                <a:ext uri="{FF2B5EF4-FFF2-40B4-BE49-F238E27FC236}">
                  <a16:creationId xmlns:a16="http://schemas.microsoft.com/office/drawing/2014/main" id="{0E0FAE4B-9E8E-8A52-A8BB-D770F7F3AC63}"/>
                </a:ext>
              </a:extLst>
            </p:cNvPr>
            <p:cNvSpPr txBox="1"/>
            <p:nvPr/>
          </p:nvSpPr>
          <p:spPr>
            <a:xfrm>
              <a:off x="603250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2020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Google Shape;12633;p6">
              <a:extLst>
                <a:ext uri="{FF2B5EF4-FFF2-40B4-BE49-F238E27FC236}">
                  <a16:creationId xmlns:a16="http://schemas.microsoft.com/office/drawing/2014/main" id="{9628334A-338F-BCD3-BB23-D59A77DFC4A1}"/>
                </a:ext>
              </a:extLst>
            </p:cNvPr>
            <p:cNvSpPr txBox="1"/>
            <p:nvPr/>
          </p:nvSpPr>
          <p:spPr>
            <a:xfrm>
              <a:off x="533886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2024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Google Shape;12633;p6">
              <a:extLst>
                <a:ext uri="{FF2B5EF4-FFF2-40B4-BE49-F238E27FC236}">
                  <a16:creationId xmlns:a16="http://schemas.microsoft.com/office/drawing/2014/main" id="{355B4A0D-7388-1BB0-5DB9-F1C6FB65C009}"/>
                </a:ext>
              </a:extLst>
            </p:cNvPr>
            <p:cNvSpPr txBox="1"/>
            <p:nvPr/>
          </p:nvSpPr>
          <p:spPr>
            <a:xfrm>
              <a:off x="297105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2022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Google Shape;12633;p6">
              <a:extLst>
                <a:ext uri="{FF2B5EF4-FFF2-40B4-BE49-F238E27FC236}">
                  <a16:creationId xmlns:a16="http://schemas.microsoft.com/office/drawing/2014/main" id="{3B5F42F6-8E05-F217-7C78-2D45DD45CA2B}"/>
                </a:ext>
              </a:extLst>
            </p:cNvPr>
            <p:cNvSpPr txBox="1"/>
            <p:nvPr/>
          </p:nvSpPr>
          <p:spPr>
            <a:xfrm>
              <a:off x="1787154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2021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Google Shape;12633;p6">
              <a:extLst>
                <a:ext uri="{FF2B5EF4-FFF2-40B4-BE49-F238E27FC236}">
                  <a16:creationId xmlns:a16="http://schemas.microsoft.com/office/drawing/2014/main" id="{FCAD7879-2614-2D52-7E96-6B1651BA1B41}"/>
                </a:ext>
              </a:extLst>
            </p:cNvPr>
            <p:cNvSpPr txBox="1"/>
            <p:nvPr/>
          </p:nvSpPr>
          <p:spPr>
            <a:xfrm>
              <a:off x="4154962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2023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DC6EF42B-0852-882B-C089-44E5595F6472}"/>
              </a:ext>
            </a:extLst>
          </p:cNvPr>
          <p:cNvGrpSpPr/>
          <p:nvPr/>
        </p:nvGrpSpPr>
        <p:grpSpPr>
          <a:xfrm>
            <a:off x="6139657" y="6164732"/>
            <a:ext cx="5410994" cy="307736"/>
            <a:chOff x="603250" y="6164732"/>
            <a:chExt cx="5410994" cy="307736"/>
          </a:xfrm>
        </p:grpSpPr>
        <p:sp>
          <p:nvSpPr>
            <p:cNvPr id="53" name="Google Shape;12633;p6">
              <a:extLst>
                <a:ext uri="{FF2B5EF4-FFF2-40B4-BE49-F238E27FC236}">
                  <a16:creationId xmlns:a16="http://schemas.microsoft.com/office/drawing/2014/main" id="{D2592133-E0E1-1D2A-5CBC-C874C9BA876B}"/>
                </a:ext>
              </a:extLst>
            </p:cNvPr>
            <p:cNvSpPr txBox="1"/>
            <p:nvPr/>
          </p:nvSpPr>
          <p:spPr>
            <a:xfrm>
              <a:off x="603250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2020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4" name="Google Shape;12633;p6">
              <a:extLst>
                <a:ext uri="{FF2B5EF4-FFF2-40B4-BE49-F238E27FC236}">
                  <a16:creationId xmlns:a16="http://schemas.microsoft.com/office/drawing/2014/main" id="{3F031229-3A3F-2B51-070B-81E995979B6F}"/>
                </a:ext>
              </a:extLst>
            </p:cNvPr>
            <p:cNvSpPr txBox="1"/>
            <p:nvPr/>
          </p:nvSpPr>
          <p:spPr>
            <a:xfrm>
              <a:off x="533886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2024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5" name="Google Shape;12633;p6">
              <a:extLst>
                <a:ext uri="{FF2B5EF4-FFF2-40B4-BE49-F238E27FC236}">
                  <a16:creationId xmlns:a16="http://schemas.microsoft.com/office/drawing/2014/main" id="{D95D8B19-825E-547E-8A89-461D8E2FDD02}"/>
                </a:ext>
              </a:extLst>
            </p:cNvPr>
            <p:cNvSpPr txBox="1"/>
            <p:nvPr/>
          </p:nvSpPr>
          <p:spPr>
            <a:xfrm>
              <a:off x="297105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2022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6" name="Google Shape;12633;p6">
              <a:extLst>
                <a:ext uri="{FF2B5EF4-FFF2-40B4-BE49-F238E27FC236}">
                  <a16:creationId xmlns:a16="http://schemas.microsoft.com/office/drawing/2014/main" id="{D0CA996C-3AA6-BA10-6D40-EC6736B15BBB}"/>
                </a:ext>
              </a:extLst>
            </p:cNvPr>
            <p:cNvSpPr txBox="1"/>
            <p:nvPr/>
          </p:nvSpPr>
          <p:spPr>
            <a:xfrm>
              <a:off x="1787154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2021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7" name="Google Shape;12633;p6">
              <a:extLst>
                <a:ext uri="{FF2B5EF4-FFF2-40B4-BE49-F238E27FC236}">
                  <a16:creationId xmlns:a16="http://schemas.microsoft.com/office/drawing/2014/main" id="{1DF90182-042F-0F39-7800-3927A748E5BF}"/>
                </a:ext>
              </a:extLst>
            </p:cNvPr>
            <p:cNvSpPr txBox="1"/>
            <p:nvPr/>
          </p:nvSpPr>
          <p:spPr>
            <a:xfrm>
              <a:off x="4154962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2023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69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P spid="18" grpId="0" animBg="1"/>
      <p:bldGraphic spid="35" grpId="0">
        <p:bldAsOne/>
      </p:bldGraphic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9FDFA-1F53-DF99-F33E-E90371C7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B392849C-3D91-F2E6-98A7-1682D3678C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23AA554D-1E62-BC59-8F7B-0A5DA6BB7627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5363DB10-499D-0DC5-6B7F-D7033AED68AE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總資產</a:t>
            </a:r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/SMR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走勢與整體對比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2AD6A207-7FCD-A1BF-11CB-AED6F26CA006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A3A896D6-04C9-1353-301B-C0E5EDFB7A1D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年總資產下降幅度高於整體，償付能力位居第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</a:t>
            </a: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B3072336-D520-AC63-4C9D-C6512A2A13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723116"/>
              </p:ext>
            </p:extLst>
          </p:nvPr>
        </p:nvGraphicFramePr>
        <p:xfrm>
          <a:off x="742951" y="1558442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id="{7AAACB0D-BC8F-6E63-A12F-647CBCB5D0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451695"/>
              </p:ext>
            </p:extLst>
          </p:nvPr>
        </p:nvGraphicFramePr>
        <p:xfrm>
          <a:off x="6286499" y="1558442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C6FE98D-F639-448F-9BB1-E30DFA74200F}"/>
              </a:ext>
            </a:extLst>
          </p:cNvPr>
          <p:cNvSpPr/>
          <p:nvPr/>
        </p:nvSpPr>
        <p:spPr>
          <a:xfrm>
            <a:off x="742950" y="1233506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總資產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10151E-5CFD-C365-A9B4-5414CC25BB50}"/>
              </a:ext>
            </a:extLst>
          </p:cNvPr>
          <p:cNvSpPr/>
          <p:nvPr/>
        </p:nvSpPr>
        <p:spPr>
          <a:xfrm>
            <a:off x="6286499" y="1233506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償付能力比率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7D47D2C6-D7CC-8EF0-D0D4-5AD59E550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902100"/>
              </p:ext>
            </p:extLst>
          </p:nvPr>
        </p:nvGraphicFramePr>
        <p:xfrm>
          <a:off x="742951" y="4024055"/>
          <a:ext cx="5162551" cy="2242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7169186-6EA6-B74D-211D-61C9AF8B8F39}"/>
              </a:ext>
            </a:extLst>
          </p:cNvPr>
          <p:cNvSpPr/>
          <p:nvPr/>
        </p:nvSpPr>
        <p:spPr>
          <a:xfrm>
            <a:off x="742950" y="3699119"/>
            <a:ext cx="5162551" cy="324936"/>
          </a:xfrm>
          <a:prstGeom prst="rect">
            <a:avLst/>
          </a:prstGeom>
          <a:solidFill>
            <a:srgbClr val="737373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整體市場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總資產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億円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7DD872-56C8-E203-F1B7-DF7FFCACC921}"/>
              </a:ext>
            </a:extLst>
          </p:cNvPr>
          <p:cNvSpPr/>
          <p:nvPr/>
        </p:nvSpPr>
        <p:spPr>
          <a:xfrm>
            <a:off x="6286498" y="3699119"/>
            <a:ext cx="5162551" cy="324936"/>
          </a:xfrm>
          <a:prstGeom prst="rect">
            <a:avLst/>
          </a:prstGeom>
          <a:solidFill>
            <a:srgbClr val="737373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整體市場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償付能力比率</a:t>
            </a:r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(%)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81E224A-F1DD-306E-FB76-C65FACC08784}"/>
              </a:ext>
            </a:extLst>
          </p:cNvPr>
          <p:cNvGrpSpPr/>
          <p:nvPr/>
        </p:nvGrpSpPr>
        <p:grpSpPr>
          <a:xfrm>
            <a:off x="603250" y="6164732"/>
            <a:ext cx="5410994" cy="307736"/>
            <a:chOff x="603250" y="6164732"/>
            <a:chExt cx="5410994" cy="307736"/>
          </a:xfrm>
        </p:grpSpPr>
        <p:sp>
          <p:nvSpPr>
            <p:cNvPr id="13" name="Google Shape;12633;p6">
              <a:extLst>
                <a:ext uri="{FF2B5EF4-FFF2-40B4-BE49-F238E27FC236}">
                  <a16:creationId xmlns:a16="http://schemas.microsoft.com/office/drawing/2014/main" id="{8979B980-2C17-8578-51B2-AA470A93F69B}"/>
                </a:ext>
              </a:extLst>
            </p:cNvPr>
            <p:cNvSpPr txBox="1"/>
            <p:nvPr/>
          </p:nvSpPr>
          <p:spPr>
            <a:xfrm>
              <a:off x="603250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2020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Google Shape;12633;p6">
              <a:extLst>
                <a:ext uri="{FF2B5EF4-FFF2-40B4-BE49-F238E27FC236}">
                  <a16:creationId xmlns:a16="http://schemas.microsoft.com/office/drawing/2014/main" id="{BC14E539-1B12-DCD9-0840-6C3F29F5ED5F}"/>
                </a:ext>
              </a:extLst>
            </p:cNvPr>
            <p:cNvSpPr txBox="1"/>
            <p:nvPr/>
          </p:nvSpPr>
          <p:spPr>
            <a:xfrm>
              <a:off x="533886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2024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Google Shape;12633;p6">
              <a:extLst>
                <a:ext uri="{FF2B5EF4-FFF2-40B4-BE49-F238E27FC236}">
                  <a16:creationId xmlns:a16="http://schemas.microsoft.com/office/drawing/2014/main" id="{0E76968E-7337-486B-AC68-0BA4CE86875A}"/>
                </a:ext>
              </a:extLst>
            </p:cNvPr>
            <p:cNvSpPr txBox="1"/>
            <p:nvPr/>
          </p:nvSpPr>
          <p:spPr>
            <a:xfrm>
              <a:off x="2971058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2022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Google Shape;12633;p6">
              <a:extLst>
                <a:ext uri="{FF2B5EF4-FFF2-40B4-BE49-F238E27FC236}">
                  <a16:creationId xmlns:a16="http://schemas.microsoft.com/office/drawing/2014/main" id="{1A7514CE-A9CF-D942-A80E-65B9D8C84879}"/>
                </a:ext>
              </a:extLst>
            </p:cNvPr>
            <p:cNvSpPr txBox="1"/>
            <p:nvPr/>
          </p:nvSpPr>
          <p:spPr>
            <a:xfrm>
              <a:off x="1787154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2021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Google Shape;12633;p6">
              <a:extLst>
                <a:ext uri="{FF2B5EF4-FFF2-40B4-BE49-F238E27FC236}">
                  <a16:creationId xmlns:a16="http://schemas.microsoft.com/office/drawing/2014/main" id="{568A7B84-7BBF-D5FA-0FA4-F3C7A5213039}"/>
                </a:ext>
              </a:extLst>
            </p:cNvPr>
            <p:cNvSpPr txBox="1"/>
            <p:nvPr/>
          </p:nvSpPr>
          <p:spPr>
            <a:xfrm>
              <a:off x="4154962" y="6164732"/>
              <a:ext cx="67537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2023</a:t>
              </a:r>
              <a:endParaRPr lang="zh-TW" altLang="en-US" sz="14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915BA9AC-E600-A200-90E9-5477EF45FB57}"/>
              </a:ext>
            </a:extLst>
          </p:cNvPr>
          <p:cNvSpPr/>
          <p:nvPr/>
        </p:nvSpPr>
        <p:spPr>
          <a:xfrm>
            <a:off x="9563100" y="4088116"/>
            <a:ext cx="1885948" cy="324936"/>
          </a:xfrm>
          <a:prstGeom prst="rect">
            <a:avLst/>
          </a:prstGeom>
          <a:solidFill>
            <a:srgbClr val="15BD8E">
              <a:alpha val="18039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SMR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9163262-3DDC-B0B9-4E3E-9C2C64D65286}"/>
              </a:ext>
            </a:extLst>
          </p:cNvPr>
          <p:cNvSpPr/>
          <p:nvPr/>
        </p:nvSpPr>
        <p:spPr>
          <a:xfrm>
            <a:off x="6286498" y="4088116"/>
            <a:ext cx="3276602" cy="324936"/>
          </a:xfrm>
          <a:prstGeom prst="rect">
            <a:avLst/>
          </a:prstGeom>
          <a:solidFill>
            <a:srgbClr val="D9D9D9">
              <a:alpha val="34118"/>
            </a:srgbClr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公司名稱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48A08E-D062-6F0A-4523-456844384715}"/>
              </a:ext>
            </a:extLst>
          </p:cNvPr>
          <p:cNvSpPr/>
          <p:nvPr/>
        </p:nvSpPr>
        <p:spPr>
          <a:xfrm>
            <a:off x="9563100" y="4418862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3139.5%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AC9299-AC8E-54C1-90B8-EF9B1C449E64}"/>
              </a:ext>
            </a:extLst>
          </p:cNvPr>
          <p:cNvSpPr/>
          <p:nvPr/>
        </p:nvSpPr>
        <p:spPr>
          <a:xfrm>
            <a:off x="6286498" y="4418074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綠生命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00E112-A0D0-1DCF-2900-CE5FEFFA5FB8}"/>
              </a:ext>
            </a:extLst>
          </p:cNvPr>
          <p:cNvSpPr/>
          <p:nvPr/>
        </p:nvSpPr>
        <p:spPr>
          <a:xfrm>
            <a:off x="9563100" y="4748032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2081.5%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5F693C0-6EAC-5960-BED5-32CB8301A960}"/>
              </a:ext>
            </a:extLst>
          </p:cNvPr>
          <p:cNvSpPr/>
          <p:nvPr/>
        </p:nvSpPr>
        <p:spPr>
          <a:xfrm>
            <a:off x="6286498" y="4748032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第一生命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B4C7C1D-168C-F96F-EA9A-585F5AB69E9A}"/>
              </a:ext>
            </a:extLst>
          </p:cNvPr>
          <p:cNvSpPr/>
          <p:nvPr/>
        </p:nvSpPr>
        <p:spPr>
          <a:xfrm>
            <a:off x="9563100" y="5077991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1940.2%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9363CEE-702D-576F-B5A9-8E554CA70B49}"/>
              </a:ext>
            </a:extLst>
          </p:cNvPr>
          <p:cNvSpPr/>
          <p:nvPr/>
        </p:nvSpPr>
        <p:spPr>
          <a:xfrm>
            <a:off x="6286498" y="5077991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蘇黎世生命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D9DFCB2-2D9A-D19B-C988-6C8F304F48FB}"/>
              </a:ext>
            </a:extLst>
          </p:cNvPr>
          <p:cNvSpPr/>
          <p:nvPr/>
        </p:nvSpPr>
        <p:spPr>
          <a:xfrm>
            <a:off x="9563100" y="5407950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1722.2%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A5DE56-ECB5-57D4-345C-04B8DE866DD2}"/>
              </a:ext>
            </a:extLst>
          </p:cNvPr>
          <p:cNvSpPr/>
          <p:nvPr/>
        </p:nvSpPr>
        <p:spPr>
          <a:xfrm>
            <a:off x="6286498" y="5407950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LIFENET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8344894-A359-104C-EDEE-1ADD82BEC79E}"/>
              </a:ext>
            </a:extLst>
          </p:cNvPr>
          <p:cNvSpPr/>
          <p:nvPr/>
        </p:nvSpPr>
        <p:spPr>
          <a:xfrm>
            <a:off x="9563100" y="5737909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1588.7%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D5A436-DA54-A682-8C17-DAC89EF9CED3}"/>
              </a:ext>
            </a:extLst>
          </p:cNvPr>
          <p:cNvSpPr/>
          <p:nvPr/>
        </p:nvSpPr>
        <p:spPr>
          <a:xfrm>
            <a:off x="6286498" y="5737909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Sony</a:t>
            </a:r>
            <a:r>
              <a:rPr lang="en-US" altLang="zh-TW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生命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B4D88D1-82CD-F544-4DC6-88CC4C64B853}"/>
              </a:ext>
            </a:extLst>
          </p:cNvPr>
          <p:cNvSpPr/>
          <p:nvPr/>
        </p:nvSpPr>
        <p:spPr>
          <a:xfrm>
            <a:off x="9563100" y="6067867"/>
            <a:ext cx="1885948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973.3%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0B200D0-6CF1-0933-B36C-6CB47912AEAF}"/>
              </a:ext>
            </a:extLst>
          </p:cNvPr>
          <p:cNvSpPr/>
          <p:nvPr/>
        </p:nvSpPr>
        <p:spPr>
          <a:xfrm>
            <a:off x="6286498" y="6067867"/>
            <a:ext cx="3276602" cy="324936"/>
          </a:xfrm>
          <a:prstGeom prst="rect">
            <a:avLst/>
          </a:prstGeom>
          <a:noFill/>
          <a:ln w="635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AFLAC</a:t>
            </a:r>
            <a:r>
              <a:rPr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(No.13)</a:t>
            </a:r>
            <a:endParaRPr lang="zh-TW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1130EB2-B0D4-FC72-3208-B58B21584375}"/>
              </a:ext>
            </a:extLst>
          </p:cNvPr>
          <p:cNvCxnSpPr>
            <a:cxnSpLocks/>
          </p:cNvCxnSpPr>
          <p:nvPr/>
        </p:nvCxnSpPr>
        <p:spPr>
          <a:xfrm>
            <a:off x="6096000" y="1233506"/>
            <a:ext cx="0" cy="5032840"/>
          </a:xfrm>
          <a:prstGeom prst="line">
            <a:avLst/>
          </a:prstGeom>
          <a:ln w="6350">
            <a:solidFill>
              <a:srgbClr val="B4B4B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P spid="18" grpId="0" animBg="1"/>
      <p:bldP spid="11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FAFD-9187-7099-7425-3FDEFA65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3A53BB61-082D-748E-D931-48AE4B75F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045541"/>
              </p:ext>
            </p:extLst>
          </p:nvPr>
        </p:nvGraphicFramePr>
        <p:xfrm>
          <a:off x="742951" y="2097927"/>
          <a:ext cx="5162551" cy="2328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群組 28">
            <a:extLst>
              <a:ext uri="{FF2B5EF4-FFF2-40B4-BE49-F238E27FC236}">
                <a16:creationId xmlns:a16="http://schemas.microsoft.com/office/drawing/2014/main" id="{E5CDEBA3-3EBB-C35E-4B8A-DABC82A5B256}"/>
              </a:ext>
            </a:extLst>
          </p:cNvPr>
          <p:cNvGrpSpPr/>
          <p:nvPr/>
        </p:nvGrpSpPr>
        <p:grpSpPr>
          <a:xfrm>
            <a:off x="5078287" y="2715139"/>
            <a:ext cx="388144" cy="339626"/>
            <a:chOff x="5113609" y="2650649"/>
            <a:chExt cx="388144" cy="339626"/>
          </a:xfrm>
        </p:grpSpPr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C684000-429A-B5BC-B636-06F06C02838B}"/>
                </a:ext>
              </a:extLst>
            </p:cNvPr>
            <p:cNvCxnSpPr>
              <a:cxnSpLocks/>
            </p:cNvCxnSpPr>
            <p:nvPr/>
          </p:nvCxnSpPr>
          <p:spPr>
            <a:xfrm>
              <a:off x="5113609" y="2650649"/>
              <a:ext cx="388144" cy="339626"/>
            </a:xfrm>
            <a:prstGeom prst="straightConnector1">
              <a:avLst/>
            </a:prstGeom>
            <a:ln w="19050">
              <a:solidFill>
                <a:srgbClr val="141414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C11E6F7E-D45F-3C17-8B5E-B50A36537365}"/>
                </a:ext>
              </a:extLst>
            </p:cNvPr>
            <p:cNvSpPr/>
            <p:nvPr/>
          </p:nvSpPr>
          <p:spPr>
            <a:xfrm>
              <a:off x="5187311" y="2700092"/>
              <a:ext cx="240741" cy="240741"/>
            </a:xfrm>
            <a:prstGeom prst="ellipse">
              <a:avLst/>
            </a:prstGeom>
            <a:solidFill>
              <a:srgbClr val="14141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1520EF6-F27F-0843-DC04-F9E9BFE4D0A3}"/>
              </a:ext>
            </a:extLst>
          </p:cNvPr>
          <p:cNvSpPr txBox="1"/>
          <p:nvPr/>
        </p:nvSpPr>
        <p:spPr>
          <a:xfrm>
            <a:off x="5036616" y="2769536"/>
            <a:ext cx="4714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29%</a:t>
            </a:r>
            <a:endParaRPr lang="zh-TW" altLang="en-US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42570777-B911-96E4-B239-4D696CF703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Google Shape;12634;p6">
            <a:extLst>
              <a:ext uri="{FF2B5EF4-FFF2-40B4-BE49-F238E27FC236}">
                <a16:creationId xmlns:a16="http://schemas.microsoft.com/office/drawing/2014/main" id="{F605892A-B5B7-267E-46E5-108642A6B4FB}"/>
              </a:ext>
            </a:extLst>
          </p:cNvPr>
          <p:cNvSpPr/>
          <p:nvPr/>
        </p:nvSpPr>
        <p:spPr>
          <a:xfrm>
            <a:off x="-1" y="6781800"/>
            <a:ext cx="12191999" cy="76199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9" name="Google Shape;12633;p6">
            <a:extLst>
              <a:ext uri="{FF2B5EF4-FFF2-40B4-BE49-F238E27FC236}">
                <a16:creationId xmlns:a16="http://schemas.microsoft.com/office/drawing/2014/main" id="{E395C8F1-B960-E6D1-C366-1CF26C6EA538}"/>
              </a:ext>
            </a:extLst>
          </p:cNvPr>
          <p:cNvSpPr txBox="1"/>
          <p:nvPr/>
        </p:nvSpPr>
        <p:spPr>
          <a:xfrm>
            <a:off x="552453" y="150517"/>
            <a:ext cx="116395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AFLAC EPS/ROA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 </a:t>
            </a:r>
            <a:r>
              <a:rPr lang="zh-TW" altLang="en-US" sz="28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/>
              </a:rPr>
              <a:t>走勢</a:t>
            </a:r>
            <a:endParaRPr lang="zh-TW" altLang="en-US" sz="2800" b="1" dirty="0">
              <a:solidFill>
                <a:srgbClr val="15BD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Google Shape;12634;p6">
            <a:extLst>
              <a:ext uri="{FF2B5EF4-FFF2-40B4-BE49-F238E27FC236}">
                <a16:creationId xmlns:a16="http://schemas.microsoft.com/office/drawing/2014/main" id="{B71490B5-0C4B-971C-397C-44981F0E45F0}"/>
              </a:ext>
            </a:extLst>
          </p:cNvPr>
          <p:cNvSpPr/>
          <p:nvPr/>
        </p:nvSpPr>
        <p:spPr>
          <a:xfrm>
            <a:off x="455094" y="236180"/>
            <a:ext cx="97356" cy="806808"/>
          </a:xfrm>
          <a:prstGeom prst="rect">
            <a:avLst/>
          </a:prstGeom>
          <a:gradFill flip="none" rotWithShape="1">
            <a:gsLst>
              <a:gs pos="0">
                <a:srgbClr val="15BD8E"/>
              </a:gs>
              <a:gs pos="50000">
                <a:srgbClr val="15BD8E">
                  <a:tint val="44500"/>
                  <a:satMod val="160000"/>
                </a:srgbClr>
              </a:gs>
              <a:gs pos="100000">
                <a:srgbClr val="15BD8E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endParaRPr sz="1467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/>
            </a:endParaRPr>
          </a:p>
        </p:txBody>
      </p:sp>
      <p:sp>
        <p:nvSpPr>
          <p:cNvPr id="22" name="Google Shape;12633;p6">
            <a:extLst>
              <a:ext uri="{FF2B5EF4-FFF2-40B4-BE49-F238E27FC236}">
                <a16:creationId xmlns:a16="http://schemas.microsoft.com/office/drawing/2014/main" id="{6A530C6A-4776-ECAC-043B-2D0B2DAAF575}"/>
              </a:ext>
            </a:extLst>
          </p:cNvPr>
          <p:cNvSpPr txBox="1"/>
          <p:nvPr/>
        </p:nvSpPr>
        <p:spPr>
          <a:xfrm>
            <a:off x="552450" y="673697"/>
            <a:ext cx="11639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spAutoFit/>
          </a:bodyPr>
          <a:lstStyle/>
          <a:p>
            <a:pPr algn="just"/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</a:t>
            </a:r>
            <a:r>
              <a:rPr lang="zh-TW" altLang="en-US" sz="2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TW" altLang="en-US" sz="2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ROA</a:t>
            </a:r>
            <a:r>
              <a:rPr lang="zh-TW" altLang="en-US" sz="10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dirty="0">
                <a:solidFill>
                  <a:srgbClr val="7373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過去十年多呈現向上趨勢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4D134D14-1CBE-0936-CAA8-7EA12CF2E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302866"/>
              </p:ext>
            </p:extLst>
          </p:nvPr>
        </p:nvGraphicFramePr>
        <p:xfrm>
          <a:off x="6286499" y="2097927"/>
          <a:ext cx="5162551" cy="2328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03259F6-9E5D-E241-6039-B78A4C6BE96B}"/>
              </a:ext>
            </a:extLst>
          </p:cNvPr>
          <p:cNvSpPr/>
          <p:nvPr/>
        </p:nvSpPr>
        <p:spPr>
          <a:xfrm>
            <a:off x="742950" y="1566168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EPS($)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208332-C6B9-EA90-1DED-865D29708131}"/>
              </a:ext>
            </a:extLst>
          </p:cNvPr>
          <p:cNvSpPr/>
          <p:nvPr/>
        </p:nvSpPr>
        <p:spPr>
          <a:xfrm>
            <a:off x="6286499" y="1566168"/>
            <a:ext cx="5162551" cy="324936"/>
          </a:xfrm>
          <a:prstGeom prst="rect">
            <a:avLst/>
          </a:prstGeom>
          <a:solidFill>
            <a:srgbClr val="D2F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600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ROA(%)</a:t>
            </a:r>
            <a:endParaRPr lang="zh-TW" altLang="en-US" sz="1600" dirty="0">
              <a:solidFill>
                <a:srgbClr val="14141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A0280C1-7CA4-DA7F-3A47-557F80D4DF7D}"/>
              </a:ext>
            </a:extLst>
          </p:cNvPr>
          <p:cNvGrpSpPr/>
          <p:nvPr/>
        </p:nvGrpSpPr>
        <p:grpSpPr>
          <a:xfrm>
            <a:off x="742950" y="3113681"/>
            <a:ext cx="10706100" cy="387309"/>
            <a:chOff x="742950" y="3113681"/>
            <a:chExt cx="10706100" cy="387309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7B9CE1F-9D40-30EA-D8EA-0CDFB65E4E0A}"/>
                </a:ext>
              </a:extLst>
            </p:cNvPr>
            <p:cNvCxnSpPr>
              <a:cxnSpLocks/>
            </p:cNvCxnSpPr>
            <p:nvPr/>
          </p:nvCxnSpPr>
          <p:spPr>
            <a:xfrm>
              <a:off x="742950" y="3127972"/>
              <a:ext cx="516255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55A61A38-B103-3DDC-611F-154859988E66}"/>
                </a:ext>
              </a:extLst>
            </p:cNvPr>
            <p:cNvCxnSpPr>
              <a:cxnSpLocks/>
            </p:cNvCxnSpPr>
            <p:nvPr/>
          </p:nvCxnSpPr>
          <p:spPr>
            <a:xfrm>
              <a:off x="6286499" y="3113681"/>
              <a:ext cx="516255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2633;p6">
              <a:extLst>
                <a:ext uri="{FF2B5EF4-FFF2-40B4-BE49-F238E27FC236}">
                  <a16:creationId xmlns:a16="http://schemas.microsoft.com/office/drawing/2014/main" id="{4AF9730D-5D65-DBBA-3F43-A6EFF9483C2B}"/>
                </a:ext>
              </a:extLst>
            </p:cNvPr>
            <p:cNvSpPr txBox="1"/>
            <p:nvPr/>
          </p:nvSpPr>
          <p:spPr>
            <a:xfrm>
              <a:off x="4706429" y="3162476"/>
              <a:ext cx="119907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平均</a:t>
              </a:r>
              <a:r>
                <a:rPr lang="zh-TW" altLang="en-US" sz="1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TW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$6.1</a:t>
              </a:r>
              <a:endPara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Google Shape;12633;p6">
              <a:extLst>
                <a:ext uri="{FF2B5EF4-FFF2-40B4-BE49-F238E27FC236}">
                  <a16:creationId xmlns:a16="http://schemas.microsoft.com/office/drawing/2014/main" id="{8D7ADA02-6385-1D30-215A-B29168FDFFE5}"/>
                </a:ext>
              </a:extLst>
            </p:cNvPr>
            <p:cNvSpPr txBox="1"/>
            <p:nvPr/>
          </p:nvSpPr>
          <p:spPr>
            <a:xfrm>
              <a:off x="10249978" y="3148185"/>
              <a:ext cx="119907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ctr" anchorCtr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平均</a:t>
              </a:r>
              <a:r>
                <a:rPr lang="zh-TW" altLang="en-US" sz="10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TW" sz="1600" b="1" dirty="0">
                  <a:solidFill>
                    <a:srgbClr val="14141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3.0%</a:t>
              </a:r>
              <a:endParaRPr lang="zh-TW" altLang="en-US" sz="1600" b="1" dirty="0">
                <a:solidFill>
                  <a:srgbClr val="1414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561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CC5C-51EA-5EF3-17DD-9A989F3A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4D513FF-7AC2-0CCF-9387-F8D30A8045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37513"/>
          </a:xfrm>
          <a:prstGeom prst="rect">
            <a:avLst/>
          </a:prstGeom>
          <a:gradFill flip="none" rotWithShape="1">
            <a:gsLst>
              <a:gs pos="0">
                <a:srgbClr val="B3EAD6"/>
              </a:gs>
              <a:gs pos="100000">
                <a:srgbClr val="E7F9F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477355-673E-5C39-C8C1-D62D140C5BAF}"/>
              </a:ext>
            </a:extLst>
          </p:cNvPr>
          <p:cNvSpPr txBox="1">
            <a:spLocks/>
          </p:cNvSpPr>
          <p:nvPr/>
        </p:nvSpPr>
        <p:spPr>
          <a:xfrm>
            <a:off x="1103445" y="2163722"/>
            <a:ext cx="11088555" cy="10105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>
                <a:solidFill>
                  <a:srgbClr val="2C33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Thanks!</a:t>
            </a:r>
            <a:endParaRPr lang="zh-TW" altLang="en-US" sz="5400" b="1">
              <a:solidFill>
                <a:srgbClr val="2C332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002A622-A1FA-7151-3BE7-E41141414A2C}"/>
              </a:ext>
            </a:extLst>
          </p:cNvPr>
          <p:cNvCxnSpPr>
            <a:cxnSpLocks/>
          </p:cNvCxnSpPr>
          <p:nvPr/>
        </p:nvCxnSpPr>
        <p:spPr>
          <a:xfrm>
            <a:off x="393700" y="6527800"/>
            <a:ext cx="9474200" cy="0"/>
          </a:xfrm>
          <a:prstGeom prst="line">
            <a:avLst/>
          </a:prstGeom>
          <a:ln>
            <a:solidFill>
              <a:srgbClr val="15BD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投保國泰人壽保險專案享「里」遇">
            <a:extLst>
              <a:ext uri="{FF2B5EF4-FFF2-40B4-BE49-F238E27FC236}">
                <a16:creationId xmlns:a16="http://schemas.microsoft.com/office/drawing/2014/main" id="{101ADF38-9D21-6149-5FD1-BE57FDE1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4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438" y="6348530"/>
            <a:ext cx="1566862" cy="35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87177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5098</TotalTime>
  <Words>3317</Words>
  <Application>Microsoft Office PowerPoint</Application>
  <PresentationFormat>寬螢幕</PresentationFormat>
  <Paragraphs>645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Microsoft YaHei</vt:lpstr>
      <vt:lpstr>微軟正黑體</vt:lpstr>
      <vt:lpstr>Arial</vt:lpstr>
      <vt:lpstr>Calibri</vt:lpstr>
      <vt:lpstr>Calibri Light</vt:lpstr>
      <vt:lpstr>2_Office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葉琬萱</dc:creator>
  <cp:lastModifiedBy>蔡秉諺 JASON</cp:lastModifiedBy>
  <cp:revision>661</cp:revision>
  <dcterms:created xsi:type="dcterms:W3CDTF">2024-04-22T13:15:58Z</dcterms:created>
  <dcterms:modified xsi:type="dcterms:W3CDTF">2026-03-11T09:19:37Z</dcterms:modified>
</cp:coreProperties>
</file>
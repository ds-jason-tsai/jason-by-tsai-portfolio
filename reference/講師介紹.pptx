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314" r:id="rId2"/>
    <p:sldId id="280" r:id="rId3"/>
    <p:sldId id="331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57A8"/>
    <a:srgbClr val="F2F2F2"/>
    <a:srgbClr val="B2C6E1"/>
    <a:srgbClr val="D8ECE4"/>
    <a:srgbClr val="8EC8B0"/>
    <a:srgbClr val="ECEBEC"/>
    <a:srgbClr val="0D0D0D"/>
    <a:srgbClr val="FFFFFF"/>
    <a:srgbClr val="49A780"/>
    <a:srgbClr val="80C1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DC4F8-01AB-4353-B937-7621809D3792}" type="datetimeFigureOut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94F23-DE11-4269-A6FF-7CD19F0F66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394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FE1B994-A641-3A70-CF98-2E712AB7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DC36-DBFD-42EA-B792-4A98881D3B17}" type="datetime1">
              <a:rPr lang="zh-TW" altLang="en-US" smtClean="0"/>
              <a:t>2025/11/9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6D7986-E376-0772-FEE1-E4C4315E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27702F-34F2-7157-46B5-3067291B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9DAB-DD50-481D-A055-78A418917E27}" type="slidenum">
              <a:rPr lang="zh-TW" altLang="en-US" smtClean="0"/>
              <a:t>‹#›</a:t>
            </a:fld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319953-4167-268B-9EBB-BA60666DFBA4}"/>
              </a:ext>
            </a:extLst>
          </p:cNvPr>
          <p:cNvSpPr/>
          <p:nvPr userDrawn="1"/>
        </p:nvSpPr>
        <p:spPr>
          <a:xfrm>
            <a:off x="0" y="316262"/>
            <a:ext cx="254000" cy="802640"/>
          </a:xfrm>
          <a:prstGeom prst="rect">
            <a:avLst/>
          </a:prstGeom>
          <a:solidFill>
            <a:srgbClr val="1E5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/>
          </a:p>
        </p:txBody>
      </p:sp>
      <p:pic>
        <p:nvPicPr>
          <p:cNvPr id="11" name="圖片 10" descr="一張含有 標誌 的圖片&#10;&#10;自動產生的描述">
            <a:extLst>
              <a:ext uri="{FF2B5EF4-FFF2-40B4-BE49-F238E27FC236}">
                <a16:creationId xmlns:a16="http://schemas.microsoft.com/office/drawing/2014/main" id="{F40B5926-F70F-0939-BA3A-7D40135B9B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503" y="0"/>
            <a:ext cx="1465497" cy="55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2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ED28A87-351A-1043-FCE3-CAC9CEAD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66463C-D9CA-CFFE-DF36-2AA1460F5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D202F2-20F6-AADC-9558-7B5B4BA9A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3889B660-2408-45BB-BA65-488631BE5C0C}" type="datetime1">
              <a:rPr lang="zh-TW" altLang="en-US" smtClean="0"/>
              <a:t>2025/11/9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3FC690-0AF1-867D-8DC1-B19C3EDFF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83343A-E1B5-D9AF-8207-97C9B4AEA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7AE19DAB-DD50-481D-A055-78A418917E2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744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Noto Sans TC" panose="020B0200000000000000" pitchFamily="34" charset="-120"/>
          <a:ea typeface="Noto Sans TC" panose="020B0200000000000000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Noto Sans TC" panose="020B0200000000000000" pitchFamily="34" charset="-120"/>
          <a:ea typeface="Noto Sans TC" panose="020B0200000000000000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Noto Sans TC" panose="020B0200000000000000" pitchFamily="34" charset="-120"/>
          <a:ea typeface="Noto Sans TC" panose="020B0200000000000000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Noto Sans TC" panose="020B0200000000000000" pitchFamily="34" charset="-120"/>
          <a:ea typeface="Noto Sans TC" panose="020B0200000000000000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Noto Sans TC" panose="020B0200000000000000" pitchFamily="34" charset="-120"/>
          <a:ea typeface="Noto Sans TC" panose="020B0200000000000000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Noto Sans TC" panose="020B0200000000000000" pitchFamily="34" charset="-120"/>
          <a:ea typeface="Noto Sans TC" panose="020B0200000000000000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90BFEF4-BE46-7B9F-538B-CA166A8133ED}"/>
              </a:ext>
            </a:extLst>
          </p:cNvPr>
          <p:cNvSpPr/>
          <p:nvPr/>
        </p:nvSpPr>
        <p:spPr>
          <a:xfrm>
            <a:off x="-1" y="-39757"/>
            <a:ext cx="12192000" cy="3429000"/>
          </a:xfrm>
          <a:prstGeom prst="rect">
            <a:avLst/>
          </a:prstGeom>
          <a:solidFill>
            <a:srgbClr val="1E5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743EF2-32B3-B769-1607-FBDFA2A9CC3C}"/>
              </a:ext>
            </a:extLst>
          </p:cNvPr>
          <p:cNvSpPr txBox="1"/>
          <p:nvPr/>
        </p:nvSpPr>
        <p:spPr>
          <a:xfrm>
            <a:off x="2546488" y="2051922"/>
            <a:ext cx="7099024" cy="1082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4800" dirty="0">
                <a:solidFill>
                  <a:schemeClr val="bg1"/>
                </a:solidFill>
                <a:ea typeface="Noto Sans TC" panose="020B0200000000000000" pitchFamily="34" charset="-120"/>
              </a:rPr>
              <a:t>NotebookLM</a:t>
            </a:r>
            <a:endParaRPr lang="zh-TW" altLang="en-US" sz="4800" dirty="0">
              <a:solidFill>
                <a:schemeClr val="bg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9482134-819D-5C24-AEDF-AFD678B7DC22}"/>
              </a:ext>
            </a:extLst>
          </p:cNvPr>
          <p:cNvSpPr txBox="1"/>
          <p:nvPr/>
        </p:nvSpPr>
        <p:spPr>
          <a:xfrm>
            <a:off x="2546487" y="4687875"/>
            <a:ext cx="70990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solidFill>
                  <a:schemeClr val="tx1">
                    <a:lumMod val="95000"/>
                    <a:lumOff val="5000"/>
                  </a:schemeClr>
                </a:solidFill>
                <a:ea typeface="微軟正黑體" panose="020B0604030504040204" pitchFamily="34" charset="-120"/>
              </a:rPr>
              <a:t>Jason Tsai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304002D-5D14-B588-B1F1-B8BEE2B87B3E}"/>
              </a:ext>
            </a:extLst>
          </p:cNvPr>
          <p:cNvSpPr txBox="1"/>
          <p:nvPr/>
        </p:nvSpPr>
        <p:spPr>
          <a:xfrm>
            <a:off x="1644085" y="3468758"/>
            <a:ext cx="89038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四個專案幫你學會</a:t>
            </a:r>
            <a:r>
              <a:rPr lang="zh-TW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神工具</a:t>
            </a:r>
            <a:endParaRPr lang="en-US" altLang="zh-TW" sz="3600" dirty="0">
              <a:solidFill>
                <a:schemeClr val="tx1">
                  <a:lumMod val="75000"/>
                  <a:lumOff val="25000"/>
                </a:schemeClr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9936F9B-4835-AD6C-EB94-0F69476BB9C6}"/>
              </a:ext>
            </a:extLst>
          </p:cNvPr>
          <p:cNvSpPr txBox="1"/>
          <p:nvPr/>
        </p:nvSpPr>
        <p:spPr>
          <a:xfrm>
            <a:off x="5133740" y="5078822"/>
            <a:ext cx="1924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zh-TW" dirty="0">
              <a:solidFill>
                <a:schemeClr val="tx1">
                  <a:lumMod val="75000"/>
                  <a:lumOff val="25000"/>
                </a:schemeClr>
              </a:solidFill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413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1F0B50A-CABD-7C27-335F-57D203BC155B}"/>
              </a:ext>
            </a:extLst>
          </p:cNvPr>
          <p:cNvSpPr txBox="1"/>
          <p:nvPr/>
        </p:nvSpPr>
        <p:spPr>
          <a:xfrm>
            <a:off x="425615" y="577243"/>
            <a:ext cx="7778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關於我 </a:t>
            </a:r>
            <a:r>
              <a:rPr lang="en-US" altLang="zh-TW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- </a:t>
            </a:r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跨領域學習的資料分析師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C6B5E90-99F2-1B8E-6AED-359A3C4665B4}"/>
              </a:ext>
            </a:extLst>
          </p:cNvPr>
          <p:cNvSpPr txBox="1"/>
          <p:nvPr/>
        </p:nvSpPr>
        <p:spPr>
          <a:xfrm>
            <a:off x="425615" y="285990"/>
            <a:ext cx="262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個人背景與經歷</a:t>
            </a:r>
          </a:p>
        </p:txBody>
      </p:sp>
      <p:pic>
        <p:nvPicPr>
          <p:cNvPr id="6" name="Picture 18" descr="NTHU Consulting Group | LinkedIn">
            <a:extLst>
              <a:ext uri="{FF2B5EF4-FFF2-40B4-BE49-F238E27FC236}">
                <a16:creationId xmlns:a16="http://schemas.microsoft.com/office/drawing/2014/main" id="{447EBE7B-494F-48EF-7CCF-C164CE8A90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0" t="14961" r="15291" b="15230"/>
          <a:stretch/>
        </p:blipFill>
        <p:spPr bwMode="auto">
          <a:xfrm>
            <a:off x="6595147" y="4403550"/>
            <a:ext cx="824429" cy="824429"/>
          </a:xfrm>
          <a:prstGeom prst="ellipse">
            <a:avLst/>
          </a:prstGeom>
          <a:noFill/>
        </p:spPr>
      </p:pic>
      <p:pic>
        <p:nvPicPr>
          <p:cNvPr id="9" name="Picture 20" descr="NTU S&amp;C Marketing Club">
            <a:extLst>
              <a:ext uri="{FF2B5EF4-FFF2-40B4-BE49-F238E27FC236}">
                <a16:creationId xmlns:a16="http://schemas.microsoft.com/office/drawing/2014/main" id="{347C8C79-BFBF-AF57-AFB3-578D810AE3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30" r="49954" b="23027"/>
          <a:stretch/>
        </p:blipFill>
        <p:spPr bwMode="auto">
          <a:xfrm>
            <a:off x="7630531" y="4422740"/>
            <a:ext cx="681444" cy="745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6" descr="Developer Student Club UM">
            <a:extLst>
              <a:ext uri="{FF2B5EF4-FFF2-40B4-BE49-F238E27FC236}">
                <a16:creationId xmlns:a16="http://schemas.microsoft.com/office/drawing/2014/main" id="{928B00A4-2BBD-C1C4-589C-201C29EAB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960" y="4336448"/>
            <a:ext cx="917993" cy="91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31D95A46-5502-A64F-3A57-A4AFB8422B09}"/>
              </a:ext>
            </a:extLst>
          </p:cNvPr>
          <p:cNvSpPr/>
          <p:nvPr/>
        </p:nvSpPr>
        <p:spPr>
          <a:xfrm>
            <a:off x="3272054" y="4217869"/>
            <a:ext cx="8387971" cy="1473786"/>
          </a:xfrm>
          <a:prstGeom prst="roundRect">
            <a:avLst/>
          </a:prstGeom>
          <a:noFill/>
          <a:ln w="19050">
            <a:solidFill>
              <a:srgbClr val="3A82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65EB744-AD61-6692-2E1F-A6FC9B635505}"/>
              </a:ext>
            </a:extLst>
          </p:cNvPr>
          <p:cNvSpPr/>
          <p:nvPr/>
        </p:nvSpPr>
        <p:spPr>
          <a:xfrm>
            <a:off x="2940697" y="3885242"/>
            <a:ext cx="1635317" cy="638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講師經歷</a:t>
            </a:r>
          </a:p>
        </p:txBody>
      </p:sp>
      <p:pic>
        <p:nvPicPr>
          <p:cNvPr id="25" name="Picture 8" descr="NTU Data Analytics Club 臺大資料分析與決策社">
            <a:extLst>
              <a:ext uri="{FF2B5EF4-FFF2-40B4-BE49-F238E27FC236}">
                <a16:creationId xmlns:a16="http://schemas.microsoft.com/office/drawing/2014/main" id="{FA09553C-EBA0-0270-9E17-103F341F90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85615" y="4474938"/>
            <a:ext cx="641013" cy="64101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AC01A46A-08EF-9A1B-F0DA-996B59C2B0E7}"/>
              </a:ext>
            </a:extLst>
          </p:cNvPr>
          <p:cNvSpPr/>
          <p:nvPr/>
        </p:nvSpPr>
        <p:spPr>
          <a:xfrm>
            <a:off x="3570989" y="5156346"/>
            <a:ext cx="2309936" cy="474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Google Student Club</a:t>
            </a:r>
            <a:endParaRPr lang="zh-TW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560590-4720-9FAB-A0F1-132FB9D6DE18}"/>
              </a:ext>
            </a:extLst>
          </p:cNvPr>
          <p:cNvSpPr/>
          <p:nvPr/>
        </p:nvSpPr>
        <p:spPr>
          <a:xfrm>
            <a:off x="6311077" y="5156346"/>
            <a:ext cx="2309936" cy="474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NTHU CG | NTU S&amp;C</a:t>
            </a:r>
            <a:endParaRPr lang="zh-TW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65AF11-852C-A23E-A7D8-BF49458ED583}"/>
              </a:ext>
            </a:extLst>
          </p:cNvPr>
          <p:cNvSpPr/>
          <p:nvPr/>
        </p:nvSpPr>
        <p:spPr>
          <a:xfrm>
            <a:off x="9051165" y="5156346"/>
            <a:ext cx="2309936" cy="474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NTU DAC</a:t>
            </a:r>
            <a:endParaRPr lang="zh-TW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CC242970-3A78-DA14-74D6-906D0F3DC7CA}"/>
              </a:ext>
            </a:extLst>
          </p:cNvPr>
          <p:cNvGrpSpPr/>
          <p:nvPr/>
        </p:nvGrpSpPr>
        <p:grpSpPr>
          <a:xfrm>
            <a:off x="425613" y="4561503"/>
            <a:ext cx="2515084" cy="726323"/>
            <a:chOff x="3650974" y="2167443"/>
            <a:chExt cx="2839277" cy="726323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A8ECD18-522A-CFC8-2BC1-DB5FCED91DD9}"/>
                </a:ext>
              </a:extLst>
            </p:cNvPr>
            <p:cNvSpPr/>
            <p:nvPr/>
          </p:nvSpPr>
          <p:spPr>
            <a:xfrm>
              <a:off x="3650974" y="2167443"/>
              <a:ext cx="2839277" cy="4745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1600" b="1" dirty="0">
                  <a:solidFill>
                    <a:srgbClr val="271B1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國立陽明交通大學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CBCA0C0-1EA8-DB7B-00B8-C494D2CF0126}"/>
                </a:ext>
              </a:extLst>
            </p:cNvPr>
            <p:cNvSpPr/>
            <p:nvPr/>
          </p:nvSpPr>
          <p:spPr>
            <a:xfrm>
              <a:off x="3650974" y="2419176"/>
              <a:ext cx="2839277" cy="4745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經營管理研究所</a:t>
              </a:r>
            </a:p>
          </p:txBody>
        </p: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43AA31B0-D695-758B-6414-28160F3D9D29}"/>
              </a:ext>
            </a:extLst>
          </p:cNvPr>
          <p:cNvGrpSpPr/>
          <p:nvPr/>
        </p:nvGrpSpPr>
        <p:grpSpPr>
          <a:xfrm>
            <a:off x="425614" y="5389265"/>
            <a:ext cx="2515084" cy="726323"/>
            <a:chOff x="3650974" y="2167443"/>
            <a:chExt cx="2839277" cy="72632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1EFCA3E-4C9D-9467-25C1-22DA8E6BA250}"/>
                </a:ext>
              </a:extLst>
            </p:cNvPr>
            <p:cNvSpPr/>
            <p:nvPr/>
          </p:nvSpPr>
          <p:spPr>
            <a:xfrm>
              <a:off x="3650974" y="2167443"/>
              <a:ext cx="2839277" cy="4745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1600" b="1" dirty="0">
                  <a:solidFill>
                    <a:srgbClr val="271B1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國立臺北商業大學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708FD6E-3403-9A6E-CA29-B4DEF9D98AD0}"/>
                </a:ext>
              </a:extLst>
            </p:cNvPr>
            <p:cNvSpPr/>
            <p:nvPr/>
          </p:nvSpPr>
          <p:spPr>
            <a:xfrm>
              <a:off x="3650974" y="2419176"/>
              <a:ext cx="2839277" cy="4745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TW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企業管理學系</a:t>
              </a:r>
            </a:p>
          </p:txBody>
        </p:sp>
      </p:grpSp>
      <p:pic>
        <p:nvPicPr>
          <p:cNvPr id="36" name="圖片 35">
            <a:extLst>
              <a:ext uri="{FF2B5EF4-FFF2-40B4-BE49-F238E27FC236}">
                <a16:creationId xmlns:a16="http://schemas.microsoft.com/office/drawing/2014/main" id="{3D7FEB16-A9F4-DFBB-BB52-157DBEFBCC8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9" r="9199"/>
          <a:stretch/>
        </p:blipFill>
        <p:spPr>
          <a:xfrm>
            <a:off x="323430" y="4462637"/>
            <a:ext cx="894081" cy="894081"/>
          </a:xfrm>
          <a:prstGeom prst="ellipse">
            <a:avLst/>
          </a:prstGeom>
        </p:spPr>
      </p:pic>
      <p:pic>
        <p:nvPicPr>
          <p:cNvPr id="37" name="圖片 36">
            <a:extLst>
              <a:ext uri="{FF2B5EF4-FFF2-40B4-BE49-F238E27FC236}">
                <a16:creationId xmlns:a16="http://schemas.microsoft.com/office/drawing/2014/main" id="{382A6BFE-630E-B8BC-3367-3B623D2C4E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18" y="5410638"/>
            <a:ext cx="653503" cy="653503"/>
          </a:xfrm>
          <a:prstGeom prst="ellipse">
            <a:avLst/>
          </a:prstGeom>
        </p:spPr>
      </p:pic>
      <p:pic>
        <p:nvPicPr>
          <p:cNvPr id="38" name="圖片 37" descr="一張含有 套裝, 個人, 男人, 牆 的圖片&#10;&#10;自動產生的描述">
            <a:extLst>
              <a:ext uri="{FF2B5EF4-FFF2-40B4-BE49-F238E27FC236}">
                <a16:creationId xmlns:a16="http://schemas.microsoft.com/office/drawing/2014/main" id="{8AED659F-B116-FC4B-BE30-DBB226E7A9B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1" b="31463"/>
          <a:stretch/>
        </p:blipFill>
        <p:spPr>
          <a:xfrm>
            <a:off x="777702" y="1505528"/>
            <a:ext cx="1916512" cy="1916512"/>
          </a:xfrm>
          <a:prstGeom prst="ellipse">
            <a:avLst/>
          </a:prstGeom>
        </p:spPr>
      </p:pic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6B5DE2BA-A211-CD88-0785-0E0D6F26E2C6}"/>
              </a:ext>
            </a:extLst>
          </p:cNvPr>
          <p:cNvSpPr/>
          <p:nvPr/>
        </p:nvSpPr>
        <p:spPr>
          <a:xfrm>
            <a:off x="323430" y="4215109"/>
            <a:ext cx="2649699" cy="1970977"/>
          </a:xfrm>
          <a:prstGeom prst="roundRect">
            <a:avLst/>
          </a:prstGeom>
          <a:noFill/>
          <a:ln w="19050">
            <a:solidFill>
              <a:srgbClr val="3A82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945D26-CB74-729F-8528-7041BB656741}"/>
              </a:ext>
            </a:extLst>
          </p:cNvPr>
          <p:cNvSpPr/>
          <p:nvPr/>
        </p:nvSpPr>
        <p:spPr>
          <a:xfrm>
            <a:off x="100641" y="3890257"/>
            <a:ext cx="1635317" cy="638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教育背景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58B6BBB-945E-EDE5-C77E-36F8E26CBEC7}"/>
              </a:ext>
            </a:extLst>
          </p:cNvPr>
          <p:cNvSpPr/>
          <p:nvPr/>
        </p:nvSpPr>
        <p:spPr>
          <a:xfrm>
            <a:off x="790906" y="3462084"/>
            <a:ext cx="1890103" cy="365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rgbClr val="3D3A3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蔡秉諺 </a:t>
            </a:r>
            <a:r>
              <a:rPr lang="en-US" altLang="zh-TW" sz="1600" b="1" dirty="0">
                <a:solidFill>
                  <a:srgbClr val="3D3A3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Jason</a:t>
            </a:r>
            <a:endParaRPr lang="zh-TW" altLang="en-US" sz="1600" b="1" dirty="0">
              <a:solidFill>
                <a:srgbClr val="3D3A39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F44831E-33C0-8826-8D0E-F4E23140E95C}"/>
              </a:ext>
            </a:extLst>
          </p:cNvPr>
          <p:cNvSpPr/>
          <p:nvPr/>
        </p:nvSpPr>
        <p:spPr>
          <a:xfrm>
            <a:off x="3272055" y="2045482"/>
            <a:ext cx="8387971" cy="1473786"/>
          </a:xfrm>
          <a:prstGeom prst="roundRect">
            <a:avLst/>
          </a:prstGeom>
          <a:noFill/>
          <a:ln w="19050">
            <a:solidFill>
              <a:srgbClr val="3A82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6C15DB-1396-B0B7-7E60-FCD858790FA1}"/>
              </a:ext>
            </a:extLst>
          </p:cNvPr>
          <p:cNvSpPr/>
          <p:nvPr/>
        </p:nvSpPr>
        <p:spPr>
          <a:xfrm>
            <a:off x="2940697" y="1703075"/>
            <a:ext cx="1635317" cy="6386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工作經歷</a:t>
            </a:r>
          </a:p>
        </p:txBody>
      </p:sp>
      <p:pic>
        <p:nvPicPr>
          <p:cNvPr id="12" name="Picture 6" descr="iKala">
            <a:extLst>
              <a:ext uri="{FF2B5EF4-FFF2-40B4-BE49-F238E27FC236}">
                <a16:creationId xmlns:a16="http://schemas.microsoft.com/office/drawing/2014/main" id="{3E6947B8-BCEA-9AB8-E92D-019A2E5DE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393" y="2401876"/>
            <a:ext cx="1119293" cy="39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國泰人壽">
            <a:extLst>
              <a:ext uri="{FF2B5EF4-FFF2-40B4-BE49-F238E27FC236}">
                <a16:creationId xmlns:a16="http://schemas.microsoft.com/office/drawing/2014/main" id="{890A6C6D-A772-8520-7D77-3B95D3C7D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383" y="2382419"/>
            <a:ext cx="2087475" cy="477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企業IT解決方案首選代理商| 零壹科技Zero One Tech.">
            <a:extLst>
              <a:ext uri="{FF2B5EF4-FFF2-40B4-BE49-F238E27FC236}">
                <a16:creationId xmlns:a16="http://schemas.microsoft.com/office/drawing/2014/main" id="{B9B9E2A5-BECA-CF23-AC70-1F440FDB9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306" r="260" b="-1339"/>
          <a:stretch/>
        </p:blipFill>
        <p:spPr bwMode="auto">
          <a:xfrm>
            <a:off x="4095672" y="2343021"/>
            <a:ext cx="1260571" cy="50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14E34008-1B05-EB53-262F-C18FC771BD64}"/>
              </a:ext>
            </a:extLst>
          </p:cNvPr>
          <p:cNvSpPr/>
          <p:nvPr/>
        </p:nvSpPr>
        <p:spPr>
          <a:xfrm>
            <a:off x="3570989" y="2930586"/>
            <a:ext cx="2309936" cy="474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資料工程師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97DD728-CC74-E05A-94AD-66CAD121D214}"/>
              </a:ext>
            </a:extLst>
          </p:cNvPr>
          <p:cNvSpPr/>
          <p:nvPr/>
        </p:nvSpPr>
        <p:spPr>
          <a:xfrm>
            <a:off x="6311077" y="2930586"/>
            <a:ext cx="2309936" cy="474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資料分析師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8E6FC04-1BE8-5AD1-2325-8A6AEC70EF35}"/>
              </a:ext>
            </a:extLst>
          </p:cNvPr>
          <p:cNvSpPr/>
          <p:nvPr/>
        </p:nvSpPr>
        <p:spPr>
          <a:xfrm>
            <a:off x="9051165" y="2930586"/>
            <a:ext cx="2309936" cy="474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資料分析師</a:t>
            </a:r>
          </a:p>
        </p:txBody>
      </p:sp>
      <p:sp>
        <p:nvSpPr>
          <p:cNvPr id="16" name="投影片編號版面配置區 15">
            <a:extLst>
              <a:ext uri="{FF2B5EF4-FFF2-40B4-BE49-F238E27FC236}">
                <a16:creationId xmlns:a16="http://schemas.microsoft.com/office/drawing/2014/main" id="{615EDC83-2DB3-8595-9628-DBA553F5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9DAB-DD50-481D-A055-78A418917E27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009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D30F543D-03FE-86FA-BCF6-8436C4D860E9}"/>
              </a:ext>
            </a:extLst>
          </p:cNvPr>
          <p:cNvSpPr txBox="1"/>
          <p:nvPr/>
        </p:nvSpPr>
        <p:spPr>
          <a:xfrm>
            <a:off x="425615" y="577243"/>
            <a:ext cx="7778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常見的資料視覺化工具與套件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B4DDD34-A1B3-400B-5CFC-939DFE7C5606}"/>
              </a:ext>
            </a:extLst>
          </p:cNvPr>
          <p:cNvSpPr txBox="1"/>
          <p:nvPr/>
        </p:nvSpPr>
        <p:spPr>
          <a:xfrm>
            <a:off x="425615" y="285990"/>
            <a:ext cx="262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核心概念與說明</a:t>
            </a: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0722B487-5EAD-26F8-6A44-B0D5AC5DC7E9}"/>
              </a:ext>
            </a:extLst>
          </p:cNvPr>
          <p:cNvCxnSpPr>
            <a:cxnSpLocks/>
          </p:cNvCxnSpPr>
          <p:nvPr/>
        </p:nvCxnSpPr>
        <p:spPr>
          <a:xfrm>
            <a:off x="1473144" y="3638828"/>
            <a:ext cx="9245713" cy="56022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5F6D51A7-446B-8E73-C7E4-43E16AAE1546}"/>
              </a:ext>
            </a:extLst>
          </p:cNvPr>
          <p:cNvGrpSpPr/>
          <p:nvPr/>
        </p:nvGrpSpPr>
        <p:grpSpPr>
          <a:xfrm>
            <a:off x="1473144" y="2146202"/>
            <a:ext cx="9245713" cy="1072971"/>
            <a:chOff x="1003082" y="2146202"/>
            <a:chExt cx="9245713" cy="1072971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8BA04FAF-BCFA-A5A2-B255-294201FCBE9E}"/>
                </a:ext>
              </a:extLst>
            </p:cNvPr>
            <p:cNvGrpSpPr/>
            <p:nvPr/>
          </p:nvGrpSpPr>
          <p:grpSpPr>
            <a:xfrm>
              <a:off x="1943205" y="2146202"/>
              <a:ext cx="8305590" cy="1072971"/>
              <a:chOff x="1943205" y="2146202"/>
              <a:chExt cx="8305590" cy="107297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AAEEE6C-144A-A3B5-1E77-16B27FE8FC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43205" y="2146202"/>
                <a:ext cx="1072415" cy="107241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14" descr="Looker logo » Blog Archive »">
                <a:extLst>
                  <a:ext uri="{FF2B5EF4-FFF2-40B4-BE49-F238E27FC236}">
                    <a16:creationId xmlns:a16="http://schemas.microsoft.com/office/drawing/2014/main" id="{4CBFD829-7E65-70C1-AF1F-4188A7C25C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738" b="36276"/>
              <a:stretch/>
            </p:blipFill>
            <p:spPr bwMode="auto">
              <a:xfrm>
                <a:off x="7630122" y="2289793"/>
                <a:ext cx="2618673" cy="7852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16">
                <a:extLst>
                  <a:ext uri="{FF2B5EF4-FFF2-40B4-BE49-F238E27FC236}">
                    <a16:creationId xmlns:a16="http://schemas.microsoft.com/office/drawing/2014/main" id="{3F471FB9-75B2-EB99-9EB9-261CEF44A2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29641" y="2146202"/>
                <a:ext cx="1072415" cy="10724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20" descr="Tableau Logo, symbol, meaning, history, PNG, brand">
                <a:extLst>
                  <a:ext uri="{FF2B5EF4-FFF2-40B4-BE49-F238E27FC236}">
                    <a16:creationId xmlns:a16="http://schemas.microsoft.com/office/drawing/2014/main" id="{1B5BE922-65E5-7058-594F-24C1A5F56C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313" r="20064"/>
              <a:stretch/>
            </p:blipFill>
            <p:spPr bwMode="auto">
              <a:xfrm>
                <a:off x="3854265" y="2146758"/>
                <a:ext cx="1136731" cy="10724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A65F5CF-2552-E9EB-86F8-6DD670F419B4}"/>
                </a:ext>
              </a:extLst>
            </p:cNvPr>
            <p:cNvSpPr/>
            <p:nvPr/>
          </p:nvSpPr>
          <p:spPr>
            <a:xfrm>
              <a:off x="1003082" y="2277609"/>
              <a:ext cx="424114" cy="809597"/>
            </a:xfrm>
            <a:prstGeom prst="rect">
              <a:avLst/>
            </a:prstGeom>
            <a:solidFill>
              <a:srgbClr val="1E57A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chemeClr val="bg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工具</a:t>
              </a: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A1FE5DBF-3982-8DF7-663B-CCD41EAA9DB4}"/>
              </a:ext>
            </a:extLst>
          </p:cNvPr>
          <p:cNvGrpSpPr/>
          <p:nvPr/>
        </p:nvGrpSpPr>
        <p:grpSpPr>
          <a:xfrm>
            <a:off x="1469831" y="3940996"/>
            <a:ext cx="9249026" cy="1191623"/>
            <a:chOff x="1003082" y="3940996"/>
            <a:chExt cx="9249026" cy="1191623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6136C4F2-15A7-0F9C-D52C-C5DE3266132B}"/>
                </a:ext>
              </a:extLst>
            </p:cNvPr>
            <p:cNvGrpSpPr/>
            <p:nvPr/>
          </p:nvGrpSpPr>
          <p:grpSpPr>
            <a:xfrm>
              <a:off x="1943204" y="3940996"/>
              <a:ext cx="8308904" cy="1191623"/>
              <a:chOff x="1943204" y="3940996"/>
              <a:chExt cx="8308904" cy="1191623"/>
            </a:xfrm>
          </p:grpSpPr>
          <p:pic>
            <p:nvPicPr>
              <p:cNvPr id="4" name="Picture 4" descr="Discussion of seaborn logo · Issue #2243 · mwaskom/seaborn · GitHub">
                <a:extLst>
                  <a:ext uri="{FF2B5EF4-FFF2-40B4-BE49-F238E27FC236}">
                    <a16:creationId xmlns:a16="http://schemas.microsoft.com/office/drawing/2014/main" id="{0C31B6DA-6834-4249-CB05-C348C0B877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43204" y="4000601"/>
                <a:ext cx="1072415" cy="1072415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" name="Picture 8" descr="How sports scientists can use ggplot2 in R to make better visualisations">
                <a:extLst>
                  <a:ext uri="{FF2B5EF4-FFF2-40B4-BE49-F238E27FC236}">
                    <a16:creationId xmlns:a16="http://schemas.microsoft.com/office/drawing/2014/main" id="{86DF16B5-C6C5-C74D-A2EB-AE0DA9B990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5377" y="3940996"/>
                <a:ext cx="1136731" cy="11916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6" descr="Matplotlib logo — Matplotlib 3.1.0 documentation">
                <a:extLst>
                  <a:ext uri="{FF2B5EF4-FFF2-40B4-BE49-F238E27FC236}">
                    <a16:creationId xmlns:a16="http://schemas.microsoft.com/office/drawing/2014/main" id="{44779F1A-E33B-C4AB-4137-2E4782EE4E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07323" y="4314680"/>
                <a:ext cx="2596610" cy="5193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10">
                <a:extLst>
                  <a:ext uri="{FF2B5EF4-FFF2-40B4-BE49-F238E27FC236}">
                    <a16:creationId xmlns:a16="http://schemas.microsoft.com/office/drawing/2014/main" id="{3A60DFA3-996F-A1BF-4C4C-D7E62FCCA1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526" b="24525"/>
              <a:stretch/>
            </p:blipFill>
            <p:spPr bwMode="auto">
              <a:xfrm>
                <a:off x="3520638" y="4000601"/>
                <a:ext cx="2807005" cy="10724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1554ED4-A2FB-6D9F-5649-17AF3F2EC324}"/>
                </a:ext>
              </a:extLst>
            </p:cNvPr>
            <p:cNvSpPr/>
            <p:nvPr/>
          </p:nvSpPr>
          <p:spPr>
            <a:xfrm>
              <a:off x="1003082" y="4132008"/>
              <a:ext cx="424114" cy="809597"/>
            </a:xfrm>
            <a:prstGeom prst="rect">
              <a:avLst/>
            </a:prstGeom>
            <a:solidFill>
              <a:srgbClr val="1E57A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chemeClr val="bg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套件</a:t>
              </a:r>
            </a:p>
          </p:txBody>
        </p:sp>
      </p:grpSp>
      <p:sp>
        <p:nvSpPr>
          <p:cNvPr id="24" name="投影片編號版面配置區 23">
            <a:extLst>
              <a:ext uri="{FF2B5EF4-FFF2-40B4-BE49-F238E27FC236}">
                <a16:creationId xmlns:a16="http://schemas.microsoft.com/office/drawing/2014/main" id="{65CDD266-91F9-9D4B-6BAE-77C2823E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9DAB-DD50-481D-A055-78A418917E27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651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11371</TotalTime>
  <Words>82</Words>
  <Application>Microsoft Office PowerPoint</Application>
  <PresentationFormat>寬螢幕</PresentationFormat>
  <Paragraphs>25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Noto Sans TC</vt:lpstr>
      <vt:lpstr>微軟正黑體</vt:lpstr>
      <vt:lpstr>Arial</vt:lpstr>
      <vt:lpstr>Calibri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Jason Tsai-蔡秉諺</dc:creator>
  <cp:lastModifiedBy>VernaWL Su</cp:lastModifiedBy>
  <cp:revision>1299</cp:revision>
  <dcterms:created xsi:type="dcterms:W3CDTF">2023-02-04T09:14:27Z</dcterms:created>
  <dcterms:modified xsi:type="dcterms:W3CDTF">2025-11-09T08:26:10Z</dcterms:modified>
</cp:coreProperties>
</file>